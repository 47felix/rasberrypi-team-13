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718c6b61-c949-65d6-0f22-1b752d93840a}">
          <p14:sldIdLst>
            <p14:sldId id="256"/>
            <p14:sldId id="257"/>
            <p14:sldId id="258"/>
            <p14:sldId id="259"/>
          </p14:sldIdLst>
        </p14:section>
        <p14:section name="Auswahl und Einordnung" id="{753b803a-480c-7316-93bd-fcf5394ec5a8}">
          <p14:sldIdLst>
            <p14:sldId id="260"/>
            <p14:sldId id="261"/>
            <p14:sldId id="262"/>
            <p14:sldId id="263"/>
          </p14:sldIdLst>
        </p14:section>
        <p14:section name="Datenschutz und Sicherheit" id="{7bddd0be-f429-96c0-9707-f1f221bbfae0}">
          <p14:sldIdLst>
            <p14:sldId id="264"/>
            <p14:sldId id="265"/>
          </p14:sldIdLst>
        </p14:section>
        <p14:section name="Ergebnis" id="{45e8288f-2223-12a4-ab1f-2b4307fd1b75}">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Anton · RICHTZEIT: 0:30 min — Guten Tag zusammen, wir sind Team 13-1. In Challenge III ging es darum, die Temperaturdaten vom Ice Truck automatisch in eine Cloud zu bringen. Ich beginne mit Problem und Lösung. Danach stellt Dogan die Cloud-Auswahl vor, Erik erklärt Datenschutz und Sicherheit, und Felix zeigt das Ergebnis, die Zusatzfunktionen und das Fazit. ÜBERGABE: Weiter mit Problem und Lösung (Anton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Anton · RICHTZEIT: 1:00 min — Die Ausgangslage: Die Messwerte liegen bisher nur auf dem Raspberry Pi im Truck und werden erst in der Zentrale von Hand gesichert. Gleichzeitig verlangen die EU-Verordnungen 178/2002 und 37/2005 einen Nachweis der Temperaturen. Kontrolliert wird bisher nur stichprobenartig, und Sensoren oder Kühlaggregate fallen trotz Wartung immer wieder aus. Unser Ziel: Die Daten sollen automatisch in die Cloud, damit sie jederzeit und überall abrufbar sind und auch bei einem Ausfall des Pi erhalten bleiben. ÜBERGABE: Weiter mit unserer Lösung (Anton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Anton · RICHTZEIT: 1:00 min — So läuft es: Die Arduinos messen, der Raspberry Pi regelt und speichert jede Messung in einer SQLite-Datenbank. Unsere Cloud-Bridge, ein kleines Python-Programm, liest nur neue Messungen und schickt sie per HTTPS an ThingSpeak. Die Datenbank ist zugleich der Puffer: Fällt das Netz aus, wird später nachgeholt. In der Cloud gibt es Diagramme, Alarme und einen CSV-Export. Wir messen alle 5 Sekunden, jede Messung hat 8 Datenfelder, und der Free-Tarif kostet nichts. ÜBERGABE: Weiter mit dem Überblick zum Bewertungsbogen (Anton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Anton · RICHTZEIT: 0:30 min — Wir haben die Präsentation entlang des Bewertungsbogens aufgebaut. Jede Folie von 5 bis 12 beantwortet genau ein Kriterium, oben rechts steht die Punktzahl. So könnt ihr direkt mitbewerten. Die größten Blöcke sind die sichere Datenübertragung und die Messdaten mit je 10 Punkten. ÜBERGABE: Ich übergebe an Dogan, er stellt die Clouddienste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Dogan · RICHTZEIT: 1:00 min — Wir haben mehrere Dienste angeschaut und stellen zwei im Detail vor: Azure IoT Hub von Microsoft und ThingSpeak von MathWorks. Verglichen haben wir nach den Kriterien aus der Aufgabe: Protokolle, Speicherung, Visualisierung, Kosten und Datenschutz. Azure ist eine Plattform mit MQTT, Archiv im Blob Storage und EU-Regionen. ThingSpeak ist eine fertige Anwendung mit HTTP und MQTT, eingebauten Diagrammen und Servern in den USA. Zusätzlich geprüft: AWS IoT Core braucht eine Kreditkarte, die Arduino Cloud speichert im Free-Tarif nur einen Tag, und eine eigene VM wäre IaaS mit viel Betriebsaufwand. ÜBERGABE: Weiter mit unserer Entscheidung (Dogan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Dogan · RICHTZEIT: 1:30 min — Wir haben uns für ThingSpeak entschieden. Azure IoT Hub hatten wir ebenfalls vorbereitet, mit Einrichtungsskript und Auswertung. Am Ende hat uns ThingSpeak für unseren Prototyp aber besser gefallen, aus vier Gründen. Kosten: Es ist kostenlos und braucht keine Kreditkarte. Protokolle: Die HTTPS-Schnittstelle passt zu unserer Bridge und nimmt viele Messungen mit eigenem Zeitstempel an, MQTT wäre auch möglich. Speicherung und Visualisierung: Kanal, Diagramme und MATLAB sind eingebaut, wir brauchen keinen eigenen Server und waren in Minuten startklar. Datenschutz: Wir übertragen keine Personendaten, deshalb ist ein US-Anbieter vertretbar. Für eine ganze Flotte würden wir Azure empfehlen. FALLS GEFRAGT, warum nicht Azure: ehrlich antworten, dass der Zugang zu unserem Azure-Schülerkonto zum Start nicht verfügbar war und ThingSpeak dann alle Anforderungen erfüllt hat und uns besser gefallen hat. ÜBERGABE: Weiter mit den NIST-Merkmalen (Dogan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Dogan · RICHTZEIT: 1:00 min — Die fünf NIST-Merkmale. Self-Service: Wir haben Konto und Kanal in Minuten selbst angelegt. Broad Network Access: HTTPS aus jedem Netz, Diagramme im Browser. Resource Pooling: Die Plattform bedient viele Kunden gemeinsam, das können wir aber nicht selbst überprüfen. Rapid Elasticity: Weitere Einheiten lassen sich jederzeit zukaufen, eine Einheit sind 33 Millionen Nachrichten im Jahr, im Free-Tarif gelten aber feste Limits und es gibt kein automatisches Skalieren. Measured Service: Auf der Seite My Account sehen wir Verbrauch und Restkontingent, dazu den Screenshot zeigen. Ein privater Server zu Hause wäre keine Cloud, weil Pooling, Elastizität und Abrechnung fehlen. ÜBERGABE: Ich übergebe an Erik: Einordnung, Datenschutz und Sicherheit.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Erik · RICHTZEIT: 1:00 min — Die Einordnung hängt davon ab, wer was verwaltet. Bei einer eigenen VM wäre es IaaS: Wir müssten Betriebssystem, Broker und Datenbank selbst betreiben. Azure IoT Hub ist PaaS: Die Plattform gehört dem Anbieter, wir betreiben nur Geräte, Routing und Auswertung. ThingSpeak ist SaaS: Wir konfigurieren nur einen Kanal in einer fertigen Anwendung und liefern Daten. Die MATLAB-Skripte sind ein Zusatz innerhalb dieser Anwendung, kein eigener Plattformbetrieb. ÜBERGABE: Weiter mit Datensicherheit und DSGVO (Erik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Erik · RICHTZEIT: 1:30 min — Was wir übertragen: Truck-ID, Temperaturen, Aktorwerte und Zeitstempel. In den Messdaten steckt kein Personenbezug, personenbezogen sind nur die Kontodaten des Teams bei MathWorks. Risiken: Laut MathWorks werden Daten dort gespeichert, wo MathWorks oder seine Dienstleister arbeiten, also auch in den USA. Das wäre eine Drittlandübermittlung. Wir haben im Verzeichnis nachgesehen: MathWorks ist im EU-US Data Privacy Framework aktiv gelistet, zertifiziert seit 2016. Das gilt aber nur für Nicht-Beschäftigtendaten, bei Fahrerdaten wäre es keine Grundlage. Der Kanal ist bewusst öffentlich, weil er nur nicht-sensible Messdaten enthält und Prüfer den Verlauf ohne Anmeldung sehen können. Geschrieben werden kann nur mit dem geheimen Write Key. Aufbewahrung: 12 Monate als unsere Festlegung, dazu monatlich ein CSV-Export. Im Realbetrieb wäre der Kanal privat, mit EU-Hosting und Auftragsverarbeitungsvertrag. Details stehen in DATENSCHUTZ.md. ÜBERGABE: Weiter mit der sicheren Datenübertragung (Erik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Erik · RICHTZEIT: 1:30 min — Unser Konzept in sechs Punkten. Verschlüsselung: nur HTTPS. Authentifizierung: Der Write Key liegt nur auf dem Pi, und wir haben die Keys bereits einmal erneuert. Geheimnisse: in einer .env-Datei mit eingeschränkten Rechten, nie im Git-Repository. Vollständigkeit: Jede Messung hat eine lokale ID, der Cursor rückt erst nach erfolgreichem Upload weiter, nach einem Funkloch wird nachgeholt. Nachweisbarkeit: UTC-Zeitstempel, Pi-Zeit per NTP. Minimale Rechte: Die Bridge liest die Datenbank nur und läuft ohne Zusatzrechte. Nachweise zeigen: curl auf ThingSpeak für TLS, ls -l der .env, git check-ignore. Ehrlich benannte Grenzen: Das Web-Terminal des Pi hat noch keine eigene Anmeldung, die Pi-Uhr hat keine Batterie, und der Free-Tarif bietet keinen Löschschutz, deshalb bleibt das Original in der lokalen Datenbank. Details stehen im SICHERHEITSKONZEPT.md. ÜBERGABE: Ich übergebe an Felix: Ergebnis, Zusatzfunktionen und Fazit.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Felix · RICHTZEIT: 1:30 min — Hier zeigen wir die Ergebnisse. LIVE-DEMO oder Screenshot: ThingSpeak-Kanal mit Temperaturverlauf, Lüfter und Ventil. Die Messung läuft alle 5 Sekunden. Der Upload wird wegen der Free-Grenze alle 15 Sekunden gebündelt, jede Messung behält ihre eigene Uhrzeit. Es gibt 8 Felder, und der CSV-Export dient als Nachweis für Kontrollen. Der Kanal ist öffentlich, deshalb kann jeder ohne Anmeldung zuschauen. VOR DEM VORTRAG: Den Platzhalter durch einen echten Screenshot ersetzen und prüfen, dass die Punkte im 5-Sekunden-Abstand ankommen. ÜBERGABE: Weiter mit den Zusatzfunktionen (Felix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Felix · RICHTZEIT: 1:00 min — Store and Forward: Bei einem Funkloch werden fehlende Messungen später mit ihrer Originalzeit nachgeliefert. Health-Flags: Die Bridge warnt schon am Truck bei zu hoher Temperatur, abweichenden Sensoren oder einem eingefrorenen Sensor. Alarm: Sobald Field 3 über 30 Grad steigt, startet ThingSpeak React eine MATLAB-Analyse, die eine Nachricht an unseren Discord-Server und eine E-Mail schickt. Die Zugangsdaten liegen nur in ThingSpeak. Laut My Account sind 800 Alarm-Mails im Jahr erlaubt. Als Nächstes das Sensor-Drift-Diagramm als Beispiel für Predictive Maintenance. VOR DEM VORTRAG: Wenn das Diagramm läuft, die Karte auf UMGESETZT setzen, sonst die Karte löschen. ÜBERGABE: Weiter mit dem Fazit (Felix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 Felix · RICHTZEIT: 1:00 min — Wir erfüllen die Nachweispflicht deutlich besser: Die Daten kommen automatisch und zeitnah in die Cloud und sind von überall abrufbar. Sie sind doppelt gesichert, lokal im Pi und in der Cloud. Ausblick: Für den echten Flottenbetrieb würden wir Azure IoT Hub mit EU-Region wählen, die Alarme ausbauen und die Sensor-Drift für Predictive Maintenance nutzen. Gelernt: Unsere Bridge trennt Logik und Sender, der Anbieter lässt sich austauschen. ThingSpeak jetzt, Azure für die Flotte. Vielen Dank, wir freuen uns auf eure Fragen. ÜBERGABE: Fragen beantwortet, wer fachlich dran ist (siehe Rückfragen im Redemanuskript).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5A687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5A687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1828800"/>
          </a:xfrm>
          <a:prstGeom prst="rect">
            <a:avLst/>
          </a:prstGeom>
          <a:noFill/>
          <a:ln/>
        </p:spPr>
        <p:txBody>
          <a:bodyPr wrap="square" rtlCol="0"/>
          <a:lstStyle>
            <a:lvl1pPr algn="l" indent="0" marL="0">
              <a:buNone/>
              <a:defRPr lang="en-US" sz="54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54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315200" y="914400"/>
            <a:ext cx="4206240" cy="4206240"/>
          </a:xfrm>
          <a:prstGeom prst="ellipse">
            <a:avLst/>
          </a:prstGeom>
          <a:solidFill>
            <a:schemeClr val="accent2">
              <a:alpha val="18000"/>
            </a:schemeClr>
          </a:solidFill>
          <a:ln w="12700">
            <a:solidFill>
              <a:schemeClr val="accent2"/>
            </a:solidFill>
            <a:prstDash val="solid"/>
          </a:ln>
        </p:spPr>
      </p:sp>
      <p:sp>
        <p:nvSpPr>
          <p:cNvPr id="3" name="Glow innen"/>
          <p:cNvSpPr/>
          <p:nvPr/>
        </p:nvSpPr>
        <p:spPr>
          <a:xfrm>
            <a:off x="8229600" y="1828800"/>
            <a:ext cx="2377440" cy="2377440"/>
          </a:xfrm>
          <a:prstGeom prst="ellipse">
            <a:avLst/>
          </a:prstGeom>
          <a:solidFill>
            <a:schemeClr val="accent2">
              <a:alpha val="30000"/>
            </a:schemeClr>
          </a:solidFill>
          <a:ln w="12700">
            <a:solidFill>
              <a:schemeClr val="accent2"/>
            </a:solidFill>
            <a:prstDash val="solid"/>
          </a:ln>
        </p:spPr>
      </p:sp>
      <p:pic>
        <p:nvPicPr>
          <p:cNvPr id="4" name="Image 0" descr="Cloud">    </p:cNvPr>
          <p:cNvPicPr>
            <a:picLocks noChangeAspect="1"/>
          </p:cNvPicPr>
          <p:nvPr/>
        </p:nvPicPr>
        <p:blipFill>
          <a:blip r:embed="rId1"/>
          <a:stretch>
            <a:fillRect/>
          </a:stretch>
        </p:blipFill>
        <p:spPr>
          <a:xfrm>
            <a:off x="8732520" y="2331720"/>
            <a:ext cx="1371600" cy="1371600"/>
          </a:xfrm>
          <a:prstGeom prst="rect">
            <a:avLst/>
          </a:prstGeom>
        </p:spPr>
      </p:pic>
      <p:sp>
        <p:nvSpPr>
          <p:cNvPr id="5"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CHALLENGE III · IOT IN DER CLOUD</a:t>
            </a:r>
            <a:endParaRPr lang="en-US" sz="1200" dirty="0"/>
          </a:p>
        </p:txBody>
      </p:sp>
      <p:sp>
        <p:nvSpPr>
          <p:cNvPr id="6" name="Text 0"/>
          <p:cNvSpPr/>
          <p:nvPr>
            <p:ph idx="100" type="title" hasCustomPrompt="1"/>
          </p:nvPr>
        </p:nvSpPr>
        <p:spPr>
          <a:xfrm>
            <a:off x="640080" y="1737360"/>
            <a:ext cx="6583680" cy="1828800"/>
          </a:xfrm>
          <a:prstGeom prst="rect">
            <a:avLst/>
          </a:prstGeom>
          <a:noFill/>
          <a:ln/>
        </p:spPr>
        <p:txBody>
          <a:bodyPr wrap="square" lIns="0" tIns="0" rIns="0" bIns="0" rtlCol="0" anchor="t"/>
          <a:lstStyle/>
          <a:p>
            <a:pPr algn="l" indent="0" marL="0">
              <a:buNone/>
            </a:pPr>
            <a:r>
              <a:rPr lang="en-US" sz="5400" b="1" dirty="0">
                <a:solidFill>
                  <a:schemeClr val="bg1"/>
                </a:solidFill>
                <a:latin typeface="Calibri" pitchFamily="34" charset="0"/>
                <a:ea typeface="Calibri" pitchFamily="34" charset="-122"/>
                <a:cs typeface="Calibri" pitchFamily="34" charset="-120"/>
              </a:rPr>
              <a:t>Ice Truck in der Cloud</a:t>
            </a:r>
            <a:endParaRPr lang="en-US" sz="5400" dirty="0"/>
          </a:p>
        </p:txBody>
      </p:sp>
      <p:sp>
        <p:nvSpPr>
          <p:cNvPr id="7" name="Text 4"/>
          <p:cNvSpPr txBox="1"/>
          <p:nvPr/>
        </p:nvSpPr>
        <p:spPr>
          <a:xfrm>
            <a:off x="640080" y="3200400"/>
            <a:ext cx="6217920" cy="1097280"/>
          </a:xfrm>
          <a:prstGeom prst="rect">
            <a:avLst/>
          </a:prstGeom>
          <a:noFill/>
          <a:ln/>
        </p:spPr>
        <p:txBody>
          <a:bodyPr wrap="square" lIns="0" tIns="0" rIns="0" bIns="0" rtlCol="0" anchor="t"/>
          <a:lstStyle/>
          <a:p>
            <a:pPr indent="0" marL="0">
              <a:buNone/>
            </a:pPr>
            <a:r>
              <a:rPr lang="en-US" sz="2400" dirty="0">
                <a:solidFill>
                  <a:srgbClr val="B8C7D9"/>
                </a:solidFill>
                <a:latin typeface="Calibri" pitchFamily="34" charset="0"/>
                <a:ea typeface="Calibri" pitchFamily="34" charset="-122"/>
                <a:cs typeface="Calibri" pitchFamily="34" charset="-120"/>
              </a:rPr>
              <a:t>Temperaturdaten lückenlos, standortunabhängig und nachweisbar speichern</a:t>
            </a:r>
            <a:endParaRPr lang="en-US" sz="2400" dirty="0"/>
          </a:p>
        </p:txBody>
      </p:sp>
      <p:sp>
        <p:nvSpPr>
          <p:cNvPr id="8" name="Status"/>
          <p:cNvSpPr/>
          <p:nvPr/>
        </p:nvSpPr>
        <p:spPr>
          <a:xfrm>
            <a:off x="640080" y="4572000"/>
            <a:ext cx="1554480" cy="310896"/>
          </a:xfrm>
          <a:prstGeom prst="roundRect">
            <a:avLst>
              <a:gd name="adj" fmla="val 50000"/>
            </a:avLst>
          </a:prstGeom>
          <a:solidFill>
            <a:srgbClr val="6CCBF5"/>
          </a:solidFill>
          <a:ln/>
        </p:spPr>
        <p:txBody>
          <a:bodyPr wrap="square" lIns="0" tIns="0" rIns="0" bIns="0" rtlCol="0" anchor="ctr"/>
          <a:lstStyle/>
          <a:p>
            <a:pPr algn="ctr" indent="0" marL="0">
              <a:buNone/>
            </a:pPr>
            <a:r>
              <a:rPr lang="en-US" sz="1200" b="1" dirty="0">
                <a:solidFill>
                  <a:srgbClr val="0E1B2C"/>
                </a:solidFill>
                <a:latin typeface="Calibri" pitchFamily="34" charset="0"/>
                <a:ea typeface="Calibri" pitchFamily="34" charset="-122"/>
                <a:cs typeface="Calibri" pitchFamily="34" charset="-120"/>
              </a:rPr>
              <a:t>Team 13-1</a:t>
            </a:r>
            <a:endParaRPr lang="en-US" sz="1200" dirty="0"/>
          </a:p>
        </p:txBody>
      </p:sp>
      <p:sp>
        <p:nvSpPr>
          <p:cNvPr id="9" name="Text 6"/>
          <p:cNvSpPr txBox="1"/>
          <p:nvPr/>
        </p:nvSpPr>
        <p:spPr>
          <a:xfrm>
            <a:off x="2377440" y="4617720"/>
            <a:ext cx="3657600" cy="274320"/>
          </a:xfrm>
          <a:prstGeom prst="rect">
            <a:avLst/>
          </a:prstGeom>
          <a:noFill/>
          <a:ln/>
        </p:spPr>
        <p:txBody>
          <a:bodyPr wrap="square" lIns="0" tIns="0" rIns="0" bIns="0" rtlCol="0" anchor="t"/>
          <a:lstStyle/>
          <a:p>
            <a:pPr indent="0" marL="0">
              <a:buNone/>
            </a:pPr>
            <a:r>
              <a:rPr lang="en-US" sz="1600" dirty="0">
                <a:solidFill>
                  <a:srgbClr val="B8C7D9"/>
                </a:solidFill>
                <a:latin typeface="Calibri" pitchFamily="34" charset="0"/>
                <a:ea typeface="Calibri" pitchFamily="34" charset="-122"/>
                <a:cs typeface="Calibri" pitchFamily="34" charset="-120"/>
              </a:rPr>
              <a:t>Smart Systems · BH4ab</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01 · PROBLEM</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Heute liegen die Daten nur im Truck</a:t>
            </a:r>
            <a:endParaRPr lang="en-US" sz="3600" dirty="0"/>
          </a:p>
        </p:txBody>
      </p:sp>
      <p:sp>
        <p:nvSpPr>
          <p:cNvPr id="4" name="Karte"/>
          <p:cNvSpPr/>
          <p:nvPr/>
        </p:nvSpPr>
        <p:spPr>
          <a:xfrm>
            <a:off x="640080" y="1828800"/>
            <a:ext cx="3429000" cy="3200400"/>
          </a:xfrm>
          <a:prstGeom prst="roundRect">
            <a:avLst>
              <a:gd name="adj" fmla="val 3429"/>
            </a:avLst>
          </a:prstGeom>
          <a:solidFill>
            <a:srgbClr val="FFFFFF"/>
          </a:solidFill>
          <a:ln w="9525">
            <a:solidFill>
              <a:srgbClr val="D3DEE6"/>
            </a:solidFill>
            <a:prstDash val="solid"/>
          </a:ln>
        </p:spPr>
      </p:sp>
      <p:sp>
        <p:nvSpPr>
          <p:cNvPr id="5" name="Icon-Kreis"/>
          <p:cNvSpPr/>
          <p:nvPr/>
        </p:nvSpPr>
        <p:spPr>
          <a:xfrm>
            <a:off x="960120" y="2103120"/>
            <a:ext cx="640080" cy="640080"/>
          </a:xfrm>
          <a:prstGeom prst="ellipse">
            <a:avLst/>
          </a:prstGeom>
          <a:solidFill>
            <a:srgbClr val="E6EEF3"/>
          </a:solidFill>
          <a:ln w="12700">
            <a:solidFill>
              <a:srgbClr val="E6EEF3"/>
            </a:solidFill>
            <a:prstDash val="solid"/>
          </a:ln>
        </p:spPr>
      </p:sp>
      <p:pic>
        <p:nvPicPr>
          <p:cNvPr id="6" name="Image 0" descr="FaDatabase">    </p:cNvPr>
          <p:cNvPicPr>
            <a:picLocks noChangeAspect="1"/>
          </p:cNvPicPr>
          <p:nvPr/>
        </p:nvPicPr>
        <p:blipFill>
          <a:blip r:embed="rId1"/>
          <a:stretch>
            <a:fillRect/>
          </a:stretch>
        </p:blipFill>
        <p:spPr>
          <a:xfrm>
            <a:off x="1100938" y="2243938"/>
            <a:ext cx="358445" cy="358445"/>
          </a:xfrm>
          <a:prstGeom prst="rect">
            <a:avLst/>
          </a:prstGeom>
        </p:spPr>
      </p:pic>
      <p:sp>
        <p:nvSpPr>
          <p:cNvPr id="7" name="Text 4"/>
          <p:cNvSpPr txBox="1"/>
          <p:nvPr/>
        </p:nvSpPr>
        <p:spPr>
          <a:xfrm>
            <a:off x="960120"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Nur lokal gespeichert</a:t>
            </a:r>
            <a:endParaRPr lang="en-US" sz="2000" dirty="0"/>
          </a:p>
        </p:txBody>
      </p:sp>
      <p:sp>
        <p:nvSpPr>
          <p:cNvPr id="8" name="Text 5"/>
          <p:cNvSpPr txBox="1"/>
          <p:nvPr/>
        </p:nvSpPr>
        <p:spPr>
          <a:xfrm>
            <a:off x="960120"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Die Messwerte liegen auf dem Raspberry Pi im Truck. Ausgelesen wird erst in der Zentrale, von Hand.</a:t>
            </a:r>
            <a:endParaRPr lang="en-US" sz="1500" dirty="0"/>
          </a:p>
        </p:txBody>
      </p:sp>
      <p:sp>
        <p:nvSpPr>
          <p:cNvPr id="9" name="Karte"/>
          <p:cNvSpPr/>
          <p:nvPr/>
        </p:nvSpPr>
        <p:spPr>
          <a:xfrm>
            <a:off x="4379976" y="1828800"/>
            <a:ext cx="3429000" cy="3200400"/>
          </a:xfrm>
          <a:prstGeom prst="roundRect">
            <a:avLst>
              <a:gd name="adj" fmla="val 3429"/>
            </a:avLst>
          </a:prstGeom>
          <a:solidFill>
            <a:srgbClr val="FFFFFF"/>
          </a:solidFill>
          <a:ln w="9525">
            <a:solidFill>
              <a:srgbClr val="D3DEE6"/>
            </a:solidFill>
            <a:prstDash val="solid"/>
          </a:ln>
        </p:spPr>
      </p:sp>
      <p:sp>
        <p:nvSpPr>
          <p:cNvPr id="10" name="Icon-Kreis"/>
          <p:cNvSpPr/>
          <p:nvPr/>
        </p:nvSpPr>
        <p:spPr>
          <a:xfrm>
            <a:off x="4700016" y="2103120"/>
            <a:ext cx="640080" cy="640080"/>
          </a:xfrm>
          <a:prstGeom prst="ellipse">
            <a:avLst/>
          </a:prstGeom>
          <a:solidFill>
            <a:srgbClr val="E6EEF3"/>
          </a:solidFill>
          <a:ln w="12700">
            <a:solidFill>
              <a:srgbClr val="E6EEF3"/>
            </a:solidFill>
            <a:prstDash val="solid"/>
          </a:ln>
        </p:spPr>
      </p:sp>
      <p:pic>
        <p:nvPicPr>
          <p:cNvPr id="11" name="Image 1" descr="FaBook">    </p:cNvPr>
          <p:cNvPicPr>
            <a:picLocks noChangeAspect="1"/>
          </p:cNvPicPr>
          <p:nvPr/>
        </p:nvPicPr>
        <p:blipFill>
          <a:blip r:embed="rId2"/>
          <a:stretch>
            <a:fillRect/>
          </a:stretch>
        </p:blipFill>
        <p:spPr>
          <a:xfrm>
            <a:off x="4840834" y="2243938"/>
            <a:ext cx="358445" cy="358445"/>
          </a:xfrm>
          <a:prstGeom prst="rect">
            <a:avLst/>
          </a:prstGeom>
        </p:spPr>
      </p:pic>
      <p:sp>
        <p:nvSpPr>
          <p:cNvPr id="12" name="Text 8"/>
          <p:cNvSpPr txBox="1"/>
          <p:nvPr/>
        </p:nvSpPr>
        <p:spPr>
          <a:xfrm>
            <a:off x="4700016"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Nachweispflicht</a:t>
            </a:r>
            <a:endParaRPr lang="en-US" sz="2000" dirty="0"/>
          </a:p>
        </p:txBody>
      </p:sp>
      <p:sp>
        <p:nvSpPr>
          <p:cNvPr id="13" name="Text 9"/>
          <p:cNvSpPr txBox="1"/>
          <p:nvPr/>
        </p:nvSpPr>
        <p:spPr>
          <a:xfrm>
            <a:off x="4700016"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EU-Verordnungen 178/2002 und 37/2005: Rückverfolgbarkeit und Qualitätssicherung bei Lebensmitteln.</a:t>
            </a:r>
            <a:endParaRPr lang="en-US" sz="1500" dirty="0"/>
          </a:p>
        </p:txBody>
      </p:sp>
      <p:sp>
        <p:nvSpPr>
          <p:cNvPr id="14" name="Karte"/>
          <p:cNvSpPr/>
          <p:nvPr/>
        </p:nvSpPr>
        <p:spPr>
          <a:xfrm>
            <a:off x="8119872" y="1828800"/>
            <a:ext cx="3429000" cy="3200400"/>
          </a:xfrm>
          <a:prstGeom prst="roundRect">
            <a:avLst>
              <a:gd name="adj" fmla="val 3429"/>
            </a:avLst>
          </a:prstGeom>
          <a:solidFill>
            <a:srgbClr val="FFFFFF"/>
          </a:solidFill>
          <a:ln w="9525">
            <a:solidFill>
              <a:srgbClr val="D3DEE6"/>
            </a:solidFill>
            <a:prstDash val="solid"/>
          </a:ln>
        </p:spPr>
      </p:sp>
      <p:sp>
        <p:nvSpPr>
          <p:cNvPr id="15" name="Icon-Kreis"/>
          <p:cNvSpPr/>
          <p:nvPr/>
        </p:nvSpPr>
        <p:spPr>
          <a:xfrm>
            <a:off x="8439912" y="2103120"/>
            <a:ext cx="640080" cy="640080"/>
          </a:xfrm>
          <a:prstGeom prst="ellipse">
            <a:avLst/>
          </a:prstGeom>
          <a:solidFill>
            <a:srgbClr val="E6EEF3"/>
          </a:solidFill>
          <a:ln w="12700">
            <a:solidFill>
              <a:srgbClr val="E6EEF3"/>
            </a:solidFill>
            <a:prstDash val="solid"/>
          </a:ln>
        </p:spPr>
      </p:sp>
      <p:pic>
        <p:nvPicPr>
          <p:cNvPr id="16" name="Image 2" descr="FaExclamationTriangle">    </p:cNvPr>
          <p:cNvPicPr>
            <a:picLocks noChangeAspect="1"/>
          </p:cNvPicPr>
          <p:nvPr/>
        </p:nvPicPr>
        <p:blipFill>
          <a:blip r:embed="rId3"/>
          <a:stretch>
            <a:fillRect/>
          </a:stretch>
        </p:blipFill>
        <p:spPr>
          <a:xfrm>
            <a:off x="8580730" y="2243938"/>
            <a:ext cx="358445" cy="358445"/>
          </a:xfrm>
          <a:prstGeom prst="rect">
            <a:avLst/>
          </a:prstGeom>
        </p:spPr>
      </p:pic>
      <p:sp>
        <p:nvSpPr>
          <p:cNvPr id="17" name="Text 12"/>
          <p:cNvSpPr txBox="1"/>
          <p:nvPr/>
        </p:nvSpPr>
        <p:spPr>
          <a:xfrm>
            <a:off x="8439912"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Nur Stichproben</a:t>
            </a:r>
            <a:endParaRPr lang="en-US" sz="2000" dirty="0"/>
          </a:p>
        </p:txBody>
      </p:sp>
      <p:sp>
        <p:nvSpPr>
          <p:cNvPr id="18" name="Text 13"/>
          <p:cNvSpPr txBox="1"/>
          <p:nvPr/>
        </p:nvSpPr>
        <p:spPr>
          <a:xfrm>
            <a:off x="8439912"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Temperaturverläufe und Kühlung werden stichprobenartig geprüft. Sensoren und Aggregate fallen trotzdem aus.</a:t>
            </a:r>
            <a:endParaRPr lang="en-US" sz="1500" dirty="0"/>
          </a:p>
        </p:txBody>
      </p:sp>
      <p:sp>
        <p:nvSpPr>
          <p:cNvPr id="19" name="Text 14"/>
          <p:cNvSpPr txBox="1"/>
          <p:nvPr/>
        </p:nvSpPr>
        <p:spPr>
          <a:xfrm>
            <a:off x="640080" y="5349240"/>
            <a:ext cx="10908792" cy="5486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Ziel: Daten automatisch in die Cloud – jederzeit, überall und als zweite Sicherung.</a:t>
            </a:r>
            <a:endParaRPr lang="en-US" sz="20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02 · LÖSUNG</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Vom Truck in die Cloud</a:t>
            </a:r>
            <a:endParaRPr lang="en-US" sz="3600" dirty="0"/>
          </a:p>
        </p:txBody>
      </p:sp>
      <p:sp>
        <p:nvSpPr>
          <p:cNvPr id="4" name="Text 2"/>
          <p:cNvSpPr txBox="1"/>
          <p:nvPr/>
        </p:nvSpPr>
        <p:spPr>
          <a:xfrm>
            <a:off x="640080" y="1737360"/>
            <a:ext cx="676656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Calibri" pitchFamily="34" charset="0"/>
                <a:ea typeface="Calibri" pitchFamily="34" charset="-122"/>
                <a:cs typeface="Calibri" pitchFamily="34" charset="-120"/>
              </a:rPr>
              <a:t>IM TRUCK</a:t>
            </a:r>
            <a:endParaRPr lang="en-US" sz="1200" dirty="0"/>
          </a:p>
        </p:txBody>
      </p:sp>
      <p:sp>
        <p:nvSpPr>
          <p:cNvPr id="5" name="Text 3"/>
          <p:cNvSpPr txBox="1"/>
          <p:nvPr/>
        </p:nvSpPr>
        <p:spPr>
          <a:xfrm>
            <a:off x="7406640" y="1737360"/>
            <a:ext cx="41148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IN DER CLOUD</a:t>
            </a:r>
            <a:endParaRPr lang="en-US" sz="1200" dirty="0"/>
          </a:p>
        </p:txBody>
      </p:sp>
      <p:sp>
        <p:nvSpPr>
          <p:cNvPr id="6" name="Karte"/>
          <p:cNvSpPr/>
          <p:nvPr/>
        </p:nvSpPr>
        <p:spPr>
          <a:xfrm>
            <a:off x="640080" y="2103120"/>
            <a:ext cx="1828800" cy="2194560"/>
          </a:xfrm>
          <a:prstGeom prst="roundRect">
            <a:avLst>
              <a:gd name="adj" fmla="val 6000"/>
            </a:avLst>
          </a:prstGeom>
          <a:solidFill>
            <a:srgbClr val="FFFFFF"/>
          </a:solidFill>
          <a:ln w="9525">
            <a:solidFill>
              <a:srgbClr val="D3DEE6"/>
            </a:solidFill>
            <a:prstDash val="solid"/>
          </a:ln>
        </p:spPr>
      </p:sp>
      <p:pic>
        <p:nvPicPr>
          <p:cNvPr id="7" name="Image 0" descr="Sensoren">    </p:cNvPr>
          <p:cNvPicPr>
            <a:picLocks noChangeAspect="1"/>
          </p:cNvPicPr>
          <p:nvPr/>
        </p:nvPicPr>
        <p:blipFill>
          <a:blip r:embed="rId1"/>
          <a:stretch>
            <a:fillRect/>
          </a:stretch>
        </p:blipFill>
        <p:spPr>
          <a:xfrm>
            <a:off x="822960" y="2286000"/>
            <a:ext cx="457200" cy="457200"/>
          </a:xfrm>
          <a:prstGeom prst="rect">
            <a:avLst/>
          </a:prstGeom>
        </p:spPr>
      </p:pic>
      <p:sp>
        <p:nvSpPr>
          <p:cNvPr id="8" name="Text 5"/>
          <p:cNvSpPr txBox="1"/>
          <p:nvPr/>
        </p:nvSpPr>
        <p:spPr>
          <a:xfrm>
            <a:off x="822960"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Sensoren</a:t>
            </a:r>
            <a:endParaRPr lang="en-US" sz="1600" dirty="0"/>
          </a:p>
        </p:txBody>
      </p:sp>
      <p:sp>
        <p:nvSpPr>
          <p:cNvPr id="9" name="Text 6"/>
          <p:cNvSpPr txBox="1"/>
          <p:nvPr/>
        </p:nvSpPr>
        <p:spPr>
          <a:xfrm>
            <a:off x="822960"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Zwei Sensoren per I²C</a:t>
            </a:r>
            <a:endParaRPr lang="en-US" sz="1400" dirty="0"/>
          </a:p>
        </p:txBody>
      </p:sp>
      <p:sp>
        <p:nvSpPr>
          <p:cNvPr id="10" name="Pfeil"/>
          <p:cNvSpPr/>
          <p:nvPr/>
        </p:nvSpPr>
        <p:spPr>
          <a:xfrm>
            <a:off x="2542032" y="3063240"/>
            <a:ext cx="292608" cy="256032"/>
          </a:xfrm>
          <a:prstGeom prst="rightArrow">
            <a:avLst/>
          </a:prstGeom>
          <a:solidFill>
            <a:schemeClr val="accent1"/>
          </a:solidFill>
          <a:ln w="12700">
            <a:solidFill>
              <a:schemeClr val="accent1"/>
            </a:solidFill>
            <a:prstDash val="solid"/>
          </a:ln>
        </p:spPr>
      </p:sp>
      <p:sp>
        <p:nvSpPr>
          <p:cNvPr id="11" name="Karte"/>
          <p:cNvSpPr/>
          <p:nvPr/>
        </p:nvSpPr>
        <p:spPr>
          <a:xfrm>
            <a:off x="2907792" y="2103120"/>
            <a:ext cx="1828800" cy="2194560"/>
          </a:xfrm>
          <a:prstGeom prst="roundRect">
            <a:avLst>
              <a:gd name="adj" fmla="val 6000"/>
            </a:avLst>
          </a:prstGeom>
          <a:solidFill>
            <a:srgbClr val="FFFFFF"/>
          </a:solidFill>
          <a:ln w="9525">
            <a:solidFill>
              <a:srgbClr val="D3DEE6"/>
            </a:solidFill>
            <a:prstDash val="solid"/>
          </a:ln>
        </p:spPr>
      </p:sp>
      <p:pic>
        <p:nvPicPr>
          <p:cNvPr id="12" name="Image 1" descr="Raspberry Pi">    </p:cNvPr>
          <p:cNvPicPr>
            <a:picLocks noChangeAspect="1"/>
          </p:cNvPicPr>
          <p:nvPr/>
        </p:nvPicPr>
        <p:blipFill>
          <a:blip r:embed="rId2"/>
          <a:stretch>
            <a:fillRect/>
          </a:stretch>
        </p:blipFill>
        <p:spPr>
          <a:xfrm>
            <a:off x="3090672" y="2286000"/>
            <a:ext cx="457200" cy="457200"/>
          </a:xfrm>
          <a:prstGeom prst="rect">
            <a:avLst/>
          </a:prstGeom>
        </p:spPr>
      </p:pic>
      <p:sp>
        <p:nvSpPr>
          <p:cNvPr id="13" name="Text 9"/>
          <p:cNvSpPr txBox="1"/>
          <p:nvPr/>
        </p:nvSpPr>
        <p:spPr>
          <a:xfrm>
            <a:off x="3090672"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Raspberry Pi</a:t>
            </a:r>
            <a:endParaRPr lang="en-US" sz="1600" dirty="0"/>
          </a:p>
        </p:txBody>
      </p:sp>
      <p:sp>
        <p:nvSpPr>
          <p:cNvPr id="14" name="Text 10"/>
          <p:cNvSpPr txBox="1"/>
          <p:nvPr/>
        </p:nvSpPr>
        <p:spPr>
          <a:xfrm>
            <a:off x="3090672"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Regelung und SQLite-Puffer</a:t>
            </a:r>
            <a:endParaRPr lang="en-US" sz="1400" dirty="0"/>
          </a:p>
        </p:txBody>
      </p:sp>
      <p:sp>
        <p:nvSpPr>
          <p:cNvPr id="15" name="Pfeil"/>
          <p:cNvSpPr/>
          <p:nvPr/>
        </p:nvSpPr>
        <p:spPr>
          <a:xfrm>
            <a:off x="4809744" y="3063240"/>
            <a:ext cx="292608" cy="256032"/>
          </a:xfrm>
          <a:prstGeom prst="rightArrow">
            <a:avLst/>
          </a:prstGeom>
          <a:solidFill>
            <a:schemeClr val="accent1"/>
          </a:solidFill>
          <a:ln w="12700">
            <a:solidFill>
              <a:schemeClr val="accent1"/>
            </a:solidFill>
            <a:prstDash val="solid"/>
          </a:ln>
        </p:spPr>
      </p:sp>
      <p:sp>
        <p:nvSpPr>
          <p:cNvPr id="16" name="Karte"/>
          <p:cNvSpPr/>
          <p:nvPr/>
        </p:nvSpPr>
        <p:spPr>
          <a:xfrm>
            <a:off x="5175504" y="2103120"/>
            <a:ext cx="1828800" cy="2194560"/>
          </a:xfrm>
          <a:prstGeom prst="roundRect">
            <a:avLst>
              <a:gd name="adj" fmla="val 6000"/>
            </a:avLst>
          </a:prstGeom>
          <a:solidFill>
            <a:srgbClr val="FFFFFF"/>
          </a:solidFill>
          <a:ln w="9525">
            <a:solidFill>
              <a:srgbClr val="D3DEE6"/>
            </a:solidFill>
            <a:prstDash val="solid"/>
          </a:ln>
        </p:spPr>
      </p:sp>
      <p:pic>
        <p:nvPicPr>
          <p:cNvPr id="17" name="Image 2" descr="Cloud-Bridge">    </p:cNvPr>
          <p:cNvPicPr>
            <a:picLocks noChangeAspect="1"/>
          </p:cNvPicPr>
          <p:nvPr/>
        </p:nvPicPr>
        <p:blipFill>
          <a:blip r:embed="rId3"/>
          <a:stretch>
            <a:fillRect/>
          </a:stretch>
        </p:blipFill>
        <p:spPr>
          <a:xfrm>
            <a:off x="5358384" y="2286000"/>
            <a:ext cx="457200" cy="457200"/>
          </a:xfrm>
          <a:prstGeom prst="rect">
            <a:avLst/>
          </a:prstGeom>
        </p:spPr>
      </p:pic>
      <p:sp>
        <p:nvSpPr>
          <p:cNvPr id="18" name="Text 13"/>
          <p:cNvSpPr txBox="1"/>
          <p:nvPr/>
        </p:nvSpPr>
        <p:spPr>
          <a:xfrm>
            <a:off x="5358384"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Cloud-Bridge</a:t>
            </a:r>
            <a:endParaRPr lang="en-US" sz="1600" dirty="0"/>
          </a:p>
        </p:txBody>
      </p:sp>
      <p:sp>
        <p:nvSpPr>
          <p:cNvPr id="19" name="Text 14"/>
          <p:cNvSpPr txBox="1"/>
          <p:nvPr/>
        </p:nvSpPr>
        <p:spPr>
          <a:xfrm>
            <a:off x="5358384"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Python, Cursor, Batches</a:t>
            </a:r>
            <a:endParaRPr lang="en-US" sz="1400" dirty="0"/>
          </a:p>
        </p:txBody>
      </p:sp>
      <p:sp>
        <p:nvSpPr>
          <p:cNvPr id="20" name="Pfeil"/>
          <p:cNvSpPr/>
          <p:nvPr/>
        </p:nvSpPr>
        <p:spPr>
          <a:xfrm>
            <a:off x="7077456" y="3063240"/>
            <a:ext cx="292608" cy="256032"/>
          </a:xfrm>
          <a:prstGeom prst="rightArrow">
            <a:avLst/>
          </a:prstGeom>
          <a:solidFill>
            <a:schemeClr val="accent1"/>
          </a:solidFill>
          <a:ln w="12700">
            <a:solidFill>
              <a:schemeClr val="accent1"/>
            </a:solidFill>
            <a:prstDash val="solid"/>
          </a:ln>
        </p:spPr>
      </p:sp>
      <p:sp>
        <p:nvSpPr>
          <p:cNvPr id="21" name="Karte"/>
          <p:cNvSpPr/>
          <p:nvPr/>
        </p:nvSpPr>
        <p:spPr>
          <a:xfrm>
            <a:off x="7443216" y="2103120"/>
            <a:ext cx="1828800" cy="2194560"/>
          </a:xfrm>
          <a:prstGeom prst="roundRect">
            <a:avLst>
              <a:gd name="adj" fmla="val 6000"/>
            </a:avLst>
          </a:prstGeom>
          <a:solidFill>
            <a:srgbClr val="DCEFFA"/>
          </a:solidFill>
          <a:ln w="9525">
            <a:solidFill>
              <a:srgbClr val="9CCDEB"/>
            </a:solidFill>
            <a:prstDash val="solid"/>
          </a:ln>
        </p:spPr>
      </p:sp>
      <p:pic>
        <p:nvPicPr>
          <p:cNvPr id="22" name="Image 3" descr="ThingSpeak">    </p:cNvPr>
          <p:cNvPicPr>
            <a:picLocks noChangeAspect="1"/>
          </p:cNvPicPr>
          <p:nvPr/>
        </p:nvPicPr>
        <p:blipFill>
          <a:blip r:embed="rId4"/>
          <a:stretch>
            <a:fillRect/>
          </a:stretch>
        </p:blipFill>
        <p:spPr>
          <a:xfrm>
            <a:off x="7626096" y="2286000"/>
            <a:ext cx="457200" cy="457200"/>
          </a:xfrm>
          <a:prstGeom prst="rect">
            <a:avLst/>
          </a:prstGeom>
        </p:spPr>
      </p:pic>
      <p:sp>
        <p:nvSpPr>
          <p:cNvPr id="23" name="Text 17"/>
          <p:cNvSpPr txBox="1"/>
          <p:nvPr/>
        </p:nvSpPr>
        <p:spPr>
          <a:xfrm>
            <a:off x="7626096"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ThingSpeak</a:t>
            </a:r>
            <a:endParaRPr lang="en-US" sz="1600" dirty="0"/>
          </a:p>
        </p:txBody>
      </p:sp>
      <p:sp>
        <p:nvSpPr>
          <p:cNvPr id="24" name="Text 18"/>
          <p:cNvSpPr txBox="1"/>
          <p:nvPr/>
        </p:nvSpPr>
        <p:spPr>
          <a:xfrm>
            <a:off x="7626096"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HTTPS und Write API Key</a:t>
            </a:r>
            <a:endParaRPr lang="en-US" sz="1400" dirty="0"/>
          </a:p>
        </p:txBody>
      </p:sp>
      <p:sp>
        <p:nvSpPr>
          <p:cNvPr id="25" name="Pfeil"/>
          <p:cNvSpPr/>
          <p:nvPr/>
        </p:nvSpPr>
        <p:spPr>
          <a:xfrm>
            <a:off x="9345168" y="3063240"/>
            <a:ext cx="292608" cy="256032"/>
          </a:xfrm>
          <a:prstGeom prst="rightArrow">
            <a:avLst/>
          </a:prstGeom>
          <a:solidFill>
            <a:schemeClr val="accent1"/>
          </a:solidFill>
          <a:ln w="12700">
            <a:solidFill>
              <a:schemeClr val="accent1"/>
            </a:solidFill>
            <a:prstDash val="solid"/>
          </a:ln>
        </p:spPr>
      </p:sp>
      <p:sp>
        <p:nvSpPr>
          <p:cNvPr id="26" name="Karte"/>
          <p:cNvSpPr/>
          <p:nvPr/>
        </p:nvSpPr>
        <p:spPr>
          <a:xfrm>
            <a:off x="9710928" y="2103120"/>
            <a:ext cx="1828800" cy="2194560"/>
          </a:xfrm>
          <a:prstGeom prst="roundRect">
            <a:avLst>
              <a:gd name="adj" fmla="val 6000"/>
            </a:avLst>
          </a:prstGeom>
          <a:solidFill>
            <a:srgbClr val="DCEFFA"/>
          </a:solidFill>
          <a:ln w="9525">
            <a:solidFill>
              <a:srgbClr val="9CCDEB"/>
            </a:solidFill>
            <a:prstDash val="solid"/>
          </a:ln>
        </p:spPr>
      </p:sp>
      <p:pic>
        <p:nvPicPr>
          <p:cNvPr id="27" name="Image 4" descr="Auswertung">    </p:cNvPr>
          <p:cNvPicPr>
            <a:picLocks noChangeAspect="1"/>
          </p:cNvPicPr>
          <p:nvPr/>
        </p:nvPicPr>
        <p:blipFill>
          <a:blip r:embed="rId5"/>
          <a:stretch>
            <a:fillRect/>
          </a:stretch>
        </p:blipFill>
        <p:spPr>
          <a:xfrm>
            <a:off x="9893808" y="2286000"/>
            <a:ext cx="457200" cy="457200"/>
          </a:xfrm>
          <a:prstGeom prst="rect">
            <a:avLst/>
          </a:prstGeom>
        </p:spPr>
      </p:pic>
      <p:sp>
        <p:nvSpPr>
          <p:cNvPr id="28" name="Text 21"/>
          <p:cNvSpPr txBox="1"/>
          <p:nvPr/>
        </p:nvSpPr>
        <p:spPr>
          <a:xfrm>
            <a:off x="9893808"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Auswertung</a:t>
            </a:r>
            <a:endParaRPr lang="en-US" sz="1600" dirty="0"/>
          </a:p>
        </p:txBody>
      </p:sp>
      <p:sp>
        <p:nvSpPr>
          <p:cNvPr id="29" name="Text 22"/>
          <p:cNvSpPr txBox="1"/>
          <p:nvPr/>
        </p:nvSpPr>
        <p:spPr>
          <a:xfrm>
            <a:off x="9893808"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Diagramme, Alarme, CSV</a:t>
            </a:r>
            <a:endParaRPr lang="en-US" sz="1400" dirty="0"/>
          </a:p>
        </p:txBody>
      </p:sp>
      <p:sp>
        <p:nvSpPr>
          <p:cNvPr id="30" name="Text 23"/>
          <p:cNvSpPr txBox="1"/>
          <p:nvPr/>
        </p:nvSpPr>
        <p:spPr>
          <a:xfrm>
            <a:off x="6400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5 s</a:t>
            </a:r>
            <a:endParaRPr lang="en-US" sz="4400" dirty="0"/>
          </a:p>
        </p:txBody>
      </p:sp>
      <p:sp>
        <p:nvSpPr>
          <p:cNvPr id="31" name="Text 24"/>
          <p:cNvSpPr txBox="1"/>
          <p:nvPr/>
        </p:nvSpPr>
        <p:spPr>
          <a:xfrm>
            <a:off x="6400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Messtakt am Truck</a:t>
            </a:r>
            <a:endParaRPr lang="en-US" sz="1600" dirty="0"/>
          </a:p>
        </p:txBody>
      </p:sp>
      <p:sp>
        <p:nvSpPr>
          <p:cNvPr id="32" name="Text 25"/>
          <p:cNvSpPr txBox="1"/>
          <p:nvPr/>
        </p:nvSpPr>
        <p:spPr>
          <a:xfrm>
            <a:off x="42976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8</a:t>
            </a:r>
            <a:endParaRPr lang="en-US" sz="4400" dirty="0"/>
          </a:p>
        </p:txBody>
      </p:sp>
      <p:sp>
        <p:nvSpPr>
          <p:cNvPr id="33" name="Text 26"/>
          <p:cNvSpPr txBox="1"/>
          <p:nvPr/>
        </p:nvSpPr>
        <p:spPr>
          <a:xfrm>
            <a:off x="42976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Datenfelder pro Messung</a:t>
            </a:r>
            <a:endParaRPr lang="en-US" sz="1600" dirty="0"/>
          </a:p>
        </p:txBody>
      </p:sp>
      <p:sp>
        <p:nvSpPr>
          <p:cNvPr id="34" name="Text 27"/>
          <p:cNvSpPr txBox="1"/>
          <p:nvPr/>
        </p:nvSpPr>
        <p:spPr>
          <a:xfrm>
            <a:off x="79552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0 €</a:t>
            </a:r>
            <a:endParaRPr lang="en-US" sz="4400" dirty="0"/>
          </a:p>
        </p:txBody>
      </p:sp>
      <p:sp>
        <p:nvSpPr>
          <p:cNvPr id="35" name="Text 28"/>
          <p:cNvSpPr txBox="1"/>
          <p:nvPr/>
        </p:nvSpPr>
        <p:spPr>
          <a:xfrm>
            <a:off x="79552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Kosten im Free-Tarif</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ÜBERBLICK</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Wir folgen dem Bewertungsbogen</a:t>
            </a:r>
            <a:endParaRPr lang="en-US" sz="3600" dirty="0"/>
          </a:p>
        </p:txBody>
      </p:sp>
      <p:graphicFrame>
        <p:nvGraphicFramePr>
          <p:cNvPr id="5"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822960"/>
                <a:gridCol w="6949440"/>
                <a:gridCol w="1554480"/>
                <a:gridCol w="1581912"/>
              </a:tblGrid>
              <a:tr h="457200">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Nr.</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Kriterium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r" indent="0" marL="0">
                        <a:buNone/>
                      </a:pPr>
                      <a:r>
                        <a:rPr lang="en-US" sz="1600" b="1" dirty="0">
                          <a:solidFill>
                            <a:srgbClr val="0E1B2C"/>
                          </a:solidFill>
                          <a:latin typeface="Calibri" pitchFamily="34" charset="0"/>
                          <a:ea typeface="Calibri" pitchFamily="34" charset="-122"/>
                          <a:cs typeface="Calibri" pitchFamily="34" charset="-120"/>
                        </a:rPr>
                        <a:t>Punkte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r" indent="0" marL="0">
                        <a:buNone/>
                      </a:pPr>
                      <a:r>
                        <a:rPr lang="en-US" sz="1600" b="1" dirty="0">
                          <a:solidFill>
                            <a:srgbClr val="0E1B2C"/>
                          </a:solidFill>
                          <a:latin typeface="Calibri" pitchFamily="34" charset="0"/>
                          <a:ea typeface="Calibri" pitchFamily="34" charset="-122"/>
                          <a:cs typeface="Calibri" pitchFamily="34" charset="-120"/>
                        </a:rPr>
                        <a:t>Folie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Mindestens zwei Clouddienste vorgestellt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Entscheidung technisch begründet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NIST-Kriterien erfüllt oder Abweichungen begründet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Einordnung als IaaS, PaaS oder SaaS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Datensicherheit und DSGVO eingeschätzt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Konzept zur sicheren Datenübertragung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Messdaten in der Cloud protokolliert und visualisiert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Zusätzliche Funktionen realisiert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bl>
          </a:graphicData>
        </a:graphic>
      </p:graphicFrame>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1 · MINDESTENS ZWEI CLOUDDIENSTE</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1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Zwei Dienste im Vergleich</a:t>
            </a:r>
            <a:endParaRPr lang="en-US" sz="3600" dirty="0"/>
          </a:p>
        </p:txBody>
      </p:sp>
      <p:graphicFrame>
        <p:nvGraphicFramePr>
          <p:cNvPr id="6"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468880"/>
                <a:gridCol w="4206240"/>
                <a:gridCol w="4233672"/>
              </a:tblGrid>
              <a:tr h="502920">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Kriterium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Azure IoT Hub</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ThingSpeak</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Protokolle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MQTT, WebSockets, AMQP, HTTPS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MQTT und HTTP(S)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Speicherung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Blob-Archiv, JSON nach Datum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Kanal mit 8 Feldern, CSV-Export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Visualisierung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Data Explorer, Power BI, Grafana</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Diagramme, Widgets, MATLAB</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Kosten</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F1 gratis, 8.000 Nachrichten/Tag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Free-Tarif (nicht kommerziell)</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Datenschutz</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EU-Region, z. B. Deutschland</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Server in den USA</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212080"/>
            <a:ext cx="10908792"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Ebenfalls geprüft: AWS IoT Core (Kreditkarte nötig), Arduino Cloud (Free nur 1 Tag Historie), eigene VM mit MQTT und InfluxDB (IaaS, hoher Aufwand).</a:t>
            </a:r>
            <a:endParaRPr lang="en-US" sz="14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KRITERIUM 2 · TECHNISCH BEGRÜNDETE ENTSCHEIDUNG</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8FA3B8"/>
                </a:solidFill>
                <a:latin typeface="Calibri" pitchFamily="34" charset="0"/>
                <a:ea typeface="Calibri" pitchFamily="34" charset="-122"/>
                <a:cs typeface="Calibri" pitchFamily="34" charset="-120"/>
              </a:rPr>
              <a:t>Kriterium 2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Entscheidung: ThingSpeak</a:t>
            </a:r>
            <a:endParaRPr lang="en-US" sz="3600" dirty="0"/>
          </a:p>
        </p:txBody>
      </p:sp>
      <p:sp>
        <p:nvSpPr>
          <p:cNvPr id="6" name="Karte"/>
          <p:cNvSpPr/>
          <p:nvPr/>
        </p:nvSpPr>
        <p:spPr>
          <a:xfrm>
            <a:off x="640080" y="1783080"/>
            <a:ext cx="5120640" cy="2011680"/>
          </a:xfrm>
          <a:prstGeom prst="roundRect">
            <a:avLst>
              <a:gd name="adj" fmla="val 5455"/>
            </a:avLst>
          </a:prstGeom>
          <a:solidFill>
            <a:srgbClr val="16293F"/>
          </a:solidFill>
          <a:ln w="9525">
            <a:solidFill>
              <a:srgbClr val="27415E"/>
            </a:solidFill>
            <a:prstDash val="solid"/>
          </a:ln>
        </p:spPr>
      </p:sp>
      <p:sp>
        <p:nvSpPr>
          <p:cNvPr id="7" name="Status"/>
          <p:cNvSpPr/>
          <p:nvPr/>
        </p:nvSpPr>
        <p:spPr>
          <a:xfrm>
            <a:off x="914400" y="1965960"/>
            <a:ext cx="1371600" cy="310896"/>
          </a:xfrm>
          <a:prstGeom prst="roundRect">
            <a:avLst>
              <a:gd name="adj" fmla="val 50000"/>
            </a:avLst>
          </a:prstGeom>
          <a:solidFill>
            <a:srgbClr val="27415E"/>
          </a:solidFill>
          <a:ln/>
        </p:spPr>
        <p:txBody>
          <a:bodyPr wrap="square" lIns="0" tIns="0" rIns="0" bIns="0" rtlCol="0" anchor="ctr"/>
          <a:lstStyle/>
          <a:p>
            <a:pPr algn="ctr" indent="0" marL="0">
              <a:buNone/>
            </a:pPr>
            <a:r>
              <a:rPr lang="en-US" sz="1200" b="1" dirty="0">
                <a:solidFill>
                  <a:srgbClr val="6CCBF5"/>
                </a:solidFill>
                <a:latin typeface="Calibri" pitchFamily="34" charset="0"/>
                <a:ea typeface="Calibri" pitchFamily="34" charset="-122"/>
                <a:cs typeface="Calibri" pitchFamily="34" charset="-120"/>
              </a:rPr>
              <a:t>ALTERNATIVE</a:t>
            </a:r>
            <a:endParaRPr lang="en-US" sz="1200" dirty="0"/>
          </a:p>
        </p:txBody>
      </p:sp>
      <p:sp>
        <p:nvSpPr>
          <p:cNvPr id="8" name="Text 6"/>
          <p:cNvSpPr txBox="1"/>
          <p:nvPr/>
        </p:nvSpPr>
        <p:spPr>
          <a:xfrm>
            <a:off x="914400" y="237744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Azure IoT Hub</a:t>
            </a:r>
            <a:endParaRPr lang="en-US" sz="2400" dirty="0"/>
          </a:p>
        </p:txBody>
      </p:sp>
      <p:sp>
        <p:nvSpPr>
          <p:cNvPr id="9" name="Text 7"/>
          <p:cNvSpPr txBox="1"/>
          <p:nvPr/>
        </p:nvSpPr>
        <p:spPr>
          <a:xfrm>
            <a:off x="914400" y="2880360"/>
            <a:ext cx="4572000" cy="82296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Vorbereitet mit Setup-Skript, Bridge und Auswertung. Für eine ganze Flotte die bessere Wahl: EU-Region, Archiv, Schlüssel pro Gerät.</a:t>
            </a:r>
            <a:endParaRPr lang="en-US" sz="1500" dirty="0"/>
          </a:p>
        </p:txBody>
      </p:sp>
      <p:sp>
        <p:nvSpPr>
          <p:cNvPr id="10" name="Karte"/>
          <p:cNvSpPr/>
          <p:nvPr/>
        </p:nvSpPr>
        <p:spPr>
          <a:xfrm>
            <a:off x="640080" y="4023360"/>
            <a:ext cx="5120640" cy="2011680"/>
          </a:xfrm>
          <a:prstGeom prst="roundRect">
            <a:avLst>
              <a:gd name="adj" fmla="val 5455"/>
            </a:avLst>
          </a:prstGeom>
          <a:solidFill>
            <a:srgbClr val="16293F"/>
          </a:solidFill>
          <a:ln w="28575">
            <a:solidFill>
              <a:srgbClr val="6CCBF5"/>
            </a:solidFill>
            <a:prstDash val="solid"/>
          </a:ln>
        </p:spPr>
      </p:sp>
      <p:sp>
        <p:nvSpPr>
          <p:cNvPr id="11" name="Status"/>
          <p:cNvSpPr/>
          <p:nvPr/>
        </p:nvSpPr>
        <p:spPr>
          <a:xfrm>
            <a:off x="914400" y="4206240"/>
            <a:ext cx="1188720" cy="310896"/>
          </a:xfrm>
          <a:prstGeom prst="roundRect">
            <a:avLst>
              <a:gd name="adj" fmla="val 50000"/>
            </a:avLst>
          </a:prstGeom>
          <a:solidFill>
            <a:srgbClr val="6CCBF5"/>
          </a:solidFill>
          <a:ln/>
        </p:spPr>
        <p:txBody>
          <a:bodyPr wrap="square" lIns="0" tIns="0" rIns="0" bIns="0" rtlCol="0" anchor="ctr"/>
          <a:lstStyle/>
          <a:p>
            <a:pPr algn="ctr" indent="0" marL="0">
              <a:buNone/>
            </a:pPr>
            <a:r>
              <a:rPr lang="en-US" sz="1200" b="1" dirty="0">
                <a:solidFill>
                  <a:srgbClr val="0E1B2C"/>
                </a:solidFill>
                <a:latin typeface="Calibri" pitchFamily="34" charset="0"/>
                <a:ea typeface="Calibri" pitchFamily="34" charset="-122"/>
                <a:cs typeface="Calibri" pitchFamily="34" charset="-120"/>
              </a:rPr>
              <a:t>GEWÄHLT</a:t>
            </a:r>
            <a:endParaRPr lang="en-US" sz="1200" dirty="0"/>
          </a:p>
        </p:txBody>
      </p:sp>
      <p:sp>
        <p:nvSpPr>
          <p:cNvPr id="12" name="Text 10"/>
          <p:cNvSpPr txBox="1"/>
          <p:nvPr/>
        </p:nvSpPr>
        <p:spPr>
          <a:xfrm>
            <a:off x="914400" y="461772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ThingSpeak</a:t>
            </a:r>
            <a:endParaRPr lang="en-US" sz="2400" dirty="0"/>
          </a:p>
        </p:txBody>
      </p:sp>
      <p:sp>
        <p:nvSpPr>
          <p:cNvPr id="13" name="Text 11"/>
          <p:cNvSpPr txBox="1"/>
          <p:nvPr/>
        </p:nvSpPr>
        <p:spPr>
          <a:xfrm>
            <a:off x="914400" y="5120640"/>
            <a:ext cx="4572000" cy="82296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Passt besser zum Prototyp: fertige Diagramme, kein eigener Server, in Minuten startklar.</a:t>
            </a:r>
            <a:endParaRPr lang="en-US" sz="1500" dirty="0"/>
          </a:p>
        </p:txBody>
      </p:sp>
      <p:sp>
        <p:nvSpPr>
          <p:cNvPr id="14" name="Karte"/>
          <p:cNvSpPr/>
          <p:nvPr/>
        </p:nvSpPr>
        <p:spPr>
          <a:xfrm>
            <a:off x="6035040" y="1783080"/>
            <a:ext cx="5513832" cy="4251960"/>
          </a:xfrm>
          <a:prstGeom prst="roundRect">
            <a:avLst>
              <a:gd name="adj" fmla="val 2581"/>
            </a:avLst>
          </a:prstGeom>
          <a:solidFill>
            <a:srgbClr val="16293F"/>
          </a:solidFill>
          <a:ln w="9525">
            <a:solidFill>
              <a:srgbClr val="27415E"/>
            </a:solidFill>
            <a:prstDash val="solid"/>
          </a:ln>
        </p:spPr>
      </p:sp>
      <p:sp>
        <p:nvSpPr>
          <p:cNvPr id="15" name="Text 13"/>
          <p:cNvSpPr txBox="1"/>
          <p:nvPr/>
        </p:nvSpPr>
        <p:spPr>
          <a:xfrm>
            <a:off x="6355080" y="1965960"/>
            <a:ext cx="49377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Technische Begründung</a:t>
            </a:r>
            <a:endParaRPr lang="en-US" sz="2400" dirty="0"/>
          </a:p>
        </p:txBody>
      </p:sp>
      <p:pic>
        <p:nvPicPr>
          <p:cNvPr id="16" name="Image 0" descr="Haken">    </p:cNvPr>
          <p:cNvPicPr>
            <a:picLocks noChangeAspect="1"/>
          </p:cNvPicPr>
          <p:nvPr/>
        </p:nvPicPr>
        <p:blipFill>
          <a:blip r:embed="rId1"/>
          <a:stretch>
            <a:fillRect/>
          </a:stretch>
        </p:blipFill>
        <p:spPr>
          <a:xfrm>
            <a:off x="6355080" y="2724912"/>
            <a:ext cx="292608" cy="292608"/>
          </a:xfrm>
          <a:prstGeom prst="rect">
            <a:avLst/>
          </a:prstGeom>
        </p:spPr>
      </p:pic>
      <p:sp>
        <p:nvSpPr>
          <p:cNvPr id="17" name="Text 14"/>
          <p:cNvSpPr txBox="1"/>
          <p:nvPr/>
        </p:nvSpPr>
        <p:spPr>
          <a:xfrm>
            <a:off x="6858000" y="2651760"/>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Kosten: </a:t>
            </a:r>
            <a:pPr indent="0" marL="0">
              <a:buNone/>
            </a:pPr>
            <a:r>
              <a:rPr lang="en-US" sz="1600" dirty="0">
                <a:solidFill>
                  <a:srgbClr val="B8C7D9"/>
                </a:solidFill>
                <a:latin typeface="Calibri" pitchFamily="34" charset="0"/>
                <a:ea typeface="Calibri" pitchFamily="34" charset="-122"/>
                <a:cs typeface="Calibri" pitchFamily="34" charset="-120"/>
              </a:rPr>
              <a:t>Free-Tarif, keine Kreditkarte nötig</a:t>
            </a:r>
            <a:endParaRPr lang="en-US" sz="1600" dirty="0"/>
          </a:p>
        </p:txBody>
      </p:sp>
      <p:pic>
        <p:nvPicPr>
          <p:cNvPr id="18" name="Image 1" descr="Haken">    </p:cNvPr>
          <p:cNvPicPr>
            <a:picLocks noChangeAspect="1"/>
          </p:cNvPicPr>
          <p:nvPr/>
        </p:nvPicPr>
        <p:blipFill>
          <a:blip r:embed="rId2"/>
          <a:stretch>
            <a:fillRect/>
          </a:stretch>
        </p:blipFill>
        <p:spPr>
          <a:xfrm>
            <a:off x="6355080" y="3566160"/>
            <a:ext cx="292608" cy="292608"/>
          </a:xfrm>
          <a:prstGeom prst="rect">
            <a:avLst/>
          </a:prstGeom>
        </p:spPr>
      </p:pic>
      <p:sp>
        <p:nvSpPr>
          <p:cNvPr id="19" name="Text 15"/>
          <p:cNvSpPr txBox="1"/>
          <p:nvPr/>
        </p:nvSpPr>
        <p:spPr>
          <a:xfrm>
            <a:off x="6858000" y="3493008"/>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Protokolle: </a:t>
            </a:r>
            <a:pPr indent="0" marL="0">
              <a:buNone/>
            </a:pPr>
            <a:r>
              <a:rPr lang="en-US" sz="1600" dirty="0">
                <a:solidFill>
                  <a:srgbClr val="B8C7D9"/>
                </a:solidFill>
                <a:latin typeface="Calibri" pitchFamily="34" charset="0"/>
                <a:ea typeface="Calibri" pitchFamily="34" charset="-122"/>
                <a:cs typeface="Calibri" pitchFamily="34" charset="-120"/>
              </a:rPr>
              <a:t>HTTP(S)-API passt zur Bridge, MQTT möglich</a:t>
            </a:r>
            <a:endParaRPr lang="en-US" sz="1600" dirty="0"/>
          </a:p>
        </p:txBody>
      </p:sp>
      <p:pic>
        <p:nvPicPr>
          <p:cNvPr id="20" name="Image 2" descr="Haken">    </p:cNvPr>
          <p:cNvPicPr>
            <a:picLocks noChangeAspect="1"/>
          </p:cNvPicPr>
          <p:nvPr/>
        </p:nvPicPr>
        <p:blipFill>
          <a:blip r:embed="rId3"/>
          <a:stretch>
            <a:fillRect/>
          </a:stretch>
        </p:blipFill>
        <p:spPr>
          <a:xfrm>
            <a:off x="6355080" y="4407408"/>
            <a:ext cx="292608" cy="292608"/>
          </a:xfrm>
          <a:prstGeom prst="rect">
            <a:avLst/>
          </a:prstGeom>
        </p:spPr>
      </p:pic>
      <p:sp>
        <p:nvSpPr>
          <p:cNvPr id="21" name="Text 16"/>
          <p:cNvSpPr txBox="1"/>
          <p:nvPr/>
        </p:nvSpPr>
        <p:spPr>
          <a:xfrm>
            <a:off x="6858000" y="4334256"/>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Speicherung und Visualisierung: </a:t>
            </a:r>
            <a:pPr indent="0" marL="0">
              <a:buNone/>
            </a:pPr>
            <a:r>
              <a:rPr lang="en-US" sz="1600" dirty="0">
                <a:solidFill>
                  <a:srgbClr val="B8C7D9"/>
                </a:solidFill>
                <a:latin typeface="Calibri" pitchFamily="34" charset="0"/>
                <a:ea typeface="Calibri" pitchFamily="34" charset="-122"/>
                <a:cs typeface="Calibri" pitchFamily="34" charset="-120"/>
              </a:rPr>
              <a:t>Kanal, Diagramme und MATLAB ohne eigenen Server</a:t>
            </a:r>
            <a:endParaRPr lang="en-US" sz="1600" dirty="0"/>
          </a:p>
        </p:txBody>
      </p:sp>
      <p:pic>
        <p:nvPicPr>
          <p:cNvPr id="22" name="Image 3" descr="Haken">    </p:cNvPr>
          <p:cNvPicPr>
            <a:picLocks noChangeAspect="1"/>
          </p:cNvPicPr>
          <p:nvPr/>
        </p:nvPicPr>
        <p:blipFill>
          <a:blip r:embed="rId4"/>
          <a:stretch>
            <a:fillRect/>
          </a:stretch>
        </p:blipFill>
        <p:spPr>
          <a:xfrm>
            <a:off x="6355080" y="5248656"/>
            <a:ext cx="292608" cy="292608"/>
          </a:xfrm>
          <a:prstGeom prst="rect">
            <a:avLst/>
          </a:prstGeom>
        </p:spPr>
      </p:pic>
      <p:sp>
        <p:nvSpPr>
          <p:cNvPr id="23" name="Text 17"/>
          <p:cNvSpPr txBox="1"/>
          <p:nvPr/>
        </p:nvSpPr>
        <p:spPr>
          <a:xfrm>
            <a:off x="6858000" y="5175504"/>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Datenschutz: </a:t>
            </a:r>
            <a:pPr indent="0" marL="0">
              <a:buNone/>
            </a:pPr>
            <a:r>
              <a:rPr lang="en-US" sz="1600" dirty="0">
                <a:solidFill>
                  <a:srgbClr val="B8C7D9"/>
                </a:solidFill>
                <a:latin typeface="Calibri" pitchFamily="34" charset="0"/>
                <a:ea typeface="Calibri" pitchFamily="34" charset="-122"/>
                <a:cs typeface="Calibri" pitchFamily="34" charset="-120"/>
              </a:rPr>
              <a:t>Daten ohne Personenbezug, US-Server vertretbar</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3 · NIST-KRITERIEN (SP 800-145)</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3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Die fünf Cloud-Merkmale</a:t>
            </a:r>
            <a:endParaRPr lang="en-US" sz="3600" dirty="0"/>
          </a:p>
        </p:txBody>
      </p:sp>
      <p:graphicFrame>
        <p:nvGraphicFramePr>
          <p:cNvPr id="8"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651760"/>
                <a:gridCol w="4297680"/>
                <a:gridCol w="3959352"/>
              </a:tblGrid>
              <a:tr h="640080">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Merkmal</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Bei uns</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Einschränkung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On-demand Self-Service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Konto und Kanal in Minuten selbst angelegt, ohne Vertrag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Free-Tarif mit festen Nutzungsbedingungen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Broad Network Access</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HTTPS aus jedem Netz, Diagramme im Browser und auf dem Handy</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Der Pi braucht Internet, der Puffer überbrückt Ausfälle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Resource Pooling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Die Plattform bedient viele Kunden gemeinsam</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Nur Herstellerangabe, von uns nicht prüfbar</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Rapid Elasticity</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Weitere Einheiten jederzeit zukaufbar (1 Einheit = 33 Mio. Nachrichten)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Free: feste Limits, kein automatisches Skalieren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Measured Service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Verbrauch und Restkontingent stehen unter „My Account“</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Keine Rechnung im Free-Tarif, nur Zählung und Warnung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4 · EINORDNUNG IAAS, PAAS ODER SAAS</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4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IaaS, PaaS oder SaaS?</a:t>
            </a:r>
            <a:endParaRPr lang="en-US" sz="3600" dirty="0"/>
          </a:p>
        </p:txBody>
      </p:sp>
      <p:sp>
        <p:nvSpPr>
          <p:cNvPr id="6" name="Karte"/>
          <p:cNvSpPr/>
          <p:nvPr/>
        </p:nvSpPr>
        <p:spPr>
          <a:xfrm>
            <a:off x="640080" y="1783080"/>
            <a:ext cx="3429000" cy="3246120"/>
          </a:xfrm>
          <a:prstGeom prst="roundRect">
            <a:avLst>
              <a:gd name="adj" fmla="val 3380"/>
            </a:avLst>
          </a:prstGeom>
          <a:solidFill>
            <a:srgbClr val="FFFFFF"/>
          </a:solidFill>
          <a:ln w="9525">
            <a:solidFill>
              <a:srgbClr val="D3DEE6"/>
            </a:solidFill>
            <a:prstDash val="solid"/>
          </a:ln>
        </p:spPr>
      </p:sp>
      <p:sp>
        <p:nvSpPr>
          <p:cNvPr id="7" name="Status"/>
          <p:cNvSpPr/>
          <p:nvPr/>
        </p:nvSpPr>
        <p:spPr>
          <a:xfrm>
            <a:off x="914400" y="1965960"/>
            <a:ext cx="1005840" cy="310896"/>
          </a:xfrm>
          <a:prstGeom prst="roundRect">
            <a:avLst>
              <a:gd name="adj" fmla="val 50000"/>
            </a:avLst>
          </a:prstGeom>
          <a:solidFill>
            <a:srgbClr val="E6EEF3"/>
          </a:solidFill>
          <a:ln/>
        </p:spPr>
        <p:txBody>
          <a:bodyPr wrap="square" lIns="0" tIns="0" rIns="0" bIns="0" rtlCol="0" anchor="ctr"/>
          <a:lstStyle/>
          <a:p>
            <a:pPr algn="ctr" indent="0" marL="0">
              <a:buNone/>
            </a:pPr>
            <a:r>
              <a:rPr lang="en-US" sz="1200" b="1" dirty="0">
                <a:solidFill>
                  <a:srgbClr val="3E4C5E"/>
                </a:solidFill>
                <a:latin typeface="Calibri" pitchFamily="34" charset="0"/>
                <a:ea typeface="Calibri" pitchFamily="34" charset="-122"/>
                <a:cs typeface="Calibri" pitchFamily="34" charset="-120"/>
              </a:rPr>
              <a:t>IAAS</a:t>
            </a:r>
            <a:endParaRPr lang="en-US" sz="1200" dirty="0"/>
          </a:p>
        </p:txBody>
      </p:sp>
      <p:sp>
        <p:nvSpPr>
          <p:cNvPr id="8" name="Text 6"/>
          <p:cNvSpPr txBox="1"/>
          <p:nvPr/>
        </p:nvSpPr>
        <p:spPr>
          <a:xfrm>
            <a:off x="914400"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Eigene VM</a:t>
            </a:r>
            <a:endParaRPr lang="en-US" sz="2200" dirty="0"/>
          </a:p>
        </p:txBody>
      </p:sp>
      <p:sp>
        <p:nvSpPr>
          <p:cNvPr id="9" name="Text 7"/>
          <p:cNvSpPr txBox="1"/>
          <p:nvPr/>
        </p:nvSpPr>
        <p:spPr>
          <a:xfrm>
            <a:off x="914400"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Mosquitto, InfluxDB und Grafana auf gemieteter Infrastruktur</a:t>
            </a:r>
            <a:endParaRPr lang="en-US" sz="1400" dirty="0"/>
          </a:p>
        </p:txBody>
      </p:sp>
      <p:sp>
        <p:nvSpPr>
          <p:cNvPr id="10" name="Text 8"/>
          <p:cNvSpPr txBox="1"/>
          <p:nvPr/>
        </p:nvSpPr>
        <p:spPr>
          <a:xfrm>
            <a:off x="914400"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Betriebssystem, Software, Updates, Backups</a:t>
            </a:r>
            <a:endParaRPr lang="en-US" sz="1400" dirty="0"/>
          </a:p>
        </p:txBody>
      </p:sp>
      <p:sp>
        <p:nvSpPr>
          <p:cNvPr id="11" name="Text 9"/>
          <p:cNvSpPr txBox="1"/>
          <p:nvPr/>
        </p:nvSpPr>
        <p:spPr>
          <a:xfrm>
            <a:off x="914400"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Hardware und Virtualisierung</a:t>
            </a:r>
            <a:endParaRPr lang="en-US" sz="1400" dirty="0"/>
          </a:p>
        </p:txBody>
      </p:sp>
      <p:sp>
        <p:nvSpPr>
          <p:cNvPr id="12" name="Karte"/>
          <p:cNvSpPr/>
          <p:nvPr/>
        </p:nvSpPr>
        <p:spPr>
          <a:xfrm>
            <a:off x="4379976" y="1783080"/>
            <a:ext cx="3429000" cy="3246120"/>
          </a:xfrm>
          <a:prstGeom prst="roundRect">
            <a:avLst>
              <a:gd name="adj" fmla="val 3380"/>
            </a:avLst>
          </a:prstGeom>
          <a:solidFill>
            <a:srgbClr val="FFFFFF"/>
          </a:solidFill>
          <a:ln w="9525">
            <a:solidFill>
              <a:srgbClr val="D3DEE6"/>
            </a:solidFill>
            <a:prstDash val="solid"/>
          </a:ln>
        </p:spPr>
      </p:sp>
      <p:sp>
        <p:nvSpPr>
          <p:cNvPr id="13" name="Status"/>
          <p:cNvSpPr/>
          <p:nvPr/>
        </p:nvSpPr>
        <p:spPr>
          <a:xfrm>
            <a:off x="4654296" y="1965960"/>
            <a:ext cx="1005840" cy="310896"/>
          </a:xfrm>
          <a:prstGeom prst="roundRect">
            <a:avLst>
              <a:gd name="adj" fmla="val 50000"/>
            </a:avLst>
          </a:prstGeom>
          <a:solidFill>
            <a:srgbClr val="E6EEF3"/>
          </a:solidFill>
          <a:ln/>
        </p:spPr>
        <p:txBody>
          <a:bodyPr wrap="square" lIns="0" tIns="0" rIns="0" bIns="0" rtlCol="0" anchor="ctr"/>
          <a:lstStyle/>
          <a:p>
            <a:pPr algn="ctr" indent="0" marL="0">
              <a:buNone/>
            </a:pPr>
            <a:r>
              <a:rPr lang="en-US" sz="1200" b="1" dirty="0">
                <a:solidFill>
                  <a:srgbClr val="3E4C5E"/>
                </a:solidFill>
                <a:latin typeface="Calibri" pitchFamily="34" charset="0"/>
                <a:ea typeface="Calibri" pitchFamily="34" charset="-122"/>
                <a:cs typeface="Calibri" pitchFamily="34" charset="-120"/>
              </a:rPr>
              <a:t>PAAS</a:t>
            </a:r>
            <a:endParaRPr lang="en-US" sz="1200" dirty="0"/>
          </a:p>
        </p:txBody>
      </p:sp>
      <p:sp>
        <p:nvSpPr>
          <p:cNvPr id="14" name="Text 12"/>
          <p:cNvSpPr txBox="1"/>
          <p:nvPr/>
        </p:nvSpPr>
        <p:spPr>
          <a:xfrm>
            <a:off x="4654296"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Azure IoT Hub</a:t>
            </a:r>
            <a:endParaRPr lang="en-US" sz="2200" dirty="0"/>
          </a:p>
        </p:txBody>
      </p:sp>
      <p:sp>
        <p:nvSpPr>
          <p:cNvPr id="15" name="Text 13"/>
          <p:cNvSpPr txBox="1"/>
          <p:nvPr/>
        </p:nvSpPr>
        <p:spPr>
          <a:xfrm>
            <a:off x="4654296"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Fertige Plattform für Geräte und Nachrichten</a:t>
            </a:r>
            <a:endParaRPr lang="en-US" sz="1400" dirty="0"/>
          </a:p>
        </p:txBody>
      </p:sp>
      <p:sp>
        <p:nvSpPr>
          <p:cNvPr id="16" name="Text 14"/>
          <p:cNvSpPr txBox="1"/>
          <p:nvPr/>
        </p:nvSpPr>
        <p:spPr>
          <a:xfrm>
            <a:off x="4654296"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Geräte, Routing, Auswertung</a:t>
            </a:r>
            <a:endParaRPr lang="en-US" sz="1400" dirty="0"/>
          </a:p>
        </p:txBody>
      </p:sp>
      <p:sp>
        <p:nvSpPr>
          <p:cNvPr id="17" name="Text 15"/>
          <p:cNvSpPr txBox="1"/>
          <p:nvPr/>
        </p:nvSpPr>
        <p:spPr>
          <a:xfrm>
            <a:off x="4654296"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Server, Betriebssystem, Plattform</a:t>
            </a:r>
            <a:endParaRPr lang="en-US" sz="1400" dirty="0"/>
          </a:p>
        </p:txBody>
      </p:sp>
      <p:sp>
        <p:nvSpPr>
          <p:cNvPr id="18" name="Karte"/>
          <p:cNvSpPr/>
          <p:nvPr/>
        </p:nvSpPr>
        <p:spPr>
          <a:xfrm>
            <a:off x="8119872" y="1783080"/>
            <a:ext cx="3429000" cy="3246120"/>
          </a:xfrm>
          <a:prstGeom prst="roundRect">
            <a:avLst>
              <a:gd name="adj" fmla="val 3380"/>
            </a:avLst>
          </a:prstGeom>
          <a:solidFill>
            <a:srgbClr val="DCEFFA"/>
          </a:solidFill>
          <a:ln w="28575">
            <a:solidFill>
              <a:srgbClr val="0B6FA4"/>
            </a:solidFill>
            <a:prstDash val="solid"/>
          </a:ln>
        </p:spPr>
      </p:sp>
      <p:sp>
        <p:nvSpPr>
          <p:cNvPr id="19" name="Status"/>
          <p:cNvSpPr/>
          <p:nvPr/>
        </p:nvSpPr>
        <p:spPr>
          <a:xfrm>
            <a:off x="8394192" y="1965960"/>
            <a:ext cx="2377440" cy="310896"/>
          </a:xfrm>
          <a:prstGeom prst="roundRect">
            <a:avLst>
              <a:gd name="adj" fmla="val 50000"/>
            </a:avLst>
          </a:prstGeom>
          <a:solidFill>
            <a:srgbClr val="0B6FA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SAAS · UNSERE LÖSUNG</a:t>
            </a:r>
            <a:endParaRPr lang="en-US" sz="1200" dirty="0"/>
          </a:p>
        </p:txBody>
      </p:sp>
      <p:sp>
        <p:nvSpPr>
          <p:cNvPr id="20" name="Text 18"/>
          <p:cNvSpPr txBox="1"/>
          <p:nvPr/>
        </p:nvSpPr>
        <p:spPr>
          <a:xfrm>
            <a:off x="8394192"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ThingSpeak</a:t>
            </a:r>
            <a:endParaRPr lang="en-US" sz="2200" dirty="0"/>
          </a:p>
        </p:txBody>
      </p:sp>
      <p:sp>
        <p:nvSpPr>
          <p:cNvPr id="21" name="Text 19"/>
          <p:cNvSpPr txBox="1"/>
          <p:nvPr/>
        </p:nvSpPr>
        <p:spPr>
          <a:xfrm>
            <a:off x="8394192"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Fertige Anwendung im Browser</a:t>
            </a:r>
            <a:endParaRPr lang="en-US" sz="1400" dirty="0"/>
          </a:p>
        </p:txBody>
      </p:sp>
      <p:sp>
        <p:nvSpPr>
          <p:cNvPr id="22" name="Text 20"/>
          <p:cNvSpPr txBox="1"/>
          <p:nvPr/>
        </p:nvSpPr>
        <p:spPr>
          <a:xfrm>
            <a:off x="8394192"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nur Kanal und Daten</a:t>
            </a:r>
            <a:endParaRPr lang="en-US" sz="1400" dirty="0"/>
          </a:p>
        </p:txBody>
      </p:sp>
      <p:sp>
        <p:nvSpPr>
          <p:cNvPr id="23" name="Text 21"/>
          <p:cNvSpPr txBox="1"/>
          <p:nvPr/>
        </p:nvSpPr>
        <p:spPr>
          <a:xfrm>
            <a:off x="8394192"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alles andere</a:t>
            </a:r>
            <a:endParaRPr lang="en-US" sz="1400" dirty="0"/>
          </a:p>
        </p:txBody>
      </p:sp>
      <p:sp>
        <p:nvSpPr>
          <p:cNvPr id="24" name="Text 22"/>
          <p:cNvSpPr txBox="1"/>
          <p:nvPr/>
        </p:nvSpPr>
        <p:spPr>
          <a:xfrm>
            <a:off x="640080" y="5303520"/>
            <a:ext cx="10908792" cy="7315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Unsere Einordnung: SaaS. </a:t>
            </a:r>
            <a:pPr indent="0" marL="0">
              <a:buNone/>
            </a:pPr>
            <a:r>
              <a:rPr lang="en-US" sz="1800" dirty="0">
                <a:solidFill>
                  <a:schemeClr val="tx1"/>
                </a:solidFill>
                <a:latin typeface="Calibri" pitchFamily="34" charset="0"/>
                <a:ea typeface="Calibri" pitchFamily="34" charset="-122"/>
                <a:cs typeface="Calibri" pitchFamily="34" charset="-120"/>
              </a:rPr>
              <a:t>Wir konfigurieren eine fertige Anwendung. Die MATLAB-Auswertungen laufen als Zusatz innerhalb dieser Anwendung.</a:t>
            </a:r>
            <a:endParaRPr lang="en-US" sz="18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5 · DATENSICHERHEIT UND DSGVO</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5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Datensicherheit und DSGVO</a:t>
            </a:r>
            <a:endParaRPr lang="en-US" sz="3600" dirty="0"/>
          </a:p>
        </p:txBody>
      </p:sp>
      <p:sp>
        <p:nvSpPr>
          <p:cNvPr id="6" name="Karte"/>
          <p:cNvSpPr/>
          <p:nvPr/>
        </p:nvSpPr>
        <p:spPr>
          <a:xfrm>
            <a:off x="640080" y="1737360"/>
            <a:ext cx="3429000" cy="3611880"/>
          </a:xfrm>
          <a:prstGeom prst="roundRect">
            <a:avLst>
              <a:gd name="adj" fmla="val 3200"/>
            </a:avLst>
          </a:prstGeom>
          <a:solidFill>
            <a:srgbClr val="FFFFFF"/>
          </a:solidFill>
          <a:ln w="9525">
            <a:solidFill>
              <a:srgbClr val="D3DEE6"/>
            </a:solidFill>
            <a:prstDash val="solid"/>
          </a:ln>
        </p:spPr>
      </p:sp>
      <p:sp>
        <p:nvSpPr>
          <p:cNvPr id="7" name="Icon-Kreis"/>
          <p:cNvSpPr/>
          <p:nvPr/>
        </p:nvSpPr>
        <p:spPr>
          <a:xfrm>
            <a:off x="914400" y="1920240"/>
            <a:ext cx="457200" cy="457200"/>
          </a:xfrm>
          <a:prstGeom prst="ellipse">
            <a:avLst/>
          </a:prstGeom>
          <a:solidFill>
            <a:srgbClr val="E6EEF3"/>
          </a:solidFill>
          <a:ln w="12700">
            <a:solidFill>
              <a:srgbClr val="E6EEF3"/>
            </a:solidFill>
            <a:prstDash val="solid"/>
          </a:ln>
        </p:spPr>
      </p:sp>
      <p:pic>
        <p:nvPicPr>
          <p:cNvPr id="8" name="Image 0" descr="FaDatabase">    </p:cNvPr>
          <p:cNvPicPr>
            <a:picLocks noChangeAspect="1"/>
          </p:cNvPicPr>
          <p:nvPr/>
        </p:nvPicPr>
        <p:blipFill>
          <a:blip r:embed="rId1"/>
          <a:stretch>
            <a:fillRect/>
          </a:stretch>
        </p:blipFill>
        <p:spPr>
          <a:xfrm>
            <a:off x="1014984" y="2020824"/>
            <a:ext cx="256032" cy="256032"/>
          </a:xfrm>
          <a:prstGeom prst="rect">
            <a:avLst/>
          </a:prstGeom>
        </p:spPr>
      </p:pic>
      <p:sp>
        <p:nvSpPr>
          <p:cNvPr id="9" name="Text 6"/>
          <p:cNvSpPr txBox="1"/>
          <p:nvPr/>
        </p:nvSpPr>
        <p:spPr>
          <a:xfrm>
            <a:off x="1508760"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Welche Daten?</a:t>
            </a:r>
            <a:endParaRPr lang="en-US" sz="2000" dirty="0"/>
          </a:p>
        </p:txBody>
      </p:sp>
      <p:sp>
        <p:nvSpPr>
          <p:cNvPr id="10" name="Karte"/>
          <p:cNvSpPr/>
          <p:nvPr/>
        </p:nvSpPr>
        <p:spPr>
          <a:xfrm>
            <a:off x="4379976" y="1737360"/>
            <a:ext cx="3429000" cy="3611880"/>
          </a:xfrm>
          <a:prstGeom prst="roundRect">
            <a:avLst>
              <a:gd name="adj" fmla="val 3200"/>
            </a:avLst>
          </a:prstGeom>
          <a:solidFill>
            <a:srgbClr val="FFFFFF"/>
          </a:solidFill>
          <a:ln w="9525">
            <a:solidFill>
              <a:srgbClr val="D3DEE6"/>
            </a:solidFill>
            <a:prstDash val="solid"/>
          </a:ln>
        </p:spPr>
      </p:sp>
      <p:sp>
        <p:nvSpPr>
          <p:cNvPr id="11" name="Icon-Kreis"/>
          <p:cNvSpPr/>
          <p:nvPr/>
        </p:nvSpPr>
        <p:spPr>
          <a:xfrm>
            <a:off x="4654296" y="1920240"/>
            <a:ext cx="457200" cy="457200"/>
          </a:xfrm>
          <a:prstGeom prst="ellipse">
            <a:avLst/>
          </a:prstGeom>
          <a:solidFill>
            <a:srgbClr val="E6EEF3"/>
          </a:solidFill>
          <a:ln w="12700">
            <a:solidFill>
              <a:srgbClr val="E6EEF3"/>
            </a:solidFill>
            <a:prstDash val="solid"/>
          </a:ln>
        </p:spPr>
      </p:sp>
      <p:pic>
        <p:nvPicPr>
          <p:cNvPr id="12" name="Image 1" descr="FaExclamationTriangle">    </p:cNvPr>
          <p:cNvPicPr>
            <a:picLocks noChangeAspect="1"/>
          </p:cNvPicPr>
          <p:nvPr/>
        </p:nvPicPr>
        <p:blipFill>
          <a:blip r:embed="rId2"/>
          <a:stretch>
            <a:fillRect/>
          </a:stretch>
        </p:blipFill>
        <p:spPr>
          <a:xfrm>
            <a:off x="4754880" y="2020824"/>
            <a:ext cx="256032" cy="256032"/>
          </a:xfrm>
          <a:prstGeom prst="rect">
            <a:avLst/>
          </a:prstGeom>
        </p:spPr>
      </p:pic>
      <p:sp>
        <p:nvSpPr>
          <p:cNvPr id="13" name="Text 9"/>
          <p:cNvSpPr txBox="1"/>
          <p:nvPr/>
        </p:nvSpPr>
        <p:spPr>
          <a:xfrm>
            <a:off x="5248656"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Risiken</a:t>
            </a:r>
            <a:endParaRPr lang="en-US" sz="2000" dirty="0"/>
          </a:p>
        </p:txBody>
      </p:sp>
      <p:sp>
        <p:nvSpPr>
          <p:cNvPr id="14" name="Karte"/>
          <p:cNvSpPr/>
          <p:nvPr/>
        </p:nvSpPr>
        <p:spPr>
          <a:xfrm>
            <a:off x="8119872" y="1737360"/>
            <a:ext cx="3429000" cy="3611880"/>
          </a:xfrm>
          <a:prstGeom prst="roundRect">
            <a:avLst>
              <a:gd name="adj" fmla="val 3200"/>
            </a:avLst>
          </a:prstGeom>
          <a:solidFill>
            <a:srgbClr val="FFFFFF"/>
          </a:solidFill>
          <a:ln w="9525">
            <a:solidFill>
              <a:srgbClr val="D3DEE6"/>
            </a:solidFill>
            <a:prstDash val="solid"/>
          </a:ln>
        </p:spPr>
      </p:sp>
      <p:sp>
        <p:nvSpPr>
          <p:cNvPr id="15" name="Icon-Kreis"/>
          <p:cNvSpPr/>
          <p:nvPr/>
        </p:nvSpPr>
        <p:spPr>
          <a:xfrm>
            <a:off x="8394192" y="1920240"/>
            <a:ext cx="457200" cy="457200"/>
          </a:xfrm>
          <a:prstGeom prst="ellipse">
            <a:avLst/>
          </a:prstGeom>
          <a:solidFill>
            <a:srgbClr val="E6EEF3"/>
          </a:solidFill>
          <a:ln w="12700">
            <a:solidFill>
              <a:srgbClr val="E6EEF3"/>
            </a:solidFill>
            <a:prstDash val="solid"/>
          </a:ln>
        </p:spPr>
      </p:sp>
      <p:pic>
        <p:nvPicPr>
          <p:cNvPr id="16" name="Image 2" descr="FaLock">    </p:cNvPr>
          <p:cNvPicPr>
            <a:picLocks noChangeAspect="1"/>
          </p:cNvPicPr>
          <p:nvPr/>
        </p:nvPicPr>
        <p:blipFill>
          <a:blip r:embed="rId3"/>
          <a:stretch>
            <a:fillRect/>
          </a:stretch>
        </p:blipFill>
        <p:spPr>
          <a:xfrm>
            <a:off x="8494776" y="2020824"/>
            <a:ext cx="256032" cy="256032"/>
          </a:xfrm>
          <a:prstGeom prst="rect">
            <a:avLst/>
          </a:prstGeom>
        </p:spPr>
      </p:pic>
      <p:sp>
        <p:nvSpPr>
          <p:cNvPr id="17" name="Text 12"/>
          <p:cNvSpPr txBox="1"/>
          <p:nvPr/>
        </p:nvSpPr>
        <p:spPr>
          <a:xfrm>
            <a:off x="8988552"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Maßnahmen</a:t>
            </a:r>
            <a:endParaRPr lang="en-US" sz="2000" dirty="0"/>
          </a:p>
        </p:txBody>
      </p:sp>
      <p:sp>
        <p:nvSpPr>
          <p:cNvPr id="18" name="Text 13"/>
          <p:cNvSpPr txBox="1"/>
          <p:nvPr/>
        </p:nvSpPr>
        <p:spPr>
          <a:xfrm>
            <a:off x="914400" y="2606040"/>
            <a:ext cx="28803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Truck-ID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Zwei Temperaturen und Rohwerte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Lüfter- und Ventilwerte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Zeitstempel (UTC)</a:t>
            </a:r>
            <a:endParaRPr lang="en-US" sz="1400" dirty="0"/>
          </a:p>
        </p:txBody>
      </p:sp>
      <p:sp>
        <p:nvSpPr>
          <p:cNvPr id="19" name="Text 14"/>
          <p:cNvSpPr txBox="1"/>
          <p:nvPr/>
        </p:nvSpPr>
        <p:spPr>
          <a:xfrm>
            <a:off x="914400" y="4114800"/>
            <a:ext cx="2880360" cy="13716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Kein Personenbezug </a:t>
            </a:r>
            <a:pPr indent="0" marL="0">
              <a:buNone/>
            </a:pPr>
            <a:r>
              <a:rPr lang="en-US" sz="1400" dirty="0">
                <a:solidFill>
                  <a:schemeClr val="tx2"/>
                </a:solidFill>
                <a:latin typeface="Calibri" pitchFamily="34" charset="0"/>
                <a:ea typeface="Calibri" pitchFamily="34" charset="-122"/>
                <a:cs typeface="Calibri" pitchFamily="34" charset="-120"/>
              </a:rPr>
              <a:t>in den Messdaten: keine Namen, kein GPS, keine Fahrer-ID. Personenbezogen sind nur die Konto-Daten des Teams.</a:t>
            </a:r>
            <a:endParaRPr lang="en-US" sz="1400" dirty="0"/>
          </a:p>
        </p:txBody>
      </p:sp>
      <p:sp>
        <p:nvSpPr>
          <p:cNvPr id="20" name="Text 15"/>
          <p:cNvSpPr txBox="1"/>
          <p:nvPr/>
        </p:nvSpPr>
        <p:spPr>
          <a:xfrm>
            <a:off x="4654296" y="2606040"/>
            <a:ext cx="288036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Speicherort laut MathWorks weltweit, USA: Drittlandübermittlung (DSGVO Kap. V)</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Truck-ID plus Zeit ließe sich mit Fahrern verknüpfen</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Kanal öffentlich: Verlauf und Betriebszeiten für alle sichtbar</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Kein Löschschutz; Kontingent leer = keine neuen Daten</a:t>
            </a:r>
            <a:endParaRPr lang="en-US" sz="1400" dirty="0"/>
          </a:p>
        </p:txBody>
      </p:sp>
      <p:sp>
        <p:nvSpPr>
          <p:cNvPr id="21" name="Text 16"/>
          <p:cNvSpPr txBox="1"/>
          <p:nvPr/>
        </p:nvSpPr>
        <p:spPr>
          <a:xfrm>
            <a:off x="8394192" y="2606040"/>
            <a:ext cx="288036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Nur nötige Daten, kein GPS; Schreiben nur mit geheimem Key</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Kanal bewusst öffentlich: nur nicht-sensible Daten, Prüfer sehen den Verlauf</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HTTPS, getrennte Keys (erneuert), Original bleibt lokal, Aufbewahrung 12 Monate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MathWorks ist im Data Privacy Framework aktiv gelistet (geprüft 07.10.2026)</a:t>
            </a:r>
            <a:endParaRPr lang="en-US" sz="1400" dirty="0"/>
          </a:p>
        </p:txBody>
      </p:sp>
      <p:sp>
        <p:nvSpPr>
          <p:cNvPr id="22" name="Text 17"/>
          <p:cNvSpPr txBox="1"/>
          <p:nvPr/>
        </p:nvSpPr>
        <p:spPr>
          <a:xfrm>
            <a:off x="640080" y="5532120"/>
            <a:ext cx="10908792"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Einschätzung: </a:t>
            </a:r>
            <a:pPr indent="0" marL="0">
              <a:buNone/>
            </a:pPr>
            <a:r>
              <a:rPr lang="en-US" sz="1500" dirty="0">
                <a:solidFill>
                  <a:schemeClr val="tx1"/>
                </a:solidFill>
                <a:latin typeface="Calibri" pitchFamily="34" charset="0"/>
                <a:ea typeface="Calibri" pitchFamily="34" charset="-122"/>
                <a:cs typeface="Calibri" pitchFamily="34" charset="-120"/>
              </a:rPr>
              <a:t>Für den Prototyp vertretbar. Im Realbetrieb mit Fahrerdaten wären EU-Hosting, Auftragsverarbeitungsvertrag und ein Schlüssel pro Truck nötig.</a:t>
            </a:r>
            <a:endParaRPr lang="en-US" sz="15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KRITERIUM 6 · KONZEPT SICHERE DATENÜBERTRAGUNG</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10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8FA3B8"/>
                </a:solidFill>
                <a:latin typeface="Calibri" pitchFamily="34" charset="0"/>
                <a:ea typeface="Calibri" pitchFamily="34" charset="-122"/>
                <a:cs typeface="Calibri" pitchFamily="34" charset="-120"/>
              </a:rPr>
              <a:t>Kriterium 6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Sichere Datenübertragung</a:t>
            </a:r>
            <a:endParaRPr lang="en-US" sz="3600" dirty="0"/>
          </a:p>
        </p:txBody>
      </p:sp>
      <p:sp>
        <p:nvSpPr>
          <p:cNvPr id="6" name="Karte"/>
          <p:cNvSpPr/>
          <p:nvPr/>
        </p:nvSpPr>
        <p:spPr>
          <a:xfrm>
            <a:off x="640080" y="1783080"/>
            <a:ext cx="3520440" cy="1691640"/>
          </a:xfrm>
          <a:prstGeom prst="roundRect">
            <a:avLst>
              <a:gd name="adj" fmla="val 6486"/>
            </a:avLst>
          </a:prstGeom>
          <a:solidFill>
            <a:srgbClr val="16293F"/>
          </a:solidFill>
          <a:ln w="9525">
            <a:solidFill>
              <a:srgbClr val="27415E"/>
            </a:solidFill>
            <a:prstDash val="solid"/>
          </a:ln>
        </p:spPr>
      </p:sp>
      <p:pic>
        <p:nvPicPr>
          <p:cNvPr id="7" name="Image 0" descr="Verschlüsselt">    </p:cNvPr>
          <p:cNvPicPr>
            <a:picLocks noChangeAspect="1"/>
          </p:cNvPicPr>
          <p:nvPr/>
        </p:nvPicPr>
        <p:blipFill>
          <a:blip r:embed="rId1"/>
          <a:stretch>
            <a:fillRect/>
          </a:stretch>
        </p:blipFill>
        <p:spPr>
          <a:xfrm>
            <a:off x="896112" y="2011680"/>
            <a:ext cx="411480" cy="411480"/>
          </a:xfrm>
          <a:prstGeom prst="rect">
            <a:avLst/>
          </a:prstGeom>
        </p:spPr>
      </p:pic>
      <p:sp>
        <p:nvSpPr>
          <p:cNvPr id="8" name="Text 5"/>
          <p:cNvSpPr txBox="1"/>
          <p:nvPr/>
        </p:nvSpPr>
        <p:spPr>
          <a:xfrm>
            <a:off x="1463040"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Verschlüsselt</a:t>
            </a:r>
            <a:endParaRPr lang="en-US" sz="1800" dirty="0"/>
          </a:p>
        </p:txBody>
      </p:sp>
      <p:sp>
        <p:nvSpPr>
          <p:cNvPr id="9" name="Text 6"/>
          <p:cNvSpPr txBox="1"/>
          <p:nvPr/>
        </p:nvSpPr>
        <p:spPr>
          <a:xfrm>
            <a:off x="896112"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HTTPS/TLS zwischen Pi und Cloud, kein Klartext im Netz</a:t>
            </a:r>
            <a:endParaRPr lang="en-US" sz="1400" dirty="0"/>
          </a:p>
        </p:txBody>
      </p:sp>
      <p:sp>
        <p:nvSpPr>
          <p:cNvPr id="10" name="Karte"/>
          <p:cNvSpPr/>
          <p:nvPr/>
        </p:nvSpPr>
        <p:spPr>
          <a:xfrm>
            <a:off x="4334256" y="1783080"/>
            <a:ext cx="3520440" cy="1691640"/>
          </a:xfrm>
          <a:prstGeom prst="roundRect">
            <a:avLst>
              <a:gd name="adj" fmla="val 6486"/>
            </a:avLst>
          </a:prstGeom>
          <a:solidFill>
            <a:srgbClr val="16293F"/>
          </a:solidFill>
          <a:ln w="9525">
            <a:solidFill>
              <a:srgbClr val="27415E"/>
            </a:solidFill>
            <a:prstDash val="solid"/>
          </a:ln>
        </p:spPr>
      </p:sp>
      <p:pic>
        <p:nvPicPr>
          <p:cNvPr id="11" name="Image 1" descr="Authentifiziert">    </p:cNvPr>
          <p:cNvPicPr>
            <a:picLocks noChangeAspect="1"/>
          </p:cNvPicPr>
          <p:nvPr/>
        </p:nvPicPr>
        <p:blipFill>
          <a:blip r:embed="rId2"/>
          <a:stretch>
            <a:fillRect/>
          </a:stretch>
        </p:blipFill>
        <p:spPr>
          <a:xfrm>
            <a:off x="4590288" y="2011680"/>
            <a:ext cx="411480" cy="411480"/>
          </a:xfrm>
          <a:prstGeom prst="rect">
            <a:avLst/>
          </a:prstGeom>
        </p:spPr>
      </p:pic>
      <p:sp>
        <p:nvSpPr>
          <p:cNvPr id="12" name="Text 8"/>
          <p:cNvSpPr txBox="1"/>
          <p:nvPr/>
        </p:nvSpPr>
        <p:spPr>
          <a:xfrm>
            <a:off x="5157216"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Authentifiziert</a:t>
            </a:r>
            <a:endParaRPr lang="en-US" sz="1800" dirty="0"/>
          </a:p>
        </p:txBody>
      </p:sp>
      <p:sp>
        <p:nvSpPr>
          <p:cNvPr id="13" name="Text 9"/>
          <p:cNvSpPr txBox="1"/>
          <p:nvPr/>
        </p:nvSpPr>
        <p:spPr>
          <a:xfrm>
            <a:off x="4590288"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Write API Key nur auf dem Pi, Keys bereits erneuert</a:t>
            </a:r>
            <a:endParaRPr lang="en-US" sz="1400" dirty="0"/>
          </a:p>
        </p:txBody>
      </p:sp>
      <p:sp>
        <p:nvSpPr>
          <p:cNvPr id="14" name="Karte"/>
          <p:cNvSpPr/>
          <p:nvPr/>
        </p:nvSpPr>
        <p:spPr>
          <a:xfrm>
            <a:off x="8028432" y="1783080"/>
            <a:ext cx="3520440" cy="1691640"/>
          </a:xfrm>
          <a:prstGeom prst="roundRect">
            <a:avLst>
              <a:gd name="adj" fmla="val 6486"/>
            </a:avLst>
          </a:prstGeom>
          <a:solidFill>
            <a:srgbClr val="16293F"/>
          </a:solidFill>
          <a:ln w="9525">
            <a:solidFill>
              <a:srgbClr val="27415E"/>
            </a:solidFill>
            <a:prstDash val="solid"/>
          </a:ln>
        </p:spPr>
      </p:sp>
      <p:pic>
        <p:nvPicPr>
          <p:cNvPr id="15" name="Image 2" descr="Geheimnisse geschützt">    </p:cNvPr>
          <p:cNvPicPr>
            <a:picLocks noChangeAspect="1"/>
          </p:cNvPicPr>
          <p:nvPr/>
        </p:nvPicPr>
        <p:blipFill>
          <a:blip r:embed="rId3"/>
          <a:stretch>
            <a:fillRect/>
          </a:stretch>
        </p:blipFill>
        <p:spPr>
          <a:xfrm>
            <a:off x="8284464" y="2011680"/>
            <a:ext cx="411480" cy="411480"/>
          </a:xfrm>
          <a:prstGeom prst="rect">
            <a:avLst/>
          </a:prstGeom>
        </p:spPr>
      </p:pic>
      <p:sp>
        <p:nvSpPr>
          <p:cNvPr id="16" name="Text 11"/>
          <p:cNvSpPr txBox="1"/>
          <p:nvPr/>
        </p:nvSpPr>
        <p:spPr>
          <a:xfrm>
            <a:off x="8851392"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Geheimnisse geschützt</a:t>
            </a:r>
            <a:endParaRPr lang="en-US" sz="1800" dirty="0"/>
          </a:p>
        </p:txBody>
      </p:sp>
      <p:sp>
        <p:nvSpPr>
          <p:cNvPr id="17" name="Text 12"/>
          <p:cNvSpPr txBox="1"/>
          <p:nvPr/>
        </p:nvSpPr>
        <p:spPr>
          <a:xfrm>
            <a:off x="8284464"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Keys in .env (chmod 600), nie im Git-Repository</a:t>
            </a:r>
            <a:endParaRPr lang="en-US" sz="1400" dirty="0"/>
          </a:p>
        </p:txBody>
      </p:sp>
      <p:sp>
        <p:nvSpPr>
          <p:cNvPr id="18" name="Karte"/>
          <p:cNvSpPr/>
          <p:nvPr/>
        </p:nvSpPr>
        <p:spPr>
          <a:xfrm>
            <a:off x="640080" y="3657600"/>
            <a:ext cx="3520440" cy="1691640"/>
          </a:xfrm>
          <a:prstGeom prst="roundRect">
            <a:avLst>
              <a:gd name="adj" fmla="val 6486"/>
            </a:avLst>
          </a:prstGeom>
          <a:solidFill>
            <a:srgbClr val="16293F"/>
          </a:solidFill>
          <a:ln w="9525">
            <a:solidFill>
              <a:srgbClr val="27415E"/>
            </a:solidFill>
            <a:prstDash val="solid"/>
          </a:ln>
        </p:spPr>
      </p:sp>
      <p:pic>
        <p:nvPicPr>
          <p:cNvPr id="19" name="Image 3" descr="Vollständig">    </p:cNvPr>
          <p:cNvPicPr>
            <a:picLocks noChangeAspect="1"/>
          </p:cNvPicPr>
          <p:nvPr/>
        </p:nvPicPr>
        <p:blipFill>
          <a:blip r:embed="rId4"/>
          <a:stretch>
            <a:fillRect/>
          </a:stretch>
        </p:blipFill>
        <p:spPr>
          <a:xfrm>
            <a:off x="896112" y="3886200"/>
            <a:ext cx="411480" cy="411480"/>
          </a:xfrm>
          <a:prstGeom prst="rect">
            <a:avLst/>
          </a:prstGeom>
        </p:spPr>
      </p:pic>
      <p:sp>
        <p:nvSpPr>
          <p:cNvPr id="20" name="Text 14"/>
          <p:cNvSpPr txBox="1"/>
          <p:nvPr/>
        </p:nvSpPr>
        <p:spPr>
          <a:xfrm>
            <a:off x="1463040"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Vollständig</a:t>
            </a:r>
            <a:endParaRPr lang="en-US" sz="1800" dirty="0"/>
          </a:p>
        </p:txBody>
      </p:sp>
      <p:sp>
        <p:nvSpPr>
          <p:cNvPr id="21" name="Text 15"/>
          <p:cNvSpPr txBox="1"/>
          <p:nvPr/>
        </p:nvSpPr>
        <p:spPr>
          <a:xfrm>
            <a:off x="896112"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Lokale ID je Messung, Cursor erst nach erfolgreichem Upload</a:t>
            </a:r>
            <a:endParaRPr lang="en-US" sz="1400" dirty="0"/>
          </a:p>
        </p:txBody>
      </p:sp>
      <p:sp>
        <p:nvSpPr>
          <p:cNvPr id="22" name="Karte"/>
          <p:cNvSpPr/>
          <p:nvPr/>
        </p:nvSpPr>
        <p:spPr>
          <a:xfrm>
            <a:off x="4334256" y="3657600"/>
            <a:ext cx="3520440" cy="1691640"/>
          </a:xfrm>
          <a:prstGeom prst="roundRect">
            <a:avLst>
              <a:gd name="adj" fmla="val 6486"/>
            </a:avLst>
          </a:prstGeom>
          <a:solidFill>
            <a:srgbClr val="16293F"/>
          </a:solidFill>
          <a:ln w="9525">
            <a:solidFill>
              <a:srgbClr val="27415E"/>
            </a:solidFill>
            <a:prstDash val="solid"/>
          </a:ln>
        </p:spPr>
      </p:sp>
      <p:pic>
        <p:nvPicPr>
          <p:cNvPr id="23" name="Image 4" descr="Nachweisbar">    </p:cNvPr>
          <p:cNvPicPr>
            <a:picLocks noChangeAspect="1"/>
          </p:cNvPicPr>
          <p:nvPr/>
        </p:nvPicPr>
        <p:blipFill>
          <a:blip r:embed="rId5"/>
          <a:stretch>
            <a:fillRect/>
          </a:stretch>
        </p:blipFill>
        <p:spPr>
          <a:xfrm>
            <a:off x="4590288" y="3886200"/>
            <a:ext cx="411480" cy="411480"/>
          </a:xfrm>
          <a:prstGeom prst="rect">
            <a:avLst/>
          </a:prstGeom>
        </p:spPr>
      </p:pic>
      <p:sp>
        <p:nvSpPr>
          <p:cNvPr id="24" name="Text 17"/>
          <p:cNvSpPr txBox="1"/>
          <p:nvPr/>
        </p:nvSpPr>
        <p:spPr>
          <a:xfrm>
            <a:off x="5157216"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Nachweisbar</a:t>
            </a:r>
            <a:endParaRPr lang="en-US" sz="1800" dirty="0"/>
          </a:p>
        </p:txBody>
      </p:sp>
      <p:sp>
        <p:nvSpPr>
          <p:cNvPr id="25" name="Text 18"/>
          <p:cNvSpPr txBox="1"/>
          <p:nvPr/>
        </p:nvSpPr>
        <p:spPr>
          <a:xfrm>
            <a:off x="4590288"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UTC-Zeitstempel je Messung, Pi-Zeit per NTP synchronisiert</a:t>
            </a:r>
            <a:endParaRPr lang="en-US" sz="1400" dirty="0"/>
          </a:p>
        </p:txBody>
      </p:sp>
      <p:sp>
        <p:nvSpPr>
          <p:cNvPr id="26" name="Karte"/>
          <p:cNvSpPr/>
          <p:nvPr/>
        </p:nvSpPr>
        <p:spPr>
          <a:xfrm>
            <a:off x="8028432" y="3657600"/>
            <a:ext cx="3520440" cy="1691640"/>
          </a:xfrm>
          <a:prstGeom prst="roundRect">
            <a:avLst>
              <a:gd name="adj" fmla="val 6486"/>
            </a:avLst>
          </a:prstGeom>
          <a:solidFill>
            <a:srgbClr val="16293F"/>
          </a:solidFill>
          <a:ln w="9525">
            <a:solidFill>
              <a:srgbClr val="27415E"/>
            </a:solidFill>
            <a:prstDash val="solid"/>
          </a:ln>
        </p:spPr>
      </p:sp>
      <p:pic>
        <p:nvPicPr>
          <p:cNvPr id="27" name="Image 5" descr="Minimale Rechte">    </p:cNvPr>
          <p:cNvPicPr>
            <a:picLocks noChangeAspect="1"/>
          </p:cNvPicPr>
          <p:nvPr/>
        </p:nvPicPr>
        <p:blipFill>
          <a:blip r:embed="rId6"/>
          <a:stretch>
            <a:fillRect/>
          </a:stretch>
        </p:blipFill>
        <p:spPr>
          <a:xfrm>
            <a:off x="8284464" y="3886200"/>
            <a:ext cx="411480" cy="411480"/>
          </a:xfrm>
          <a:prstGeom prst="rect">
            <a:avLst/>
          </a:prstGeom>
        </p:spPr>
      </p:pic>
      <p:sp>
        <p:nvSpPr>
          <p:cNvPr id="28" name="Text 20"/>
          <p:cNvSpPr txBox="1"/>
          <p:nvPr/>
        </p:nvSpPr>
        <p:spPr>
          <a:xfrm>
            <a:off x="8851392"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Minimale Rechte</a:t>
            </a:r>
            <a:endParaRPr lang="en-US" sz="1800" dirty="0"/>
          </a:p>
        </p:txBody>
      </p:sp>
      <p:sp>
        <p:nvSpPr>
          <p:cNvPr id="29" name="Text 21"/>
          <p:cNvSpPr txBox="1"/>
          <p:nvPr/>
        </p:nvSpPr>
        <p:spPr>
          <a:xfrm>
            <a:off x="8284464"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Datenbank nur lesend, Dienst ohne Zusatzrechte</a:t>
            </a:r>
            <a:endParaRPr lang="en-US" sz="1400" dirty="0"/>
          </a:p>
        </p:txBody>
      </p:sp>
      <p:sp>
        <p:nvSpPr>
          <p:cNvPr id="30" name="Text 22"/>
          <p:cNvSpPr txBox="1"/>
          <p:nvPr/>
        </p:nvSpPr>
        <p:spPr>
          <a:xfrm>
            <a:off x="640080" y="5623560"/>
            <a:ext cx="10908792" cy="457200"/>
          </a:xfrm>
          <a:prstGeom prst="rect">
            <a:avLst/>
          </a:prstGeom>
          <a:noFill/>
          <a:ln/>
        </p:spPr>
        <p:txBody>
          <a:bodyPr wrap="square" lIns="0" tIns="0" rIns="0" bIns="0" rtlCol="0" anchor="t"/>
          <a:lstStyle/>
          <a:p>
            <a:pPr indent="0" marL="0">
              <a:buNone/>
            </a:pPr>
            <a:r>
              <a:rPr lang="en-US" sz="1600" b="1" dirty="0">
                <a:solidFill>
                  <a:srgbClr val="F59E42"/>
                </a:solidFill>
                <a:latin typeface="Calibri" pitchFamily="34" charset="0"/>
                <a:ea typeface="Calibri" pitchFamily="34" charset="-122"/>
                <a:cs typeface="Calibri" pitchFamily="34" charset="-120"/>
              </a:rPr>
              <a:t>Grenzen: </a:t>
            </a:r>
            <a:pPr indent="0" marL="0">
              <a:buNone/>
            </a:pPr>
            <a:r>
              <a:rPr lang="en-US" sz="1600" dirty="0">
                <a:solidFill>
                  <a:srgbClr val="F59E42"/>
                </a:solidFill>
                <a:latin typeface="Calibri" pitchFamily="34" charset="0"/>
                <a:ea typeface="Calibri" pitchFamily="34" charset="-122"/>
                <a:cs typeface="Calibri" pitchFamily="34" charset="-120"/>
              </a:rPr>
              <a:t>Pi-Terminal (ttyd) ohne Anmeldung · Uhr ohne Batterie · Free-Tarif ohne Löschschutz</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7 · MESSDATEN PROTOKOLLIERT UND VISUALISIERT</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7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Messdaten in der Cloud</a:t>
            </a:r>
            <a:endParaRPr lang="en-US" sz="3600" dirty="0"/>
          </a:p>
        </p:txBody>
      </p:sp>
      <p:sp>
        <p:nvSpPr>
          <p:cNvPr id="6" name="Screenshot-Platzhalter"/>
          <p:cNvSpPr/>
          <p:nvPr/>
        </p:nvSpPr>
        <p:spPr>
          <a:xfrm>
            <a:off x="640080" y="1783080"/>
            <a:ext cx="6766560" cy="4206240"/>
          </a:xfrm>
          <a:prstGeom prst="roundRect">
            <a:avLst>
              <a:gd name="adj" fmla="val 2609"/>
            </a:avLst>
          </a:prstGeom>
          <a:solidFill>
            <a:schemeClr val="bg1"/>
          </a:solidFill>
          <a:ln w="25400">
            <a:solidFill>
              <a:schemeClr val="accent1"/>
            </a:solidFill>
            <a:prstDash val="dash"/>
          </a:ln>
        </p:spPr>
      </p:sp>
      <p:pic>
        <p:nvPicPr>
          <p:cNvPr id="7" name="Image 0" descr="Diagramm">    </p:cNvPr>
          <p:cNvPicPr>
            <a:picLocks noChangeAspect="1"/>
          </p:cNvPicPr>
          <p:nvPr/>
        </p:nvPicPr>
        <p:blipFill>
          <a:blip r:embed="rId1"/>
          <a:stretch>
            <a:fillRect/>
          </a:stretch>
        </p:blipFill>
        <p:spPr>
          <a:xfrm>
            <a:off x="3657600" y="2743200"/>
            <a:ext cx="914400" cy="914400"/>
          </a:xfrm>
          <a:prstGeom prst="rect">
            <a:avLst/>
          </a:prstGeom>
        </p:spPr>
      </p:pic>
      <p:sp>
        <p:nvSpPr>
          <p:cNvPr id="8" name="Text 5"/>
          <p:cNvSpPr txBox="1"/>
          <p:nvPr/>
        </p:nvSpPr>
        <p:spPr>
          <a:xfrm>
            <a:off x="640080" y="3886200"/>
            <a:ext cx="6766560"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alibri" pitchFamily="34" charset="0"/>
                <a:ea typeface="Calibri" pitchFamily="34" charset="-122"/>
                <a:cs typeface="Calibri" pitchFamily="34" charset="-120"/>
              </a:rPr>
              <a:t>[Screenshot: ThingSpeak-Kanal mit Diagrammen]</a:t>
            </a:r>
            <a:endParaRPr lang="en-US" sz="2000" dirty="0"/>
          </a:p>
        </p:txBody>
      </p:sp>
      <p:sp>
        <p:nvSpPr>
          <p:cNvPr id="9" name="Text 6"/>
          <p:cNvSpPr txBox="1"/>
          <p:nvPr/>
        </p:nvSpPr>
        <p:spPr>
          <a:xfrm>
            <a:off x="640080" y="4389120"/>
            <a:ext cx="6766560" cy="365760"/>
          </a:xfrm>
          <a:prstGeom prst="rect">
            <a:avLst/>
          </a:prstGeom>
          <a:noFill/>
          <a:ln/>
        </p:spPr>
        <p:txBody>
          <a:bodyPr wrap="square" lIns="0" tIns="0" rIns="0" bIns="0" rtlCol="0" anchor="t"/>
          <a:lstStyle/>
          <a:p>
            <a:pPr algn="ctr" indent="0" marL="0">
              <a:buNone/>
            </a:pPr>
            <a:r>
              <a:rPr lang="en-US" sz="1500" dirty="0">
                <a:solidFill>
                  <a:schemeClr val="tx2"/>
                </a:solidFill>
                <a:latin typeface="Calibri" pitchFamily="34" charset="0"/>
                <a:ea typeface="Calibri" pitchFamily="34" charset="-122"/>
                <a:cs typeface="Calibri" pitchFamily="34" charset="-120"/>
              </a:rPr>
              <a:t>Temperaturverlauf beider Sensoren, Lüfter und Ventil</a:t>
            </a:r>
            <a:endParaRPr lang="en-US" sz="1500" dirty="0"/>
          </a:p>
        </p:txBody>
      </p:sp>
      <p:sp>
        <p:nvSpPr>
          <p:cNvPr id="10" name="Icon-Kreis"/>
          <p:cNvSpPr/>
          <p:nvPr/>
        </p:nvSpPr>
        <p:spPr>
          <a:xfrm>
            <a:off x="7772400" y="1828800"/>
            <a:ext cx="548640" cy="548640"/>
          </a:xfrm>
          <a:prstGeom prst="ellipse">
            <a:avLst/>
          </a:prstGeom>
          <a:solidFill>
            <a:srgbClr val="F4F8FA"/>
          </a:solidFill>
          <a:ln w="12700">
            <a:solidFill>
              <a:srgbClr val="F4F8FA"/>
            </a:solidFill>
            <a:prstDash val="solid"/>
          </a:ln>
        </p:spPr>
      </p:sp>
      <p:pic>
        <p:nvPicPr>
          <p:cNvPr id="11" name="Image 1" descr="FaClock">    </p:cNvPr>
          <p:cNvPicPr>
            <a:picLocks noChangeAspect="1"/>
          </p:cNvPicPr>
          <p:nvPr/>
        </p:nvPicPr>
        <p:blipFill>
          <a:blip r:embed="rId2"/>
          <a:stretch>
            <a:fillRect/>
          </a:stretch>
        </p:blipFill>
        <p:spPr>
          <a:xfrm>
            <a:off x="7893101" y="1949501"/>
            <a:ext cx="307238" cy="307238"/>
          </a:xfrm>
          <a:prstGeom prst="rect">
            <a:avLst/>
          </a:prstGeom>
        </p:spPr>
      </p:pic>
      <p:sp>
        <p:nvSpPr>
          <p:cNvPr id="12" name="Text 8"/>
          <p:cNvSpPr txBox="1"/>
          <p:nvPr/>
        </p:nvSpPr>
        <p:spPr>
          <a:xfrm>
            <a:off x="8503920" y="1810512"/>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Messung alle 5 s, Upload gebündelt im 15-s-Takt</a:t>
            </a:r>
            <a:endParaRPr lang="en-US" sz="1600" dirty="0"/>
          </a:p>
        </p:txBody>
      </p:sp>
      <p:sp>
        <p:nvSpPr>
          <p:cNvPr id="13" name="Icon-Kreis"/>
          <p:cNvSpPr/>
          <p:nvPr/>
        </p:nvSpPr>
        <p:spPr>
          <a:xfrm>
            <a:off x="7772400" y="2907792"/>
            <a:ext cx="548640" cy="548640"/>
          </a:xfrm>
          <a:prstGeom prst="ellipse">
            <a:avLst/>
          </a:prstGeom>
          <a:solidFill>
            <a:srgbClr val="F4F8FA"/>
          </a:solidFill>
          <a:ln w="12700">
            <a:solidFill>
              <a:srgbClr val="F4F8FA"/>
            </a:solidFill>
            <a:prstDash val="solid"/>
          </a:ln>
        </p:spPr>
      </p:sp>
      <p:pic>
        <p:nvPicPr>
          <p:cNvPr id="14" name="Image 2" descr="FaWaveSquare">    </p:cNvPr>
          <p:cNvPicPr>
            <a:picLocks noChangeAspect="1"/>
          </p:cNvPicPr>
          <p:nvPr/>
        </p:nvPicPr>
        <p:blipFill>
          <a:blip r:embed="rId3"/>
          <a:stretch>
            <a:fillRect/>
          </a:stretch>
        </p:blipFill>
        <p:spPr>
          <a:xfrm>
            <a:off x="7893101" y="3028493"/>
            <a:ext cx="307238" cy="307238"/>
          </a:xfrm>
          <a:prstGeom prst="rect">
            <a:avLst/>
          </a:prstGeom>
        </p:spPr>
      </p:pic>
      <p:sp>
        <p:nvSpPr>
          <p:cNvPr id="15" name="Text 10"/>
          <p:cNvSpPr txBox="1"/>
          <p:nvPr/>
        </p:nvSpPr>
        <p:spPr>
          <a:xfrm>
            <a:off x="8503920" y="2889504"/>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8 Felder: Temperaturen, Mittelwert, Lüfter, Ventil, Rohwerte</a:t>
            </a:r>
            <a:endParaRPr lang="en-US" sz="1600" dirty="0"/>
          </a:p>
        </p:txBody>
      </p:sp>
      <p:sp>
        <p:nvSpPr>
          <p:cNvPr id="16" name="Icon-Kreis"/>
          <p:cNvSpPr/>
          <p:nvPr/>
        </p:nvSpPr>
        <p:spPr>
          <a:xfrm>
            <a:off x="7772400" y="3986784"/>
            <a:ext cx="548640" cy="548640"/>
          </a:xfrm>
          <a:prstGeom prst="ellipse">
            <a:avLst/>
          </a:prstGeom>
          <a:solidFill>
            <a:srgbClr val="F4F8FA"/>
          </a:solidFill>
          <a:ln w="12700">
            <a:solidFill>
              <a:srgbClr val="F4F8FA"/>
            </a:solidFill>
            <a:prstDash val="solid"/>
          </a:ln>
        </p:spPr>
      </p:sp>
      <p:pic>
        <p:nvPicPr>
          <p:cNvPr id="17" name="Image 3" descr="FaBook">    </p:cNvPr>
          <p:cNvPicPr>
            <a:picLocks noChangeAspect="1"/>
          </p:cNvPicPr>
          <p:nvPr/>
        </p:nvPicPr>
        <p:blipFill>
          <a:blip r:embed="rId4"/>
          <a:stretch>
            <a:fillRect/>
          </a:stretch>
        </p:blipFill>
        <p:spPr>
          <a:xfrm>
            <a:off x="7893101" y="4107485"/>
            <a:ext cx="307238" cy="307238"/>
          </a:xfrm>
          <a:prstGeom prst="rect">
            <a:avLst/>
          </a:prstGeom>
        </p:spPr>
      </p:pic>
      <p:sp>
        <p:nvSpPr>
          <p:cNvPr id="18" name="Text 12"/>
          <p:cNvSpPr txBox="1"/>
          <p:nvPr/>
        </p:nvSpPr>
        <p:spPr>
          <a:xfrm>
            <a:off x="8503920" y="3968496"/>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CSV-Export als Nachweis für Kontrollen</a:t>
            </a:r>
            <a:endParaRPr lang="en-US" sz="1600" dirty="0"/>
          </a:p>
        </p:txBody>
      </p:sp>
      <p:sp>
        <p:nvSpPr>
          <p:cNvPr id="19" name="Icon-Kreis"/>
          <p:cNvSpPr/>
          <p:nvPr/>
        </p:nvSpPr>
        <p:spPr>
          <a:xfrm>
            <a:off x="7772400" y="5065776"/>
            <a:ext cx="548640" cy="548640"/>
          </a:xfrm>
          <a:prstGeom prst="ellipse">
            <a:avLst/>
          </a:prstGeom>
          <a:solidFill>
            <a:srgbClr val="F4F8FA"/>
          </a:solidFill>
          <a:ln w="12700">
            <a:solidFill>
              <a:srgbClr val="F4F8FA"/>
            </a:solidFill>
            <a:prstDash val="solid"/>
          </a:ln>
        </p:spPr>
      </p:sp>
      <p:pic>
        <p:nvPicPr>
          <p:cNvPr id="20" name="Image 4" descr="FaGlobe">    </p:cNvPr>
          <p:cNvPicPr>
            <a:picLocks noChangeAspect="1"/>
          </p:cNvPicPr>
          <p:nvPr/>
        </p:nvPicPr>
        <p:blipFill>
          <a:blip r:embed="rId5"/>
          <a:stretch>
            <a:fillRect/>
          </a:stretch>
        </p:blipFill>
        <p:spPr>
          <a:xfrm>
            <a:off x="7893101" y="5186477"/>
            <a:ext cx="307238" cy="307238"/>
          </a:xfrm>
          <a:prstGeom prst="rect">
            <a:avLst/>
          </a:prstGeom>
        </p:spPr>
      </p:pic>
      <p:sp>
        <p:nvSpPr>
          <p:cNvPr id="21" name="Text 14"/>
          <p:cNvSpPr txBox="1"/>
          <p:nvPr/>
        </p:nvSpPr>
        <p:spPr>
          <a:xfrm>
            <a:off x="8503920" y="5047488"/>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Abrufbar im Browser, von überall</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8 · ZUSÄTZLICHE FUNKTIONEN</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8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Mehr als nur speichern</a:t>
            </a:r>
            <a:endParaRPr lang="en-US" sz="3600" dirty="0"/>
          </a:p>
        </p:txBody>
      </p:sp>
      <p:sp>
        <p:nvSpPr>
          <p:cNvPr id="6" name="Karte"/>
          <p:cNvSpPr/>
          <p:nvPr/>
        </p:nvSpPr>
        <p:spPr>
          <a:xfrm>
            <a:off x="640080" y="1783080"/>
            <a:ext cx="5303520" cy="2011680"/>
          </a:xfrm>
          <a:prstGeom prst="roundRect">
            <a:avLst>
              <a:gd name="adj" fmla="val 5455"/>
            </a:avLst>
          </a:prstGeom>
          <a:solidFill>
            <a:srgbClr val="FFFFFF"/>
          </a:solidFill>
          <a:ln w="9525">
            <a:solidFill>
              <a:srgbClr val="D3DEE6"/>
            </a:solidFill>
            <a:prstDash val="solid"/>
          </a:ln>
        </p:spPr>
      </p:sp>
      <p:sp>
        <p:nvSpPr>
          <p:cNvPr id="7" name="Status"/>
          <p:cNvSpPr/>
          <p:nvPr/>
        </p:nvSpPr>
        <p:spPr>
          <a:xfrm>
            <a:off x="914400" y="201168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8" name="Text 6"/>
          <p:cNvSpPr txBox="1"/>
          <p:nvPr/>
        </p:nvSpPr>
        <p:spPr>
          <a:xfrm>
            <a:off x="914400" y="246888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Store and Forward</a:t>
            </a:r>
            <a:endParaRPr lang="en-US" sz="2200" dirty="0"/>
          </a:p>
        </p:txBody>
      </p:sp>
      <p:sp>
        <p:nvSpPr>
          <p:cNvPr id="9" name="Text 7"/>
          <p:cNvSpPr txBox="1"/>
          <p:nvPr/>
        </p:nvSpPr>
        <p:spPr>
          <a:xfrm>
            <a:off x="914400" y="297180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Funkloch im Truck: fehlende Messungen werden mit ihrer Originalzeit nachgeliefert.</a:t>
            </a:r>
            <a:endParaRPr lang="en-US" sz="1500" dirty="0"/>
          </a:p>
        </p:txBody>
      </p:sp>
      <p:sp>
        <p:nvSpPr>
          <p:cNvPr id="10" name="Karte"/>
          <p:cNvSpPr/>
          <p:nvPr/>
        </p:nvSpPr>
        <p:spPr>
          <a:xfrm>
            <a:off x="6245352" y="1783080"/>
            <a:ext cx="5303520" cy="2011680"/>
          </a:xfrm>
          <a:prstGeom prst="roundRect">
            <a:avLst>
              <a:gd name="adj" fmla="val 5455"/>
            </a:avLst>
          </a:prstGeom>
          <a:solidFill>
            <a:srgbClr val="FFFFFF"/>
          </a:solidFill>
          <a:ln w="9525">
            <a:solidFill>
              <a:srgbClr val="D3DEE6"/>
            </a:solidFill>
            <a:prstDash val="solid"/>
          </a:ln>
        </p:spPr>
      </p:sp>
      <p:sp>
        <p:nvSpPr>
          <p:cNvPr id="11" name="Status"/>
          <p:cNvSpPr/>
          <p:nvPr/>
        </p:nvSpPr>
        <p:spPr>
          <a:xfrm>
            <a:off x="6519672" y="201168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12" name="Text 10"/>
          <p:cNvSpPr txBox="1"/>
          <p:nvPr/>
        </p:nvSpPr>
        <p:spPr>
          <a:xfrm>
            <a:off x="6519672" y="246888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Health-Flags am Edge</a:t>
            </a:r>
            <a:endParaRPr lang="en-US" sz="2200" dirty="0"/>
          </a:p>
        </p:txBody>
      </p:sp>
      <p:sp>
        <p:nvSpPr>
          <p:cNvPr id="13" name="Text 11"/>
          <p:cNvSpPr txBox="1"/>
          <p:nvPr/>
        </p:nvSpPr>
        <p:spPr>
          <a:xfrm>
            <a:off x="6519672" y="297180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Warnung bei zu hoher Temperatur, abweichenden Sensoren oder eingefrorenem Sensor.</a:t>
            </a:r>
            <a:endParaRPr lang="en-US" sz="1500" dirty="0"/>
          </a:p>
        </p:txBody>
      </p:sp>
      <p:sp>
        <p:nvSpPr>
          <p:cNvPr id="14" name="Karte"/>
          <p:cNvSpPr/>
          <p:nvPr/>
        </p:nvSpPr>
        <p:spPr>
          <a:xfrm>
            <a:off x="640080" y="3977640"/>
            <a:ext cx="5303520" cy="2011680"/>
          </a:xfrm>
          <a:prstGeom prst="roundRect">
            <a:avLst>
              <a:gd name="adj" fmla="val 5455"/>
            </a:avLst>
          </a:prstGeom>
          <a:solidFill>
            <a:srgbClr val="FFFFFF"/>
          </a:solidFill>
          <a:ln w="9525">
            <a:solidFill>
              <a:srgbClr val="D3DEE6"/>
            </a:solidFill>
            <a:prstDash val="solid"/>
          </a:ln>
        </p:spPr>
      </p:sp>
      <p:sp>
        <p:nvSpPr>
          <p:cNvPr id="15" name="Status"/>
          <p:cNvSpPr/>
          <p:nvPr/>
        </p:nvSpPr>
        <p:spPr>
          <a:xfrm>
            <a:off x="914400" y="420624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16" name="Text 14"/>
          <p:cNvSpPr txBox="1"/>
          <p:nvPr/>
        </p:nvSpPr>
        <p:spPr>
          <a:xfrm>
            <a:off x="914400" y="466344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Alarm per E-Mail und Discord</a:t>
            </a:r>
            <a:endParaRPr lang="en-US" sz="2200" dirty="0"/>
          </a:p>
        </p:txBody>
      </p:sp>
      <p:sp>
        <p:nvSpPr>
          <p:cNvPr id="17" name="Text 15"/>
          <p:cNvSpPr txBox="1"/>
          <p:nvPr/>
        </p:nvSpPr>
        <p:spPr>
          <a:xfrm>
            <a:off x="914400" y="516636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Über 30 °C löst ThingSpeak React eine Analyse aus: Discord-Nachricht und E-Mail.</a:t>
            </a:r>
            <a:endParaRPr lang="en-US" sz="1500" dirty="0"/>
          </a:p>
        </p:txBody>
      </p:sp>
      <p:sp>
        <p:nvSpPr>
          <p:cNvPr id="18" name="Karte"/>
          <p:cNvSpPr/>
          <p:nvPr/>
        </p:nvSpPr>
        <p:spPr>
          <a:xfrm>
            <a:off x="6245352" y="3977640"/>
            <a:ext cx="5303520" cy="2011680"/>
          </a:xfrm>
          <a:prstGeom prst="roundRect">
            <a:avLst>
              <a:gd name="adj" fmla="val 5455"/>
            </a:avLst>
          </a:prstGeom>
          <a:solidFill>
            <a:srgbClr val="FFFFFF"/>
          </a:solidFill>
          <a:ln w="9525">
            <a:solidFill>
              <a:srgbClr val="D3DEE6"/>
            </a:solidFill>
            <a:prstDash val="solid"/>
          </a:ln>
        </p:spPr>
      </p:sp>
      <p:sp>
        <p:nvSpPr>
          <p:cNvPr id="19" name="Status"/>
          <p:cNvSpPr/>
          <p:nvPr/>
        </p:nvSpPr>
        <p:spPr>
          <a:xfrm>
            <a:off x="6519672" y="4206240"/>
            <a:ext cx="1188720" cy="310896"/>
          </a:xfrm>
          <a:prstGeom prst="roundRect">
            <a:avLst>
              <a:gd name="adj" fmla="val 50000"/>
            </a:avLst>
          </a:prstGeom>
          <a:solidFill>
            <a:srgbClr val="FDE9CF"/>
          </a:solidFill>
          <a:ln/>
        </p:spPr>
        <p:txBody>
          <a:bodyPr wrap="square" lIns="0" tIns="0" rIns="0" bIns="0" rtlCol="0" anchor="ctr"/>
          <a:lstStyle/>
          <a:p>
            <a:pPr algn="ctr" indent="0" marL="0">
              <a:buNone/>
            </a:pPr>
            <a:r>
              <a:rPr lang="en-US" sz="1200" b="1" dirty="0">
                <a:solidFill>
                  <a:srgbClr val="8A4B05"/>
                </a:solidFill>
                <a:latin typeface="Calibri" pitchFamily="34" charset="0"/>
                <a:ea typeface="Calibri" pitchFamily="34" charset="-122"/>
                <a:cs typeface="Calibri" pitchFamily="34" charset="-120"/>
              </a:rPr>
              <a:t>IN ARBEIT</a:t>
            </a:r>
            <a:endParaRPr lang="en-US" sz="1200" dirty="0"/>
          </a:p>
        </p:txBody>
      </p:sp>
      <p:sp>
        <p:nvSpPr>
          <p:cNvPr id="20" name="Text 18"/>
          <p:cNvSpPr txBox="1"/>
          <p:nvPr/>
        </p:nvSpPr>
        <p:spPr>
          <a:xfrm>
            <a:off x="6519672" y="466344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Sensor-Drift erkennen</a:t>
            </a:r>
            <a:endParaRPr lang="en-US" sz="2200" dirty="0"/>
          </a:p>
        </p:txBody>
      </p:sp>
      <p:sp>
        <p:nvSpPr>
          <p:cNvPr id="21" name="Text 19"/>
          <p:cNvSpPr txBox="1"/>
          <p:nvPr/>
        </p:nvSpPr>
        <p:spPr>
          <a:xfrm>
            <a:off x="6519672" y="516636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MATLAB-Diagramm: Wandert ein Sensor vom anderen weg? So lässt sich Wartung planen.</a:t>
            </a:r>
            <a:endParaRPr lang="en-US" sz="15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ABSCHLUSS</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Fazit und Ausblick</a:t>
            </a:r>
            <a:endParaRPr lang="en-US" sz="3600" dirty="0"/>
          </a:p>
        </p:txBody>
      </p:sp>
      <p:sp>
        <p:nvSpPr>
          <p:cNvPr id="4" name="Karte"/>
          <p:cNvSpPr/>
          <p:nvPr/>
        </p:nvSpPr>
        <p:spPr>
          <a:xfrm>
            <a:off x="640080" y="1783080"/>
            <a:ext cx="3429000" cy="2651760"/>
          </a:xfrm>
          <a:prstGeom prst="roundRect">
            <a:avLst>
              <a:gd name="adj" fmla="val 4138"/>
            </a:avLst>
          </a:prstGeom>
          <a:solidFill>
            <a:srgbClr val="16293F"/>
          </a:solidFill>
          <a:ln w="9525">
            <a:solidFill>
              <a:srgbClr val="27415E"/>
            </a:solidFill>
            <a:prstDash val="solid"/>
          </a:ln>
        </p:spPr>
      </p:sp>
      <p:pic>
        <p:nvPicPr>
          <p:cNvPr id="5" name="Image 0" descr="Nachweis">    </p:cNvPr>
          <p:cNvPicPr>
            <a:picLocks noChangeAspect="1"/>
          </p:cNvPicPr>
          <p:nvPr/>
        </p:nvPicPr>
        <p:blipFill>
          <a:blip r:embed="rId1"/>
          <a:stretch>
            <a:fillRect/>
          </a:stretch>
        </p:blipFill>
        <p:spPr>
          <a:xfrm>
            <a:off x="914400" y="2011680"/>
            <a:ext cx="502920" cy="502920"/>
          </a:xfrm>
          <a:prstGeom prst="rect">
            <a:avLst/>
          </a:prstGeom>
        </p:spPr>
      </p:pic>
      <p:sp>
        <p:nvSpPr>
          <p:cNvPr id="6" name="Text 3"/>
          <p:cNvSpPr txBox="1"/>
          <p:nvPr/>
        </p:nvSpPr>
        <p:spPr>
          <a:xfrm>
            <a:off x="914400"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Nachweis</a:t>
            </a:r>
            <a:endParaRPr lang="en-US" sz="2400" dirty="0"/>
          </a:p>
        </p:txBody>
      </p:sp>
      <p:sp>
        <p:nvSpPr>
          <p:cNvPr id="7" name="Text 4"/>
          <p:cNvSpPr txBox="1"/>
          <p:nvPr/>
        </p:nvSpPr>
        <p:spPr>
          <a:xfrm>
            <a:off x="914400"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Temperaturverläufe sind jederzeit und überall abrufbar, ohne manuelles Auslesen.</a:t>
            </a:r>
            <a:endParaRPr lang="en-US" sz="1500" dirty="0"/>
          </a:p>
        </p:txBody>
      </p:sp>
      <p:sp>
        <p:nvSpPr>
          <p:cNvPr id="8" name="Karte"/>
          <p:cNvSpPr/>
          <p:nvPr/>
        </p:nvSpPr>
        <p:spPr>
          <a:xfrm>
            <a:off x="4379976" y="1783080"/>
            <a:ext cx="3429000" cy="2651760"/>
          </a:xfrm>
          <a:prstGeom prst="roundRect">
            <a:avLst>
              <a:gd name="adj" fmla="val 4138"/>
            </a:avLst>
          </a:prstGeom>
          <a:solidFill>
            <a:srgbClr val="16293F"/>
          </a:solidFill>
          <a:ln w="9525">
            <a:solidFill>
              <a:srgbClr val="27415E"/>
            </a:solidFill>
            <a:prstDash val="solid"/>
          </a:ln>
        </p:spPr>
      </p:sp>
      <p:pic>
        <p:nvPicPr>
          <p:cNvPr id="9" name="Image 1" descr="Ausfallsicher">    </p:cNvPr>
          <p:cNvPicPr>
            <a:picLocks noChangeAspect="1"/>
          </p:cNvPicPr>
          <p:nvPr/>
        </p:nvPicPr>
        <p:blipFill>
          <a:blip r:embed="rId2"/>
          <a:stretch>
            <a:fillRect/>
          </a:stretch>
        </p:blipFill>
        <p:spPr>
          <a:xfrm>
            <a:off x="4654296" y="2011680"/>
            <a:ext cx="502920" cy="502920"/>
          </a:xfrm>
          <a:prstGeom prst="rect">
            <a:avLst/>
          </a:prstGeom>
        </p:spPr>
      </p:pic>
      <p:sp>
        <p:nvSpPr>
          <p:cNvPr id="10" name="Text 6"/>
          <p:cNvSpPr txBox="1"/>
          <p:nvPr/>
        </p:nvSpPr>
        <p:spPr>
          <a:xfrm>
            <a:off x="4654296"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Ausfallsicher</a:t>
            </a:r>
            <a:endParaRPr lang="en-US" sz="2400" dirty="0"/>
          </a:p>
        </p:txBody>
      </p:sp>
      <p:sp>
        <p:nvSpPr>
          <p:cNvPr id="11" name="Text 7"/>
          <p:cNvSpPr txBox="1"/>
          <p:nvPr/>
        </p:nvSpPr>
        <p:spPr>
          <a:xfrm>
            <a:off x="4654296"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Fällt der Pi aus, bleiben die Daten in der Cloud. Bei Funkausfall puffert der Pi.</a:t>
            </a:r>
            <a:endParaRPr lang="en-US" sz="1500" dirty="0"/>
          </a:p>
        </p:txBody>
      </p:sp>
      <p:sp>
        <p:nvSpPr>
          <p:cNvPr id="12" name="Karte"/>
          <p:cNvSpPr/>
          <p:nvPr/>
        </p:nvSpPr>
        <p:spPr>
          <a:xfrm>
            <a:off x="8119872" y="1783080"/>
            <a:ext cx="3429000" cy="2651760"/>
          </a:xfrm>
          <a:prstGeom prst="roundRect">
            <a:avLst>
              <a:gd name="adj" fmla="val 4138"/>
            </a:avLst>
          </a:prstGeom>
          <a:solidFill>
            <a:srgbClr val="16293F"/>
          </a:solidFill>
          <a:ln w="9525">
            <a:solidFill>
              <a:srgbClr val="27415E"/>
            </a:solidFill>
            <a:prstDash val="solid"/>
          </a:ln>
        </p:spPr>
      </p:sp>
      <p:pic>
        <p:nvPicPr>
          <p:cNvPr id="13" name="Image 2" descr="Ausblick">    </p:cNvPr>
          <p:cNvPicPr>
            <a:picLocks noChangeAspect="1"/>
          </p:cNvPicPr>
          <p:nvPr/>
        </p:nvPicPr>
        <p:blipFill>
          <a:blip r:embed="rId3"/>
          <a:stretch>
            <a:fillRect/>
          </a:stretch>
        </p:blipFill>
        <p:spPr>
          <a:xfrm>
            <a:off x="8394192" y="2011680"/>
            <a:ext cx="502920" cy="502920"/>
          </a:xfrm>
          <a:prstGeom prst="rect">
            <a:avLst/>
          </a:prstGeom>
        </p:spPr>
      </p:pic>
      <p:sp>
        <p:nvSpPr>
          <p:cNvPr id="14" name="Text 9"/>
          <p:cNvSpPr txBox="1"/>
          <p:nvPr/>
        </p:nvSpPr>
        <p:spPr>
          <a:xfrm>
            <a:off x="8394192"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Ausblick</a:t>
            </a:r>
            <a:endParaRPr lang="en-US" sz="2400" dirty="0"/>
          </a:p>
        </p:txBody>
      </p:sp>
      <p:sp>
        <p:nvSpPr>
          <p:cNvPr id="15" name="Text 10"/>
          <p:cNvSpPr txBox="1"/>
          <p:nvPr/>
        </p:nvSpPr>
        <p:spPr>
          <a:xfrm>
            <a:off x="8394192"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Flottenbetrieb mit EU-Hosting (Azure IoT Hub), Alarme und Predictive Maintenance.</a:t>
            </a:r>
            <a:endParaRPr lang="en-US" sz="1500" dirty="0"/>
          </a:p>
        </p:txBody>
      </p:sp>
      <p:sp>
        <p:nvSpPr>
          <p:cNvPr id="16" name="Text 11"/>
          <p:cNvSpPr txBox="1"/>
          <p:nvPr/>
        </p:nvSpPr>
        <p:spPr>
          <a:xfrm>
            <a:off x="640080" y="4709160"/>
            <a:ext cx="10908792"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Gelernt: </a:t>
            </a:r>
            <a:pPr indent="0" marL="0">
              <a:buNone/>
            </a:pPr>
            <a:r>
              <a:rPr lang="en-US" sz="1800" dirty="0">
                <a:solidFill>
                  <a:srgbClr val="FFFFFF"/>
                </a:solidFill>
                <a:latin typeface="Calibri" pitchFamily="34" charset="0"/>
                <a:ea typeface="Calibri" pitchFamily="34" charset="-122"/>
                <a:cs typeface="Calibri" pitchFamily="34" charset="-120"/>
              </a:rPr>
              <a:t>Die Bridge trennt Logik und Sender: ThingSpeak jetzt, Azure für die Flotte.</a:t>
            </a:r>
            <a:endParaRPr lang="en-US" sz="1800" dirty="0"/>
          </a:p>
        </p:txBody>
      </p:sp>
      <p:sp>
        <p:nvSpPr>
          <p:cNvPr id="17" name="Text 12"/>
          <p:cNvSpPr txBox="1"/>
          <p:nvPr/>
        </p:nvSpPr>
        <p:spPr>
          <a:xfrm>
            <a:off x="640080" y="5440680"/>
            <a:ext cx="7315200" cy="731520"/>
          </a:xfrm>
          <a:prstGeom prst="rect">
            <a:avLst/>
          </a:prstGeom>
          <a:noFill/>
          <a:ln/>
        </p:spPr>
        <p:txBody>
          <a:bodyPr wrap="square" lIns="0" tIns="0" rIns="0" bIns="0" rtlCol="0" anchor="t"/>
          <a:lstStyle/>
          <a:p>
            <a:pPr indent="0" marL="0">
              <a:buNone/>
            </a:pPr>
            <a:r>
              <a:rPr lang="en-US" sz="3600" b="1" dirty="0">
                <a:solidFill>
                  <a:schemeClr val="accent2"/>
                </a:solidFill>
                <a:latin typeface="Calibri" pitchFamily="34" charset="0"/>
                <a:ea typeface="Calibri" pitchFamily="34" charset="-122"/>
                <a:cs typeface="Calibri" pitchFamily="34" charset="-120"/>
              </a:rPr>
              <a:t>Danke – Fragen?</a:t>
            </a:r>
            <a:endParaRPr lang="en-US" sz="3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Ice Truck Cloud">
  <a:themeElements>
    <a:clrScheme name="Ice Truck Cloud">
      <a:dk1>
        <a:srgbClr val="0E1B2C"/>
      </a:dk1>
      <a:lt1>
        <a:srgbClr val="F4F8FA"/>
      </a:lt1>
      <a:dk2>
        <a:srgbClr val="3E4C5E"/>
      </a:dk2>
      <a:lt2>
        <a:srgbClr val="E6EEF3"/>
      </a:lt2>
      <a:accent1>
        <a:srgbClr val="0B6FA4"/>
      </a:accent1>
      <a:accent2>
        <a:srgbClr val="6CCBF5"/>
      </a:accent2>
      <a:accent3>
        <a:srgbClr val="B85C00"/>
      </a:accent3>
      <a:accent4>
        <a:srgbClr val="1B6B3A"/>
      </a:accent4>
      <a:accent5>
        <a:srgbClr val="16293F"/>
      </a:accent5>
      <a:accent6>
        <a:srgbClr val="CBDAE4"/>
      </a:accent6>
      <a:hlink>
        <a:srgbClr val="0B6FA4"/>
      </a:hlink>
      <a:folHlink>
        <a:srgbClr val="3E4C5E"/>
      </a:folHlink>
    </a:clrScheme>
    <a:fontScheme name="Ice Truck Clou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Truck in der Cloud</dc:title>
  <dc:subject>Challenge III: IoT in der Cloud</dc:subject>
  <dc:creator>Team 13-1</dc:creator>
  <cp:lastModifiedBy>Team 13-1</cp:lastModifiedBy>
  <cp:revision>1</cp:revision>
  <dcterms:created xsi:type="dcterms:W3CDTF">2026-10-07T10:13:42Z</dcterms:created>
  <dcterms:modified xsi:type="dcterms:W3CDTF">2026-10-07T10:13:42Z</dcterms:modified>
</cp:coreProperties>
</file>