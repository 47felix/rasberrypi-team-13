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leitung" id="{d6cbdfd1-4c38-f579-9a77-0a47076197e3}">
          <p14:sldIdLst>
            <p14:sldId id="256"/>
            <p14:sldId id="257"/>
            <p14:sldId id="258"/>
            <p14:sldId id="259"/>
          </p14:sldIdLst>
        </p14:section>
        <p14:section name="Auswahl und Einordnung" id="{c1d185ce-f942-2bc4-a6df-75d54812cf85}">
          <p14:sldIdLst>
            <p14:sldId id="260"/>
            <p14:sldId id="261"/>
            <p14:sldId id="262"/>
            <p14:sldId id="263"/>
          </p14:sldIdLst>
        </p14:section>
        <p14:section name="Datenschutz und Sicherheit" id="{c9474316-ae63-6bbc-376b-b44ae936d975}">
          <p14:sldIdLst>
            <p14:sldId id="264"/>
            <p14:sldId id="265"/>
          </p14:sldIdLst>
        </p14:section>
        <p14:section name="Ergebnis" id="{8be8f521-beec-a326-92ae-c495baaaf071}">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Kurz: Wir haben für den Ice Truck die Temperaturdaten vom Raspberry Pi automatisch in eine Cloud gebracht. Gleich zeigen wir, was wir ausgewählt haben, warum, wie sicher das ist und was dabei herauskam.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Ausgangslage aus der Aufgabe: Die Daten bleiben im Truck auf dem Pi und werden erst in der Zentrale von Hand gesichert. Gleichzeitig verlangen die EU-Verordnungen einen Nachweis, und Kühlung sowie Sensoren fallen immer wieder aus. Unser Ziel: automatisch in die Cloud, damit die Daten überall abrufbar sind und auch bei einem Pi-Ausfall erhalten bleiben.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Weg der Daten: Die Arduinos messen, der Raspberry Pi regelt und speichert alles in einer SQLite-Datenbank. Unsere Cloud-Bridge liest nur neue Messungen aus dieser Datenbank und schickt sie per HTTPS an ThingSpeak. Die Datenbank ist gleichzeitig der Puffer: Fällt das Netz aus, wird später nachgeholt. In der Cloud gibt es Diagramme, Alarme und einen CSV-Export.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die Präsentation entlang des Bewertungsbogens aufgebaut. Jede Folie von 5 bis 12 beantwortet genau ein Kriterium, oben rechts steht die Punktzahl. So könnt ihr beim Zuhören direkt mitbewerten. Die größten Blöcke sind die sichere Datenübertragung und die Messdaten in der Cloud mit je 10 Punkten.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zwei Dienste im Detail verglichen: Azure IoT Hub als Plattform-Dienst und ThingSpeak als fertige IoT-Anwendung. Kriterien aus der Aufgabe: Protokolle, Speicherung, Visualisierung, Kosten, Datenschutz. Zusätzlich angeschaut: AWS IoT Core braucht eine Kreditkarte, die Arduino Cloud speichert im Free-Tarif nur einen Tag, und eine eigene VM wäre IaaS mit viel Betriebsaufwand. Die Free-Limits von ThingSpeak vor dem Vortrag noch einmal auf der Webseite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Ehrlich erzählt: Plan A war Azure IoT Hub. Code, Einrichtungsskript und Auswertung standen schon, aber der Zugriff auf unser Azure-Schülerkonto ging am 30.09. nicht. Weil unsere Bridge die Senderschicht von der restlichen Logik trennt, konnten wir ThingSpeak als zweites Backend ergänzen. Gründe für ThingSpeak: kostenlos ohne Kreditkarte, passende HTTPS-Schnittstelle, Speicherung und Diagramme sind eingebaut, sofort startklar. Für den späteren Flottenbetrieb bleibt Azure die Empfehlung (EU-Region, Archiv).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fünf Merkmale nach NIST. Wir erfüllen sie, aber nicht alle gleich stark, und das sagen wir offen: Self-Service und Broad Network Access sind klar erfüllt. Resource Pooling können wir nicht selbst überprüfen, das ist nur die Aussage des Herstellers. Rapid Elasticity gibt es nur über einen Lizenzwechsel, im Free-Tarif gelten feste Limits. Measured Service: Laut Licensing FAQ (Frage 16) zeigt die Seite My Account Restkontingent und Verbrauchsrate, ThingSpeak warnt auch bei knappem Kontingent. Dazu den Screenshot aus dem eigenen Konto zeigen. Elasticity: Weitere Units lassen sich jederzeit zukaufen, eine Unit sind 33 Millionen Nachrichten im Jahr und das Intervall sinkt auf 1 Sekunde. Im Free-Tarif nimmt der Kanal aber keine Daten mehr an, wenn das Kontingent leer ist. Ein privater Server zu Hause wäre keine Cloud, weil dort Pooling, Elastizität und verbrauchsabhängige Abrechnung fehlen.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Einordnung hängt davon ab, wer was verwaltet. Bei einer eigenen VM wäre es IaaS: Wir müssten Betriebssystem, Broker und Datenbank selbst betreiben. Azure IoT Hub ist PaaS: Die Plattform gehört dem Anbieter, wir betreiben nur unsere Geräte und die Auswertung. ThingSpeak ist SaaS: Wir konfigurieren nur einen Kanal in einer fertigen Anwendung und liefern Daten. Die MATLAB-Skripte sind ein Zusatz innerhalb dieser Anwendung, kein eigener Plattformbetrieb.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Datenschutz-Einschätzung. Was wir übertragen: Truck-ID, Temperaturen, Aktorwerte und Zeitstempel. Im Prototyp ist das kein Personenbezug. Risiken: Der Anbieter sitzt in den USA, das ist eine Drittlandübermittlung. Und wenn die Truck-ID später einem Fahrer zugeordnet wird, könnten die Daten personenbezogen werden. Maßnahmen: nur nötige Daten, HTTPS und getrennte Keys (inzwischen erneuert), das Original bleibt lokal in der Datenbank. Der Kanal ist bewusst öffentlich, weil er nur nicht-sensible Messdaten enthält und Prüfer den Verlauf ohne Anmeldung sehen können. Geschrieben werden kann nur mit dem geheimen Write Key. Im Realbetrieb wäre der Kanal privat. Die Aufbewahrung legen wir auf 12 Monate fest (Annahme, passt zur Lizenzlaufzeit), dazu monatlich ein CSV-Export. Aus der MathWorks Privacy Policy (Stand März 2026): Daten werden dort gespeichert, wo MathWorks oder seine Dienstleister arbeiten, also nicht zwingend in der EU. Eintrag im Verzeichnis dataprivacyframework.gov am 07.10.2026 geprüft: The MathWorks, Inc. ist aktiver Teilnehmer im EU-US Framework (zertifiziert seit 2016, nächste Zertifizierung fällig 07/2027), in der UK-Erweiterung und im Swiss-US Framework. Abgedeckt sind Nicht-HR-Daten, also keine Beschäftigtendaten. Kämen später Fahrerdaten dazu, wäre das DPF-Zertifikat dafür keine Grundlage. Einen Auftragsverarbeitungsvertrag für Kunden nennt die Policy nicht, für den Prototyp ohne Personendaten ist das unkritisch. Die vollständige Einschätzung steht in DATENSCHUTZ.md, die technischen Maßnahmen im SICHERHEITSKONZEPT.md. Im Realbetrieb wäre eine EU-Region die bessere Wahl, und ein Unternehmen bräuchte die Standard-Lizenz.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 Konzept für die sichere Übertragung in sechs Punkten. Verschlüsselung: nur HTTPS. Authentifizierung: Der Write API Key liegt nur auf dem Pi, für Auswertungen gibt es einen getrennten Read Key. Geheimnisse: in einer .env-Datei mit eingeschränkten Rechten, nie im Git-Repository. Vollständigkeit: jede Messung hat eine lokale ID, der Cursor rückt erst nach erfolgreichem Upload weiter, nach einem Funkloch wird nachgeholt. Nachweisbarkeit: UTC-Zeitstempel, Pi-Zeit per NTP. Minimale Rechte: Die Bridge liest die Datenbank nur. Das Konzept steht ausführlich im SICHERHEITSKONZEPT.md, mit Bedrohungstabelle, Key-Rotation und Prüfbefehlen. Nachweise zeigen: curl auf ThingSpeak (TLS), ls -l der .env (nur Besitzer), git check-ignore. Ehrlich benannte Grenzen: Das Web-Terminal des Pi hat noch keine eigene Anmeldung, die Pi-Uhr hat keine Batterie, und der Free-Tarif bietet keinen Löschschutz wie ein Azure-Archiv, deshalb bleibt das Original in der lokalen Datenbank.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die Live-Demo oder den Screenshot zeigen: ThingSpeak, Private View des Kanals. Zu sehen sind die Temperaturen beider Sensoren sowie Lüfter und Ventil. Die Messung läuft im 5-Sekunden-Takt am Truck, der Upload wird wegen der Free-Grenze von einer Übertragung alle 15 Sekunden gebündelt, jede Messung behält ihre eigene Uhrzeit. Für Kontrollen gibt es den CSV-Export. Den Platzhalter links durch einen echten Screenshot ersetzen und vor dem Vortrag prüfen, dass die Punkte wirklich im 5-Sekunden-Abstand ankommen.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Zusatzfunktionen. Schon umgesetzt: Store and Forward, also das Nachholen nach einem Funkloch, und die Health-Flags, die die Bridge schon am Truck berechnet. Dazu kommt der Alarm: Sobald Field 3 über 30 Grad steigt, startet ThingSpeak React eine MATLAB-Analyse. Sie schickt eine Nachricht in unseren Discord-Server und eine E-Mail. Die Zugangsdaten (Webhook, Alerts-Key) liegen nur in ThingSpeak, nicht im Repository. Laut My Account sind 800 Alarm-Mails pro Jahr erlaubt, zwei waren beim Testen schon verbraucht. Als Nächstes das MATLAB-Diagramm zur Sensor-Drift als Beispiel für Predictive Maintenance. VOR DEM VORTRAG: Wenn das Diagramm läuft, die Karte auf UMGESETZT setzen, sonst die Karte von der Folie löschen.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Fazit: Wir erfüllen die Nachweispflicht deutlich besser, weil die Daten automatisch, zeitnah und von überall abrufbar sind. Die Daten sind doppelt gesichert: lokal im Pi und in der Cloud. Ausblick: Für den echten Flottenbetrieb würden wir auf Azure IoT Hub mit EU-Region wechseln, die Alarme ausbauen und die Sensor-Drift für Predictive Maintenance nutzen. Gelernt: Weil unsere Bridge die Logik vom Sender trennt, konnten wir bei Problemen mit Azure schnell auf ThingSpeak ausweichen.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68680"/>
            <a:ext cx="9144000" cy="731520"/>
          </a:xfrm>
          <a:prstGeom prst="rect">
            <a:avLst/>
          </a:prstGeom>
          <a:noFill/>
          <a:ln/>
        </p:spPr>
        <p:txBody>
          <a:bodyPr wrap="square" rtlCol="0"/>
          <a:lstStyle>
            <a:lvl1pPr algn="l" indent="0" marL="0">
              <a:buNone/>
              <a:defRPr lang="en-US" sz="36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3" name="Text 0"/>
          <p:cNvSpPr txBox="1"/>
          <p:nvPr/>
        </p:nvSpPr>
        <p:spPr>
          <a:xfrm>
            <a:off x="640080" y="6355080"/>
            <a:ext cx="6400800" cy="274320"/>
          </a:xfrm>
          <a:prstGeom prst="rect">
            <a:avLst/>
          </a:prstGeom>
          <a:noFill/>
          <a:ln/>
        </p:spPr>
        <p:txBody>
          <a:bodyPr wrap="square" lIns="0" tIns="0" rIns="0" bIns="0" rtlCol="0" anchor="ctr"/>
          <a:lstStyle/>
          <a:p>
            <a:pPr indent="0" marL="0">
              <a:buNone/>
            </a:pPr>
            <a:r>
              <a:rPr lang="en-US" sz="1100" dirty="0">
                <a:solidFill>
                  <a:srgbClr val="5A6878"/>
                </a:solidFill>
                <a:latin typeface="Calibri" pitchFamily="34" charset="0"/>
                <a:ea typeface="Calibri" pitchFamily="34" charset="-122"/>
                <a:cs typeface="Calibri" pitchFamily="34" charset="-120"/>
              </a:rPr>
              <a:t>Team 13-1 · Challenge III · Ice Truck in der Cloud</a:t>
            </a:r>
            <a:endParaRPr lang="en-US" sz="11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L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68680"/>
            <a:ext cx="9144000" cy="731520"/>
          </a:xfrm>
          <a:prstGeom prst="rect">
            <a:avLst/>
          </a:prstGeom>
          <a:noFill/>
          <a:ln/>
        </p:spPr>
        <p:txBody>
          <a:bodyPr wrap="square" rtlCol="0"/>
          <a:lstStyle>
            <a:lvl1pPr algn="l" indent="0" marL="0">
              <a:buNone/>
              <a:defRPr lang="en-US" sz="3600" b="1" dirty="0">
                <a:solidFill>
                  <a:schemeClr val="tx1"/>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3" name="Text 0"/>
          <p:cNvSpPr txBox="1"/>
          <p:nvPr/>
        </p:nvSpPr>
        <p:spPr>
          <a:xfrm>
            <a:off x="640080" y="6355080"/>
            <a:ext cx="6400800" cy="274320"/>
          </a:xfrm>
          <a:prstGeom prst="rect">
            <a:avLst/>
          </a:prstGeom>
          <a:noFill/>
          <a:ln/>
        </p:spPr>
        <p:txBody>
          <a:bodyPr wrap="square" lIns="0" tIns="0" rIns="0" bIns="0" rtlCol="0" anchor="ctr"/>
          <a:lstStyle/>
          <a:p>
            <a:pPr indent="0" marL="0">
              <a:buNone/>
            </a:pPr>
            <a:r>
              <a:rPr lang="en-US" sz="1100" dirty="0">
                <a:solidFill>
                  <a:srgbClr val="5A6878"/>
                </a:solidFill>
                <a:latin typeface="Calibri" pitchFamily="34" charset="0"/>
                <a:ea typeface="Calibri" pitchFamily="34" charset="-122"/>
                <a:cs typeface="Calibri" pitchFamily="34" charset="-120"/>
              </a:rPr>
              <a:t>Team 13-1 · Challenge III · Ice Truck in der Cloud</a:t>
            </a:r>
            <a:endParaRPr lang="en-US" sz="11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68680"/>
            <a:ext cx="9144000" cy="731520"/>
          </a:xfrm>
          <a:prstGeom prst="rect">
            <a:avLst/>
          </a:prstGeom>
          <a:noFill/>
          <a:ln/>
        </p:spPr>
        <p:txBody>
          <a:bodyPr wrap="square" rtlCol="0"/>
          <a:lstStyle>
            <a:lvl1pPr algn="l" indent="0" marL="0">
              <a:buNone/>
              <a:defRPr lang="en-US" sz="36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3600" dirty="0"/>
          </a:p>
        </p:txBody>
      </p:sp>
      <p:sp>
        <p:nvSpPr>
          <p:cNvPr id="3" name="Text 0"/>
          <p:cNvSpPr txBox="1"/>
          <p:nvPr/>
        </p:nvSpPr>
        <p:spPr>
          <a:xfrm>
            <a:off x="640080" y="6355080"/>
            <a:ext cx="6400800" cy="274320"/>
          </a:xfrm>
          <a:prstGeom prst="rect">
            <a:avLst/>
          </a:prstGeom>
          <a:noFill/>
          <a:ln/>
        </p:spPr>
        <p:txBody>
          <a:bodyPr wrap="square" lIns="0" tIns="0" rIns="0" bIns="0" rtlCol="0" anchor="ctr"/>
          <a:lstStyle/>
          <a:p>
            <a:pPr indent="0" marL="0">
              <a:buNone/>
            </a:pPr>
            <a:r>
              <a:rPr lang="en-US" sz="1100" dirty="0">
                <a:solidFill>
                  <a:srgbClr val="8FA3B8"/>
                </a:solidFill>
                <a:latin typeface="Calibri" pitchFamily="34" charset="0"/>
                <a:ea typeface="Calibri" pitchFamily="34" charset="-122"/>
                <a:cs typeface="Calibri" pitchFamily="34" charset="-120"/>
              </a:rPr>
              <a:t>Team 13-1 · Challenge III · Ice Truck in der Cloud</a:t>
            </a:r>
            <a:endParaRPr lang="en-US" sz="11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583680" cy="1828800"/>
          </a:xfrm>
          <a:prstGeom prst="rect">
            <a:avLst/>
          </a:prstGeom>
          <a:noFill/>
          <a:ln/>
        </p:spPr>
        <p:txBody>
          <a:bodyPr wrap="square" rtlCol="0"/>
          <a:lstStyle>
            <a:lvl1pPr algn="l" indent="0" marL="0">
              <a:buNone/>
              <a:defRPr lang="en-US" sz="5400" b="1" dirty="0">
                <a:solidFill>
                  <a:schemeClr val="bg1"/>
                </a:solidFill>
                <a:latin typeface="Calibri" pitchFamily="34" charset="0"/>
                <a:ea typeface="Calibri" pitchFamily="34" charset="-122"/>
                <a:cs typeface="Calibri" pitchFamily="34" charset="-120"/>
              </a:defRPr>
            </a:lvl1pPr>
          </a:lstStyle>
          <a:p>
            <a:pPr algn="l" indent="0" marL="0">
              <a:buNone/>
            </a:pPr>
            <a:endParaRPr lang="en-US" sz="5400" dirty="0"/>
          </a:p>
        </p:txBody>
      </p:sp>
      <p:sp>
        <p:nvSpPr>
          <p:cNvPr id="3" name="Text 0"/>
          <p:cNvSpPr txBox="1"/>
          <p:nvPr/>
        </p:nvSpPr>
        <p:spPr>
          <a:xfrm>
            <a:off x="640080" y="6355080"/>
            <a:ext cx="6400800" cy="274320"/>
          </a:xfrm>
          <a:prstGeom prst="rect">
            <a:avLst/>
          </a:prstGeom>
          <a:noFill/>
          <a:ln/>
        </p:spPr>
        <p:txBody>
          <a:bodyPr wrap="square" lIns="0" tIns="0" rIns="0" bIns="0" rtlCol="0" anchor="ctr"/>
          <a:lstStyle/>
          <a:p>
            <a:pPr indent="0" marL="0">
              <a:buNone/>
            </a:pPr>
            <a:r>
              <a:rPr lang="en-US" sz="1100" dirty="0">
                <a:solidFill>
                  <a:srgbClr val="8FA3B8"/>
                </a:solidFill>
                <a:latin typeface="Calibri" pitchFamily="34" charset="0"/>
                <a:ea typeface="Calibri" pitchFamily="34" charset="-122"/>
                <a:cs typeface="Calibri" pitchFamily="34" charset="-120"/>
              </a:rPr>
              <a:t>Team 13-1 · Challenge III · Ice Truck in der Cloud</a:t>
            </a:r>
            <a:endParaRPr lang="en-US" sz="11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p:cNvSpPr/>
          <p:nvPr/>
        </p:nvSpPr>
        <p:spPr>
          <a:xfrm>
            <a:off x="7315200" y="914400"/>
            <a:ext cx="4206240" cy="4206240"/>
          </a:xfrm>
          <a:prstGeom prst="ellipse">
            <a:avLst/>
          </a:prstGeom>
          <a:solidFill>
            <a:schemeClr val="accent2">
              <a:alpha val="18000"/>
            </a:schemeClr>
          </a:solidFill>
          <a:ln w="12700">
            <a:solidFill>
              <a:schemeClr val="accent2"/>
            </a:solidFill>
            <a:prstDash val="solid"/>
          </a:ln>
        </p:spPr>
      </p:sp>
      <p:sp>
        <p:nvSpPr>
          <p:cNvPr id="3" name="Glow innen"/>
          <p:cNvSpPr/>
          <p:nvPr/>
        </p:nvSpPr>
        <p:spPr>
          <a:xfrm>
            <a:off x="8229600" y="1828800"/>
            <a:ext cx="2377440" cy="2377440"/>
          </a:xfrm>
          <a:prstGeom prst="ellipse">
            <a:avLst/>
          </a:prstGeom>
          <a:solidFill>
            <a:schemeClr val="accent2">
              <a:alpha val="30000"/>
            </a:schemeClr>
          </a:solidFill>
          <a:ln w="12700">
            <a:solidFill>
              <a:schemeClr val="accent2"/>
            </a:solidFill>
            <a:prstDash val="solid"/>
          </a:ln>
        </p:spPr>
      </p:sp>
      <p:pic>
        <p:nvPicPr>
          <p:cNvPr id="4" name="Image 0" descr="Cloud">    </p:cNvPr>
          <p:cNvPicPr>
            <a:picLocks noChangeAspect="1"/>
          </p:cNvPicPr>
          <p:nvPr/>
        </p:nvPicPr>
        <p:blipFill>
          <a:blip r:embed="rId1"/>
          <a:stretch>
            <a:fillRect/>
          </a:stretch>
        </p:blipFill>
        <p:spPr>
          <a:xfrm>
            <a:off x="8732520" y="2331720"/>
            <a:ext cx="1371600" cy="1371600"/>
          </a:xfrm>
          <a:prstGeom prst="rect">
            <a:avLst/>
          </a:prstGeom>
        </p:spPr>
      </p:pic>
      <p:sp>
        <p:nvSpPr>
          <p:cNvPr id="5"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CHALLENGE III · IOT IN DER CLOUD</a:t>
            </a:r>
            <a:endParaRPr lang="en-US" sz="1200" dirty="0"/>
          </a:p>
        </p:txBody>
      </p:sp>
      <p:sp>
        <p:nvSpPr>
          <p:cNvPr id="6" name="Text 0"/>
          <p:cNvSpPr/>
          <p:nvPr>
            <p:ph idx="100" type="title" hasCustomPrompt="1"/>
          </p:nvPr>
        </p:nvSpPr>
        <p:spPr>
          <a:xfrm>
            <a:off x="640080" y="1737360"/>
            <a:ext cx="6583680" cy="1828800"/>
          </a:xfrm>
          <a:prstGeom prst="rect">
            <a:avLst/>
          </a:prstGeom>
          <a:noFill/>
          <a:ln/>
        </p:spPr>
        <p:txBody>
          <a:bodyPr wrap="square" lIns="0" tIns="0" rIns="0" bIns="0" rtlCol="0" anchor="t"/>
          <a:lstStyle/>
          <a:p>
            <a:pPr algn="l" indent="0" marL="0">
              <a:buNone/>
            </a:pPr>
            <a:r>
              <a:rPr lang="en-US" sz="5400" b="1" dirty="0">
                <a:solidFill>
                  <a:schemeClr val="bg1"/>
                </a:solidFill>
                <a:latin typeface="Calibri" pitchFamily="34" charset="0"/>
                <a:ea typeface="Calibri" pitchFamily="34" charset="-122"/>
                <a:cs typeface="Calibri" pitchFamily="34" charset="-120"/>
              </a:rPr>
              <a:t>Ice Truck in der Cloud</a:t>
            </a:r>
            <a:endParaRPr lang="en-US" sz="5400" dirty="0"/>
          </a:p>
        </p:txBody>
      </p:sp>
      <p:sp>
        <p:nvSpPr>
          <p:cNvPr id="7" name="Text 4"/>
          <p:cNvSpPr txBox="1"/>
          <p:nvPr/>
        </p:nvSpPr>
        <p:spPr>
          <a:xfrm>
            <a:off x="640080" y="3200400"/>
            <a:ext cx="6217920" cy="1097280"/>
          </a:xfrm>
          <a:prstGeom prst="rect">
            <a:avLst/>
          </a:prstGeom>
          <a:noFill/>
          <a:ln/>
        </p:spPr>
        <p:txBody>
          <a:bodyPr wrap="square" lIns="0" tIns="0" rIns="0" bIns="0" rtlCol="0" anchor="t"/>
          <a:lstStyle/>
          <a:p>
            <a:pPr indent="0" marL="0">
              <a:buNone/>
            </a:pPr>
            <a:r>
              <a:rPr lang="en-US" sz="2400" dirty="0">
                <a:solidFill>
                  <a:srgbClr val="B8C7D9"/>
                </a:solidFill>
                <a:latin typeface="Calibri" pitchFamily="34" charset="0"/>
                <a:ea typeface="Calibri" pitchFamily="34" charset="-122"/>
                <a:cs typeface="Calibri" pitchFamily="34" charset="-120"/>
              </a:rPr>
              <a:t>Temperaturdaten lückenlos, standortunabhängig und nachweisbar speichern</a:t>
            </a:r>
            <a:endParaRPr lang="en-US" sz="2400" dirty="0"/>
          </a:p>
        </p:txBody>
      </p:sp>
      <p:sp>
        <p:nvSpPr>
          <p:cNvPr id="8" name="Status"/>
          <p:cNvSpPr/>
          <p:nvPr/>
        </p:nvSpPr>
        <p:spPr>
          <a:xfrm>
            <a:off x="640080" y="4572000"/>
            <a:ext cx="1554480" cy="310896"/>
          </a:xfrm>
          <a:prstGeom prst="roundRect">
            <a:avLst>
              <a:gd name="adj" fmla="val 50000"/>
            </a:avLst>
          </a:prstGeom>
          <a:solidFill>
            <a:srgbClr val="6CCBF5"/>
          </a:solidFill>
          <a:ln/>
        </p:spPr>
        <p:txBody>
          <a:bodyPr wrap="square" lIns="0" tIns="0" rIns="0" bIns="0" rtlCol="0" anchor="ctr"/>
          <a:lstStyle/>
          <a:p>
            <a:pPr algn="ctr" indent="0" marL="0">
              <a:buNone/>
            </a:pPr>
            <a:r>
              <a:rPr lang="en-US" sz="1200" b="1" dirty="0">
                <a:solidFill>
                  <a:srgbClr val="0E1B2C"/>
                </a:solidFill>
                <a:latin typeface="Calibri" pitchFamily="34" charset="0"/>
                <a:ea typeface="Calibri" pitchFamily="34" charset="-122"/>
                <a:cs typeface="Calibri" pitchFamily="34" charset="-120"/>
              </a:rPr>
              <a:t>Team 13-1</a:t>
            </a:r>
            <a:endParaRPr lang="en-US" sz="1200" dirty="0"/>
          </a:p>
        </p:txBody>
      </p:sp>
      <p:sp>
        <p:nvSpPr>
          <p:cNvPr id="9" name="Text 6"/>
          <p:cNvSpPr txBox="1"/>
          <p:nvPr/>
        </p:nvSpPr>
        <p:spPr>
          <a:xfrm>
            <a:off x="2377440" y="4617720"/>
            <a:ext cx="3657600" cy="274320"/>
          </a:xfrm>
          <a:prstGeom prst="rect">
            <a:avLst/>
          </a:prstGeom>
          <a:noFill/>
          <a:ln/>
        </p:spPr>
        <p:txBody>
          <a:bodyPr wrap="square" lIns="0" tIns="0" rIns="0" bIns="0" rtlCol="0" anchor="t"/>
          <a:lstStyle/>
          <a:p>
            <a:pPr indent="0" marL="0">
              <a:buNone/>
            </a:pPr>
            <a:r>
              <a:rPr lang="en-US" sz="1600" dirty="0">
                <a:solidFill>
                  <a:srgbClr val="B8C7D9"/>
                </a:solidFill>
                <a:latin typeface="Calibri" pitchFamily="34" charset="0"/>
                <a:ea typeface="Calibri" pitchFamily="34" charset="-122"/>
                <a:cs typeface="Calibri" pitchFamily="34" charset="-120"/>
              </a:rPr>
              <a:t>Smart Systems · BH4ab</a:t>
            </a:r>
            <a:endParaRPr lang="en-US" sz="1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01 · PROBLEM</a:t>
            </a:r>
            <a:endParaRPr lang="en-US" sz="1200" dirty="0"/>
          </a:p>
        </p:txBody>
      </p:sp>
      <p:sp>
        <p:nvSpPr>
          <p:cNvPr id="3"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Heute liegen die Daten nur im Truck</a:t>
            </a:r>
            <a:endParaRPr lang="en-US" sz="3600" dirty="0"/>
          </a:p>
        </p:txBody>
      </p:sp>
      <p:sp>
        <p:nvSpPr>
          <p:cNvPr id="4" name="Karte"/>
          <p:cNvSpPr/>
          <p:nvPr/>
        </p:nvSpPr>
        <p:spPr>
          <a:xfrm>
            <a:off x="640080" y="1828800"/>
            <a:ext cx="3429000" cy="3200400"/>
          </a:xfrm>
          <a:prstGeom prst="roundRect">
            <a:avLst>
              <a:gd name="adj" fmla="val 3429"/>
            </a:avLst>
          </a:prstGeom>
          <a:solidFill>
            <a:srgbClr val="FFFFFF"/>
          </a:solidFill>
          <a:ln w="9525">
            <a:solidFill>
              <a:srgbClr val="D3DEE6"/>
            </a:solidFill>
            <a:prstDash val="solid"/>
          </a:ln>
        </p:spPr>
      </p:sp>
      <p:sp>
        <p:nvSpPr>
          <p:cNvPr id="5" name="Icon-Kreis"/>
          <p:cNvSpPr/>
          <p:nvPr/>
        </p:nvSpPr>
        <p:spPr>
          <a:xfrm>
            <a:off x="960120" y="2103120"/>
            <a:ext cx="640080" cy="640080"/>
          </a:xfrm>
          <a:prstGeom prst="ellipse">
            <a:avLst/>
          </a:prstGeom>
          <a:solidFill>
            <a:srgbClr val="E6EEF3"/>
          </a:solidFill>
          <a:ln w="12700">
            <a:solidFill>
              <a:srgbClr val="E6EEF3"/>
            </a:solidFill>
            <a:prstDash val="solid"/>
          </a:ln>
        </p:spPr>
      </p:sp>
      <p:pic>
        <p:nvPicPr>
          <p:cNvPr id="6" name="Image 0" descr="FaDatabase">    </p:cNvPr>
          <p:cNvPicPr>
            <a:picLocks noChangeAspect="1"/>
          </p:cNvPicPr>
          <p:nvPr/>
        </p:nvPicPr>
        <p:blipFill>
          <a:blip r:embed="rId1"/>
          <a:stretch>
            <a:fillRect/>
          </a:stretch>
        </p:blipFill>
        <p:spPr>
          <a:xfrm>
            <a:off x="1100938" y="2243938"/>
            <a:ext cx="358445" cy="358445"/>
          </a:xfrm>
          <a:prstGeom prst="rect">
            <a:avLst/>
          </a:prstGeom>
        </p:spPr>
      </p:pic>
      <p:sp>
        <p:nvSpPr>
          <p:cNvPr id="7" name="Text 4"/>
          <p:cNvSpPr txBox="1"/>
          <p:nvPr/>
        </p:nvSpPr>
        <p:spPr>
          <a:xfrm>
            <a:off x="960120" y="2926080"/>
            <a:ext cx="27889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Nur lokal gespeichert</a:t>
            </a:r>
            <a:endParaRPr lang="en-US" sz="2000" dirty="0"/>
          </a:p>
        </p:txBody>
      </p:sp>
      <p:sp>
        <p:nvSpPr>
          <p:cNvPr id="8" name="Text 5"/>
          <p:cNvSpPr txBox="1"/>
          <p:nvPr/>
        </p:nvSpPr>
        <p:spPr>
          <a:xfrm>
            <a:off x="960120" y="3429000"/>
            <a:ext cx="2788920" cy="14630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Die Messwerte liegen auf dem Raspberry Pi im Truck. Ausgelesen wird erst in der Zentrale, von Hand.</a:t>
            </a:r>
            <a:endParaRPr lang="en-US" sz="1500" dirty="0"/>
          </a:p>
        </p:txBody>
      </p:sp>
      <p:sp>
        <p:nvSpPr>
          <p:cNvPr id="9" name="Karte"/>
          <p:cNvSpPr/>
          <p:nvPr/>
        </p:nvSpPr>
        <p:spPr>
          <a:xfrm>
            <a:off x="4379976" y="1828800"/>
            <a:ext cx="3429000" cy="3200400"/>
          </a:xfrm>
          <a:prstGeom prst="roundRect">
            <a:avLst>
              <a:gd name="adj" fmla="val 3429"/>
            </a:avLst>
          </a:prstGeom>
          <a:solidFill>
            <a:srgbClr val="FFFFFF"/>
          </a:solidFill>
          <a:ln w="9525">
            <a:solidFill>
              <a:srgbClr val="D3DEE6"/>
            </a:solidFill>
            <a:prstDash val="solid"/>
          </a:ln>
        </p:spPr>
      </p:sp>
      <p:sp>
        <p:nvSpPr>
          <p:cNvPr id="10" name="Icon-Kreis"/>
          <p:cNvSpPr/>
          <p:nvPr/>
        </p:nvSpPr>
        <p:spPr>
          <a:xfrm>
            <a:off x="4700016" y="2103120"/>
            <a:ext cx="640080" cy="640080"/>
          </a:xfrm>
          <a:prstGeom prst="ellipse">
            <a:avLst/>
          </a:prstGeom>
          <a:solidFill>
            <a:srgbClr val="E6EEF3"/>
          </a:solidFill>
          <a:ln w="12700">
            <a:solidFill>
              <a:srgbClr val="E6EEF3"/>
            </a:solidFill>
            <a:prstDash val="solid"/>
          </a:ln>
        </p:spPr>
      </p:sp>
      <p:pic>
        <p:nvPicPr>
          <p:cNvPr id="11" name="Image 1" descr="FaBook">    </p:cNvPr>
          <p:cNvPicPr>
            <a:picLocks noChangeAspect="1"/>
          </p:cNvPicPr>
          <p:nvPr/>
        </p:nvPicPr>
        <p:blipFill>
          <a:blip r:embed="rId2"/>
          <a:stretch>
            <a:fillRect/>
          </a:stretch>
        </p:blipFill>
        <p:spPr>
          <a:xfrm>
            <a:off x="4840834" y="2243938"/>
            <a:ext cx="358445" cy="358445"/>
          </a:xfrm>
          <a:prstGeom prst="rect">
            <a:avLst/>
          </a:prstGeom>
        </p:spPr>
      </p:pic>
      <p:sp>
        <p:nvSpPr>
          <p:cNvPr id="12" name="Text 8"/>
          <p:cNvSpPr txBox="1"/>
          <p:nvPr/>
        </p:nvSpPr>
        <p:spPr>
          <a:xfrm>
            <a:off x="4700016" y="2926080"/>
            <a:ext cx="27889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Nachweispflicht</a:t>
            </a:r>
            <a:endParaRPr lang="en-US" sz="2000" dirty="0"/>
          </a:p>
        </p:txBody>
      </p:sp>
      <p:sp>
        <p:nvSpPr>
          <p:cNvPr id="13" name="Text 9"/>
          <p:cNvSpPr txBox="1"/>
          <p:nvPr/>
        </p:nvSpPr>
        <p:spPr>
          <a:xfrm>
            <a:off x="4700016" y="3429000"/>
            <a:ext cx="2788920" cy="14630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EU-Verordnungen 178/2002 und 37/2005: Rückverfolgbarkeit und Qualitätssicherung bei Lebensmitteln.</a:t>
            </a:r>
            <a:endParaRPr lang="en-US" sz="1500" dirty="0"/>
          </a:p>
        </p:txBody>
      </p:sp>
      <p:sp>
        <p:nvSpPr>
          <p:cNvPr id="14" name="Karte"/>
          <p:cNvSpPr/>
          <p:nvPr/>
        </p:nvSpPr>
        <p:spPr>
          <a:xfrm>
            <a:off x="8119872" y="1828800"/>
            <a:ext cx="3429000" cy="3200400"/>
          </a:xfrm>
          <a:prstGeom prst="roundRect">
            <a:avLst>
              <a:gd name="adj" fmla="val 3429"/>
            </a:avLst>
          </a:prstGeom>
          <a:solidFill>
            <a:srgbClr val="FFFFFF"/>
          </a:solidFill>
          <a:ln w="9525">
            <a:solidFill>
              <a:srgbClr val="D3DEE6"/>
            </a:solidFill>
            <a:prstDash val="solid"/>
          </a:ln>
        </p:spPr>
      </p:sp>
      <p:sp>
        <p:nvSpPr>
          <p:cNvPr id="15" name="Icon-Kreis"/>
          <p:cNvSpPr/>
          <p:nvPr/>
        </p:nvSpPr>
        <p:spPr>
          <a:xfrm>
            <a:off x="8439912" y="2103120"/>
            <a:ext cx="640080" cy="640080"/>
          </a:xfrm>
          <a:prstGeom prst="ellipse">
            <a:avLst/>
          </a:prstGeom>
          <a:solidFill>
            <a:srgbClr val="E6EEF3"/>
          </a:solidFill>
          <a:ln w="12700">
            <a:solidFill>
              <a:srgbClr val="E6EEF3"/>
            </a:solidFill>
            <a:prstDash val="solid"/>
          </a:ln>
        </p:spPr>
      </p:sp>
      <p:pic>
        <p:nvPicPr>
          <p:cNvPr id="16" name="Image 2" descr="FaExclamationTriangle">    </p:cNvPr>
          <p:cNvPicPr>
            <a:picLocks noChangeAspect="1"/>
          </p:cNvPicPr>
          <p:nvPr/>
        </p:nvPicPr>
        <p:blipFill>
          <a:blip r:embed="rId3"/>
          <a:stretch>
            <a:fillRect/>
          </a:stretch>
        </p:blipFill>
        <p:spPr>
          <a:xfrm>
            <a:off x="8580730" y="2243938"/>
            <a:ext cx="358445" cy="358445"/>
          </a:xfrm>
          <a:prstGeom prst="rect">
            <a:avLst/>
          </a:prstGeom>
        </p:spPr>
      </p:pic>
      <p:sp>
        <p:nvSpPr>
          <p:cNvPr id="17" name="Text 12"/>
          <p:cNvSpPr txBox="1"/>
          <p:nvPr/>
        </p:nvSpPr>
        <p:spPr>
          <a:xfrm>
            <a:off x="8439912" y="2926080"/>
            <a:ext cx="27889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Nur Stichproben</a:t>
            </a:r>
            <a:endParaRPr lang="en-US" sz="2000" dirty="0"/>
          </a:p>
        </p:txBody>
      </p:sp>
      <p:sp>
        <p:nvSpPr>
          <p:cNvPr id="18" name="Text 13"/>
          <p:cNvSpPr txBox="1"/>
          <p:nvPr/>
        </p:nvSpPr>
        <p:spPr>
          <a:xfrm>
            <a:off x="8439912" y="3429000"/>
            <a:ext cx="2788920" cy="146304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Temperaturverläufe und Kühlung werden stichprobenartig geprüft. Sensoren und Aggregate fallen trotzdem aus.</a:t>
            </a:r>
            <a:endParaRPr lang="en-US" sz="1500" dirty="0"/>
          </a:p>
        </p:txBody>
      </p:sp>
      <p:sp>
        <p:nvSpPr>
          <p:cNvPr id="19" name="Text 14"/>
          <p:cNvSpPr txBox="1"/>
          <p:nvPr/>
        </p:nvSpPr>
        <p:spPr>
          <a:xfrm>
            <a:off x="640080" y="5349240"/>
            <a:ext cx="10908792" cy="54864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Ziel: Daten automatisch in die Cloud – jederzeit, überall und als zweite Sicherung.</a:t>
            </a:r>
            <a:endParaRPr lang="en-US" sz="20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02 · LÖSUNG</a:t>
            </a:r>
            <a:endParaRPr lang="en-US" sz="1200" dirty="0"/>
          </a:p>
        </p:txBody>
      </p:sp>
      <p:sp>
        <p:nvSpPr>
          <p:cNvPr id="3"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Vom Truck in die Cloud</a:t>
            </a:r>
            <a:endParaRPr lang="en-US" sz="3600" dirty="0"/>
          </a:p>
        </p:txBody>
      </p:sp>
      <p:sp>
        <p:nvSpPr>
          <p:cNvPr id="4" name="Text 2"/>
          <p:cNvSpPr txBox="1"/>
          <p:nvPr/>
        </p:nvSpPr>
        <p:spPr>
          <a:xfrm>
            <a:off x="640080" y="1737360"/>
            <a:ext cx="6766560" cy="274320"/>
          </a:xfrm>
          <a:prstGeom prst="rect">
            <a:avLst/>
          </a:prstGeom>
          <a:noFill/>
          <a:ln/>
        </p:spPr>
        <p:txBody>
          <a:bodyPr wrap="square" lIns="0" tIns="0" rIns="0" bIns="0" rtlCol="0" anchor="t"/>
          <a:lstStyle/>
          <a:p>
            <a:pPr indent="0" marL="0">
              <a:buNone/>
            </a:pPr>
            <a:r>
              <a:rPr lang="en-US" sz="1200" b="1" spc="200" kern="0" dirty="0">
                <a:solidFill>
                  <a:schemeClr val="tx2"/>
                </a:solidFill>
                <a:latin typeface="Calibri" pitchFamily="34" charset="0"/>
                <a:ea typeface="Calibri" pitchFamily="34" charset="-122"/>
                <a:cs typeface="Calibri" pitchFamily="34" charset="-120"/>
              </a:rPr>
              <a:t>IM TRUCK</a:t>
            </a:r>
            <a:endParaRPr lang="en-US" sz="1200" dirty="0"/>
          </a:p>
        </p:txBody>
      </p:sp>
      <p:sp>
        <p:nvSpPr>
          <p:cNvPr id="5" name="Text 3"/>
          <p:cNvSpPr txBox="1"/>
          <p:nvPr/>
        </p:nvSpPr>
        <p:spPr>
          <a:xfrm>
            <a:off x="7406640" y="1737360"/>
            <a:ext cx="411480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IN DER CLOUD</a:t>
            </a:r>
            <a:endParaRPr lang="en-US" sz="1200" dirty="0"/>
          </a:p>
        </p:txBody>
      </p:sp>
      <p:sp>
        <p:nvSpPr>
          <p:cNvPr id="6" name="Karte"/>
          <p:cNvSpPr/>
          <p:nvPr/>
        </p:nvSpPr>
        <p:spPr>
          <a:xfrm>
            <a:off x="640080" y="2103120"/>
            <a:ext cx="1828800" cy="2194560"/>
          </a:xfrm>
          <a:prstGeom prst="roundRect">
            <a:avLst>
              <a:gd name="adj" fmla="val 6000"/>
            </a:avLst>
          </a:prstGeom>
          <a:solidFill>
            <a:srgbClr val="FFFFFF"/>
          </a:solidFill>
          <a:ln w="9525">
            <a:solidFill>
              <a:srgbClr val="D3DEE6"/>
            </a:solidFill>
            <a:prstDash val="solid"/>
          </a:ln>
        </p:spPr>
      </p:sp>
      <p:pic>
        <p:nvPicPr>
          <p:cNvPr id="7" name="Image 0" descr="Sensoren">    </p:cNvPr>
          <p:cNvPicPr>
            <a:picLocks noChangeAspect="1"/>
          </p:cNvPicPr>
          <p:nvPr/>
        </p:nvPicPr>
        <p:blipFill>
          <a:blip r:embed="rId1"/>
          <a:stretch>
            <a:fillRect/>
          </a:stretch>
        </p:blipFill>
        <p:spPr>
          <a:xfrm>
            <a:off x="822960" y="2286000"/>
            <a:ext cx="457200" cy="457200"/>
          </a:xfrm>
          <a:prstGeom prst="rect">
            <a:avLst/>
          </a:prstGeom>
        </p:spPr>
      </p:pic>
      <p:sp>
        <p:nvSpPr>
          <p:cNvPr id="8" name="Text 5"/>
          <p:cNvSpPr txBox="1"/>
          <p:nvPr/>
        </p:nvSpPr>
        <p:spPr>
          <a:xfrm>
            <a:off x="822960" y="2880360"/>
            <a:ext cx="15087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Sensoren</a:t>
            </a:r>
            <a:endParaRPr lang="en-US" sz="1600" dirty="0"/>
          </a:p>
        </p:txBody>
      </p:sp>
      <p:sp>
        <p:nvSpPr>
          <p:cNvPr id="9" name="Text 6"/>
          <p:cNvSpPr txBox="1"/>
          <p:nvPr/>
        </p:nvSpPr>
        <p:spPr>
          <a:xfrm>
            <a:off x="822960" y="3246120"/>
            <a:ext cx="15087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Zwei Sensoren per I²C</a:t>
            </a:r>
            <a:endParaRPr lang="en-US" sz="1400" dirty="0"/>
          </a:p>
        </p:txBody>
      </p:sp>
      <p:sp>
        <p:nvSpPr>
          <p:cNvPr id="10" name="Pfeil"/>
          <p:cNvSpPr/>
          <p:nvPr/>
        </p:nvSpPr>
        <p:spPr>
          <a:xfrm>
            <a:off x="2542032" y="3063240"/>
            <a:ext cx="292608" cy="256032"/>
          </a:xfrm>
          <a:prstGeom prst="rightArrow">
            <a:avLst/>
          </a:prstGeom>
          <a:solidFill>
            <a:schemeClr val="accent1"/>
          </a:solidFill>
          <a:ln w="12700">
            <a:solidFill>
              <a:schemeClr val="accent1"/>
            </a:solidFill>
            <a:prstDash val="solid"/>
          </a:ln>
        </p:spPr>
      </p:sp>
      <p:sp>
        <p:nvSpPr>
          <p:cNvPr id="11" name="Karte"/>
          <p:cNvSpPr/>
          <p:nvPr/>
        </p:nvSpPr>
        <p:spPr>
          <a:xfrm>
            <a:off x="2907792" y="2103120"/>
            <a:ext cx="1828800" cy="2194560"/>
          </a:xfrm>
          <a:prstGeom prst="roundRect">
            <a:avLst>
              <a:gd name="adj" fmla="val 6000"/>
            </a:avLst>
          </a:prstGeom>
          <a:solidFill>
            <a:srgbClr val="FFFFFF"/>
          </a:solidFill>
          <a:ln w="9525">
            <a:solidFill>
              <a:srgbClr val="D3DEE6"/>
            </a:solidFill>
            <a:prstDash val="solid"/>
          </a:ln>
        </p:spPr>
      </p:sp>
      <p:pic>
        <p:nvPicPr>
          <p:cNvPr id="12" name="Image 1" descr="Raspberry Pi">    </p:cNvPr>
          <p:cNvPicPr>
            <a:picLocks noChangeAspect="1"/>
          </p:cNvPicPr>
          <p:nvPr/>
        </p:nvPicPr>
        <p:blipFill>
          <a:blip r:embed="rId2"/>
          <a:stretch>
            <a:fillRect/>
          </a:stretch>
        </p:blipFill>
        <p:spPr>
          <a:xfrm>
            <a:off x="3090672" y="2286000"/>
            <a:ext cx="457200" cy="457200"/>
          </a:xfrm>
          <a:prstGeom prst="rect">
            <a:avLst/>
          </a:prstGeom>
        </p:spPr>
      </p:pic>
      <p:sp>
        <p:nvSpPr>
          <p:cNvPr id="13" name="Text 9"/>
          <p:cNvSpPr txBox="1"/>
          <p:nvPr/>
        </p:nvSpPr>
        <p:spPr>
          <a:xfrm>
            <a:off x="3090672" y="2880360"/>
            <a:ext cx="15087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Raspberry Pi</a:t>
            </a:r>
            <a:endParaRPr lang="en-US" sz="1600" dirty="0"/>
          </a:p>
        </p:txBody>
      </p:sp>
      <p:sp>
        <p:nvSpPr>
          <p:cNvPr id="14" name="Text 10"/>
          <p:cNvSpPr txBox="1"/>
          <p:nvPr/>
        </p:nvSpPr>
        <p:spPr>
          <a:xfrm>
            <a:off x="3090672" y="3246120"/>
            <a:ext cx="15087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Regelung und SQLite-Puffer</a:t>
            </a:r>
            <a:endParaRPr lang="en-US" sz="1400" dirty="0"/>
          </a:p>
        </p:txBody>
      </p:sp>
      <p:sp>
        <p:nvSpPr>
          <p:cNvPr id="15" name="Pfeil"/>
          <p:cNvSpPr/>
          <p:nvPr/>
        </p:nvSpPr>
        <p:spPr>
          <a:xfrm>
            <a:off x="4809744" y="3063240"/>
            <a:ext cx="292608" cy="256032"/>
          </a:xfrm>
          <a:prstGeom prst="rightArrow">
            <a:avLst/>
          </a:prstGeom>
          <a:solidFill>
            <a:schemeClr val="accent1"/>
          </a:solidFill>
          <a:ln w="12700">
            <a:solidFill>
              <a:schemeClr val="accent1"/>
            </a:solidFill>
            <a:prstDash val="solid"/>
          </a:ln>
        </p:spPr>
      </p:sp>
      <p:sp>
        <p:nvSpPr>
          <p:cNvPr id="16" name="Karte"/>
          <p:cNvSpPr/>
          <p:nvPr/>
        </p:nvSpPr>
        <p:spPr>
          <a:xfrm>
            <a:off x="5175504" y="2103120"/>
            <a:ext cx="1828800" cy="2194560"/>
          </a:xfrm>
          <a:prstGeom prst="roundRect">
            <a:avLst>
              <a:gd name="adj" fmla="val 6000"/>
            </a:avLst>
          </a:prstGeom>
          <a:solidFill>
            <a:srgbClr val="FFFFFF"/>
          </a:solidFill>
          <a:ln w="9525">
            <a:solidFill>
              <a:srgbClr val="D3DEE6"/>
            </a:solidFill>
            <a:prstDash val="solid"/>
          </a:ln>
        </p:spPr>
      </p:sp>
      <p:pic>
        <p:nvPicPr>
          <p:cNvPr id="17" name="Image 2" descr="Cloud-Bridge">    </p:cNvPr>
          <p:cNvPicPr>
            <a:picLocks noChangeAspect="1"/>
          </p:cNvPicPr>
          <p:nvPr/>
        </p:nvPicPr>
        <p:blipFill>
          <a:blip r:embed="rId3"/>
          <a:stretch>
            <a:fillRect/>
          </a:stretch>
        </p:blipFill>
        <p:spPr>
          <a:xfrm>
            <a:off x="5358384" y="2286000"/>
            <a:ext cx="457200" cy="457200"/>
          </a:xfrm>
          <a:prstGeom prst="rect">
            <a:avLst/>
          </a:prstGeom>
        </p:spPr>
      </p:pic>
      <p:sp>
        <p:nvSpPr>
          <p:cNvPr id="18" name="Text 13"/>
          <p:cNvSpPr txBox="1"/>
          <p:nvPr/>
        </p:nvSpPr>
        <p:spPr>
          <a:xfrm>
            <a:off x="5358384" y="2880360"/>
            <a:ext cx="15087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Cloud-Bridge</a:t>
            </a:r>
            <a:endParaRPr lang="en-US" sz="1600" dirty="0"/>
          </a:p>
        </p:txBody>
      </p:sp>
      <p:sp>
        <p:nvSpPr>
          <p:cNvPr id="19" name="Text 14"/>
          <p:cNvSpPr txBox="1"/>
          <p:nvPr/>
        </p:nvSpPr>
        <p:spPr>
          <a:xfrm>
            <a:off x="5358384" y="3246120"/>
            <a:ext cx="15087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Python, Cursor, Batches</a:t>
            </a:r>
            <a:endParaRPr lang="en-US" sz="1400" dirty="0"/>
          </a:p>
        </p:txBody>
      </p:sp>
      <p:sp>
        <p:nvSpPr>
          <p:cNvPr id="20" name="Pfeil"/>
          <p:cNvSpPr/>
          <p:nvPr/>
        </p:nvSpPr>
        <p:spPr>
          <a:xfrm>
            <a:off x="7077456" y="3063240"/>
            <a:ext cx="292608" cy="256032"/>
          </a:xfrm>
          <a:prstGeom prst="rightArrow">
            <a:avLst/>
          </a:prstGeom>
          <a:solidFill>
            <a:schemeClr val="accent1"/>
          </a:solidFill>
          <a:ln w="12700">
            <a:solidFill>
              <a:schemeClr val="accent1"/>
            </a:solidFill>
            <a:prstDash val="solid"/>
          </a:ln>
        </p:spPr>
      </p:sp>
      <p:sp>
        <p:nvSpPr>
          <p:cNvPr id="21" name="Karte"/>
          <p:cNvSpPr/>
          <p:nvPr/>
        </p:nvSpPr>
        <p:spPr>
          <a:xfrm>
            <a:off x="7443216" y="2103120"/>
            <a:ext cx="1828800" cy="2194560"/>
          </a:xfrm>
          <a:prstGeom prst="roundRect">
            <a:avLst>
              <a:gd name="adj" fmla="val 6000"/>
            </a:avLst>
          </a:prstGeom>
          <a:solidFill>
            <a:srgbClr val="DCEFFA"/>
          </a:solidFill>
          <a:ln w="9525">
            <a:solidFill>
              <a:srgbClr val="9CCDEB"/>
            </a:solidFill>
            <a:prstDash val="solid"/>
          </a:ln>
        </p:spPr>
      </p:sp>
      <p:pic>
        <p:nvPicPr>
          <p:cNvPr id="22" name="Image 3" descr="ThingSpeak">    </p:cNvPr>
          <p:cNvPicPr>
            <a:picLocks noChangeAspect="1"/>
          </p:cNvPicPr>
          <p:nvPr/>
        </p:nvPicPr>
        <p:blipFill>
          <a:blip r:embed="rId4"/>
          <a:stretch>
            <a:fillRect/>
          </a:stretch>
        </p:blipFill>
        <p:spPr>
          <a:xfrm>
            <a:off x="7626096" y="2286000"/>
            <a:ext cx="457200" cy="457200"/>
          </a:xfrm>
          <a:prstGeom prst="rect">
            <a:avLst/>
          </a:prstGeom>
        </p:spPr>
      </p:pic>
      <p:sp>
        <p:nvSpPr>
          <p:cNvPr id="23" name="Text 17"/>
          <p:cNvSpPr txBox="1"/>
          <p:nvPr/>
        </p:nvSpPr>
        <p:spPr>
          <a:xfrm>
            <a:off x="7626096" y="2880360"/>
            <a:ext cx="15087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ThingSpeak</a:t>
            </a:r>
            <a:endParaRPr lang="en-US" sz="1600" dirty="0"/>
          </a:p>
        </p:txBody>
      </p:sp>
      <p:sp>
        <p:nvSpPr>
          <p:cNvPr id="24" name="Text 18"/>
          <p:cNvSpPr txBox="1"/>
          <p:nvPr/>
        </p:nvSpPr>
        <p:spPr>
          <a:xfrm>
            <a:off x="7626096" y="3246120"/>
            <a:ext cx="15087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HTTPS und Write API Key</a:t>
            </a:r>
            <a:endParaRPr lang="en-US" sz="1400" dirty="0"/>
          </a:p>
        </p:txBody>
      </p:sp>
      <p:sp>
        <p:nvSpPr>
          <p:cNvPr id="25" name="Pfeil"/>
          <p:cNvSpPr/>
          <p:nvPr/>
        </p:nvSpPr>
        <p:spPr>
          <a:xfrm>
            <a:off x="9345168" y="3063240"/>
            <a:ext cx="292608" cy="256032"/>
          </a:xfrm>
          <a:prstGeom prst="rightArrow">
            <a:avLst/>
          </a:prstGeom>
          <a:solidFill>
            <a:schemeClr val="accent1"/>
          </a:solidFill>
          <a:ln w="12700">
            <a:solidFill>
              <a:schemeClr val="accent1"/>
            </a:solidFill>
            <a:prstDash val="solid"/>
          </a:ln>
        </p:spPr>
      </p:sp>
      <p:sp>
        <p:nvSpPr>
          <p:cNvPr id="26" name="Karte"/>
          <p:cNvSpPr/>
          <p:nvPr/>
        </p:nvSpPr>
        <p:spPr>
          <a:xfrm>
            <a:off x="9710928" y="2103120"/>
            <a:ext cx="1828800" cy="2194560"/>
          </a:xfrm>
          <a:prstGeom prst="roundRect">
            <a:avLst>
              <a:gd name="adj" fmla="val 6000"/>
            </a:avLst>
          </a:prstGeom>
          <a:solidFill>
            <a:srgbClr val="DCEFFA"/>
          </a:solidFill>
          <a:ln w="9525">
            <a:solidFill>
              <a:srgbClr val="9CCDEB"/>
            </a:solidFill>
            <a:prstDash val="solid"/>
          </a:ln>
        </p:spPr>
      </p:sp>
      <p:pic>
        <p:nvPicPr>
          <p:cNvPr id="27" name="Image 4" descr="Auswertung">    </p:cNvPr>
          <p:cNvPicPr>
            <a:picLocks noChangeAspect="1"/>
          </p:cNvPicPr>
          <p:nvPr/>
        </p:nvPicPr>
        <p:blipFill>
          <a:blip r:embed="rId5"/>
          <a:stretch>
            <a:fillRect/>
          </a:stretch>
        </p:blipFill>
        <p:spPr>
          <a:xfrm>
            <a:off x="9893808" y="2286000"/>
            <a:ext cx="457200" cy="457200"/>
          </a:xfrm>
          <a:prstGeom prst="rect">
            <a:avLst/>
          </a:prstGeom>
        </p:spPr>
      </p:pic>
      <p:sp>
        <p:nvSpPr>
          <p:cNvPr id="28" name="Text 21"/>
          <p:cNvSpPr txBox="1"/>
          <p:nvPr/>
        </p:nvSpPr>
        <p:spPr>
          <a:xfrm>
            <a:off x="9893808" y="2880360"/>
            <a:ext cx="1508760" cy="32004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Auswertung</a:t>
            </a:r>
            <a:endParaRPr lang="en-US" sz="1600" dirty="0"/>
          </a:p>
        </p:txBody>
      </p:sp>
      <p:sp>
        <p:nvSpPr>
          <p:cNvPr id="29" name="Text 22"/>
          <p:cNvSpPr txBox="1"/>
          <p:nvPr/>
        </p:nvSpPr>
        <p:spPr>
          <a:xfrm>
            <a:off x="9893808" y="3246120"/>
            <a:ext cx="1508760" cy="91440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Diagramme, Alarme, CSV</a:t>
            </a:r>
            <a:endParaRPr lang="en-US" sz="1400" dirty="0"/>
          </a:p>
        </p:txBody>
      </p:sp>
      <p:sp>
        <p:nvSpPr>
          <p:cNvPr id="30" name="Text 23"/>
          <p:cNvSpPr txBox="1"/>
          <p:nvPr/>
        </p:nvSpPr>
        <p:spPr>
          <a:xfrm>
            <a:off x="640080" y="4709160"/>
            <a:ext cx="3291840" cy="731520"/>
          </a:xfrm>
          <a:prstGeom prst="rect">
            <a:avLst/>
          </a:prstGeom>
          <a:noFill/>
          <a:ln/>
        </p:spPr>
        <p:txBody>
          <a:bodyPr wrap="square" lIns="0" tIns="0" rIns="0" bIns="0" rtlCol="0" anchor="t"/>
          <a:lstStyle/>
          <a:p>
            <a:pPr indent="0" marL="0">
              <a:buNone/>
            </a:pPr>
            <a:r>
              <a:rPr lang="en-US" sz="4400" b="1" dirty="0">
                <a:solidFill>
                  <a:schemeClr val="accent1"/>
                </a:solidFill>
                <a:latin typeface="Calibri" pitchFamily="34" charset="0"/>
                <a:ea typeface="Calibri" pitchFamily="34" charset="-122"/>
                <a:cs typeface="Calibri" pitchFamily="34" charset="-120"/>
              </a:rPr>
              <a:t>5 s</a:t>
            </a:r>
            <a:endParaRPr lang="en-US" sz="4400" dirty="0"/>
          </a:p>
        </p:txBody>
      </p:sp>
      <p:sp>
        <p:nvSpPr>
          <p:cNvPr id="31" name="Text 24"/>
          <p:cNvSpPr txBox="1"/>
          <p:nvPr/>
        </p:nvSpPr>
        <p:spPr>
          <a:xfrm>
            <a:off x="640080" y="5440680"/>
            <a:ext cx="3291840" cy="3657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Messtakt am Truck</a:t>
            </a:r>
            <a:endParaRPr lang="en-US" sz="1600" dirty="0"/>
          </a:p>
        </p:txBody>
      </p:sp>
      <p:sp>
        <p:nvSpPr>
          <p:cNvPr id="32" name="Text 25"/>
          <p:cNvSpPr txBox="1"/>
          <p:nvPr/>
        </p:nvSpPr>
        <p:spPr>
          <a:xfrm>
            <a:off x="4297680" y="4709160"/>
            <a:ext cx="3291840" cy="731520"/>
          </a:xfrm>
          <a:prstGeom prst="rect">
            <a:avLst/>
          </a:prstGeom>
          <a:noFill/>
          <a:ln/>
        </p:spPr>
        <p:txBody>
          <a:bodyPr wrap="square" lIns="0" tIns="0" rIns="0" bIns="0" rtlCol="0" anchor="t"/>
          <a:lstStyle/>
          <a:p>
            <a:pPr indent="0" marL="0">
              <a:buNone/>
            </a:pPr>
            <a:r>
              <a:rPr lang="en-US" sz="4400" b="1" dirty="0">
                <a:solidFill>
                  <a:schemeClr val="accent1"/>
                </a:solidFill>
                <a:latin typeface="Calibri" pitchFamily="34" charset="0"/>
                <a:ea typeface="Calibri" pitchFamily="34" charset="-122"/>
                <a:cs typeface="Calibri" pitchFamily="34" charset="-120"/>
              </a:rPr>
              <a:t>8</a:t>
            </a:r>
            <a:endParaRPr lang="en-US" sz="4400" dirty="0"/>
          </a:p>
        </p:txBody>
      </p:sp>
      <p:sp>
        <p:nvSpPr>
          <p:cNvPr id="33" name="Text 26"/>
          <p:cNvSpPr txBox="1"/>
          <p:nvPr/>
        </p:nvSpPr>
        <p:spPr>
          <a:xfrm>
            <a:off x="4297680" y="5440680"/>
            <a:ext cx="3291840" cy="3657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Datenfelder pro Messung</a:t>
            </a:r>
            <a:endParaRPr lang="en-US" sz="1600" dirty="0"/>
          </a:p>
        </p:txBody>
      </p:sp>
      <p:sp>
        <p:nvSpPr>
          <p:cNvPr id="34" name="Text 27"/>
          <p:cNvSpPr txBox="1"/>
          <p:nvPr/>
        </p:nvSpPr>
        <p:spPr>
          <a:xfrm>
            <a:off x="7955280" y="4709160"/>
            <a:ext cx="3291840" cy="731520"/>
          </a:xfrm>
          <a:prstGeom prst="rect">
            <a:avLst/>
          </a:prstGeom>
          <a:noFill/>
          <a:ln/>
        </p:spPr>
        <p:txBody>
          <a:bodyPr wrap="square" lIns="0" tIns="0" rIns="0" bIns="0" rtlCol="0" anchor="t"/>
          <a:lstStyle/>
          <a:p>
            <a:pPr indent="0" marL="0">
              <a:buNone/>
            </a:pPr>
            <a:r>
              <a:rPr lang="en-US" sz="4400" b="1" dirty="0">
                <a:solidFill>
                  <a:schemeClr val="accent1"/>
                </a:solidFill>
                <a:latin typeface="Calibri" pitchFamily="34" charset="0"/>
                <a:ea typeface="Calibri" pitchFamily="34" charset="-122"/>
                <a:cs typeface="Calibri" pitchFamily="34" charset="-120"/>
              </a:rPr>
              <a:t>0 €</a:t>
            </a:r>
            <a:endParaRPr lang="en-US" sz="4400" dirty="0"/>
          </a:p>
        </p:txBody>
      </p:sp>
      <p:sp>
        <p:nvSpPr>
          <p:cNvPr id="35" name="Text 28"/>
          <p:cNvSpPr txBox="1"/>
          <p:nvPr/>
        </p:nvSpPr>
        <p:spPr>
          <a:xfrm>
            <a:off x="7955280" y="5440680"/>
            <a:ext cx="3291840" cy="365760"/>
          </a:xfrm>
          <a:prstGeom prst="rect">
            <a:avLst/>
          </a:prstGeom>
          <a:noFill/>
          <a:ln/>
        </p:spPr>
        <p:txBody>
          <a:bodyPr wrap="square" lIns="0" tIns="0" rIns="0" bIns="0" rtlCol="0" anchor="t"/>
          <a:lstStyle/>
          <a:p>
            <a:pPr indent="0" marL="0">
              <a:buNone/>
            </a:pPr>
            <a:r>
              <a:rPr lang="en-US" sz="1600" dirty="0">
                <a:solidFill>
                  <a:schemeClr val="tx2"/>
                </a:solidFill>
                <a:latin typeface="Calibri" pitchFamily="34" charset="0"/>
                <a:ea typeface="Calibri" pitchFamily="34" charset="-122"/>
                <a:cs typeface="Calibri" pitchFamily="34" charset="-120"/>
              </a:rPr>
              <a:t>Kosten im Free-Tarif</a:t>
            </a:r>
            <a:endParaRPr lang="en-US" sz="1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ÜBERBLICK</a:t>
            </a:r>
            <a:endParaRPr lang="en-US" sz="1200" dirty="0"/>
          </a:p>
        </p:txBody>
      </p:sp>
      <p:sp>
        <p:nvSpPr>
          <p:cNvPr id="3"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Wir folgen dem Bewertungsbogen</a:t>
            </a:r>
            <a:endParaRPr lang="en-US" sz="3600" dirty="0"/>
          </a:p>
        </p:txBody>
      </p:sp>
      <p:graphicFrame>
        <p:nvGraphicFramePr>
          <p:cNvPr id="5" name="Tabelle"/>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822960"/>
                <a:gridCol w="6949440"/>
                <a:gridCol w="1554480"/>
                <a:gridCol w="1581912"/>
              </a:tblGrid>
              <a:tr h="457200">
                <a:tc>
                  <a:txBody>
                    <a:bodyPr/>
                    <a:lstStyle/>
                    <a:p>
                      <a:pPr algn="l" indent="0" marL="0">
                        <a:buNone/>
                      </a:pPr>
                      <a:r>
                        <a:rPr lang="en-US" sz="1600" b="1" dirty="0">
                          <a:solidFill>
                            <a:srgbClr val="0E1B2C"/>
                          </a:solidFill>
                          <a:latin typeface="Calibri" pitchFamily="34" charset="0"/>
                          <a:ea typeface="Calibri" pitchFamily="34" charset="-122"/>
                          <a:cs typeface="Calibri" pitchFamily="34" charset="-120"/>
                        </a:rPr>
                        <a:t>Nr.</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l" indent="0" marL="0">
                        <a:buNone/>
                      </a:pPr>
                      <a:r>
                        <a:rPr lang="en-US" sz="1600" b="1" dirty="0">
                          <a:solidFill>
                            <a:srgbClr val="0E1B2C"/>
                          </a:solidFill>
                          <a:latin typeface="Calibri" pitchFamily="34" charset="0"/>
                          <a:ea typeface="Calibri" pitchFamily="34" charset="-122"/>
                          <a:cs typeface="Calibri" pitchFamily="34" charset="-120"/>
                        </a:rPr>
                        <a:t>Kriterium</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r" indent="0" marL="0">
                        <a:buNone/>
                      </a:pPr>
                      <a:r>
                        <a:rPr lang="en-US" sz="1600" b="1" dirty="0">
                          <a:solidFill>
                            <a:srgbClr val="0E1B2C"/>
                          </a:solidFill>
                          <a:latin typeface="Calibri" pitchFamily="34" charset="0"/>
                          <a:ea typeface="Calibri" pitchFamily="34" charset="-122"/>
                          <a:cs typeface="Calibri" pitchFamily="34" charset="-120"/>
                        </a:rPr>
                        <a:t>Punkte</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r" indent="0" marL="0">
                        <a:buNone/>
                      </a:pPr>
                      <a:r>
                        <a:rPr lang="en-US" sz="1600" b="1" dirty="0">
                          <a:solidFill>
                            <a:srgbClr val="0E1B2C"/>
                          </a:solidFill>
                          <a:latin typeface="Calibri" pitchFamily="34" charset="0"/>
                          <a:ea typeface="Calibri" pitchFamily="34" charset="-122"/>
                          <a:cs typeface="Calibri" pitchFamily="34" charset="-120"/>
                        </a:rPr>
                        <a:t>Folie</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Mindestens zwei Clouddienste vorgestellt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Entscheidung technisch begründet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NIST-Kriterien erfüllt oder Abweichungen begründet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4</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Einordnung als IaaS, PaaS oder SaaS</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Datensicherheit und DSGVO eingeschätzt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6</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Konzept zur sicheren Datenübertragung</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7</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Messdaten in der Cloud protokolliert und visualisiert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11</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45720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Zusätzliche Funktionen realisiert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5</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algn="r" indent="0" marL="0">
                        <a:buNone/>
                      </a:pPr>
                      <a:r>
                        <a:rPr lang="en-US" sz="1600" dirty="0">
                          <a:solidFill>
                            <a:srgbClr val="3E4C5E"/>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bl>
          </a:graphicData>
        </a:graphic>
      </p:graphicFrame>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1 · MINDESTENS ZWEI CLOUDDIENSTE</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1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Zwei Dienste im Vergleich</a:t>
            </a:r>
            <a:endParaRPr lang="en-US" sz="3600" dirty="0"/>
          </a:p>
        </p:txBody>
      </p:sp>
      <p:graphicFrame>
        <p:nvGraphicFramePr>
          <p:cNvPr id="6" name="Tabelle"/>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2468880"/>
                <a:gridCol w="4206240"/>
                <a:gridCol w="4233672"/>
              </a:tblGrid>
              <a:tr h="502920">
                <a:tc>
                  <a:txBody>
                    <a:bodyPr/>
                    <a:lstStyle/>
                    <a:p>
                      <a:pPr algn="l" indent="0" marL="0">
                        <a:buNone/>
                      </a:pPr>
                      <a:r>
                        <a:rPr lang="en-US" sz="1600" b="1" dirty="0">
                          <a:solidFill>
                            <a:srgbClr val="0E1B2C"/>
                          </a:solidFill>
                          <a:latin typeface="Calibri" pitchFamily="34" charset="0"/>
                          <a:ea typeface="Calibri" pitchFamily="34" charset="-122"/>
                          <a:cs typeface="Calibri" pitchFamily="34" charset="-120"/>
                        </a:rPr>
                        <a:t>Kriterium</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l" indent="0" marL="0">
                        <a:buNone/>
                      </a:pPr>
                      <a:r>
                        <a:rPr lang="en-US" sz="1600" b="1" dirty="0">
                          <a:solidFill>
                            <a:srgbClr val="0E1B2C"/>
                          </a:solidFill>
                          <a:latin typeface="Calibri" pitchFamily="34" charset="0"/>
                          <a:ea typeface="Calibri" pitchFamily="34" charset="-122"/>
                          <a:cs typeface="Calibri" pitchFamily="34" charset="-120"/>
                        </a:rPr>
                        <a:t>Azure IoT Hub</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l" indent="0" marL="0">
                        <a:buNone/>
                      </a:pPr>
                      <a:r>
                        <a:rPr lang="en-US" sz="1600" b="1" dirty="0">
                          <a:solidFill>
                            <a:srgbClr val="0E1B2C"/>
                          </a:solidFill>
                          <a:latin typeface="Calibri" pitchFamily="34" charset="0"/>
                          <a:ea typeface="Calibri" pitchFamily="34" charset="-122"/>
                          <a:cs typeface="Calibri" pitchFamily="34" charset="-120"/>
                        </a:rPr>
                        <a:t>ThingSpeak</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r>
              <a:tr h="50292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Protokolle</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MQTT, WebSockets, AMQP, HTTPS</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MQTT und HTTP(S)</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Speicherung</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Blob-Archiv, JSON nach Datum</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Kanal mit 8 Feldern, CSV-Export</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50292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Visualisierung</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Data Explorer, Power BI, Grafana</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Diagramme, Widgets, MATLAB</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50292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Kosten</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F1 gratis, 8.000 Nachrichten/Tag</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Free-Tarif (nicht kommerziell)</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502920">
                <a:tc>
                  <a:txBody>
                    <a:bodyPr/>
                    <a:lstStyle/>
                    <a:p>
                      <a:pPr indent="0" marL="0">
                        <a:buNone/>
                      </a:pPr>
                      <a:r>
                        <a:rPr lang="en-US" sz="1600" b="1" dirty="0">
                          <a:solidFill>
                            <a:srgbClr val="0E1B2C"/>
                          </a:solidFill>
                          <a:latin typeface="Calibri" pitchFamily="34" charset="0"/>
                          <a:ea typeface="Calibri" pitchFamily="34" charset="-122"/>
                          <a:cs typeface="Calibri" pitchFamily="34" charset="-120"/>
                        </a:rPr>
                        <a:t>Datenschutz</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EU-Region, z. B. Deutschland</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600" dirty="0">
                          <a:solidFill>
                            <a:srgbClr val="3E4C5E"/>
                          </a:solidFill>
                          <a:latin typeface="Calibri" pitchFamily="34" charset="0"/>
                          <a:ea typeface="Calibri" pitchFamily="34" charset="-122"/>
                          <a:cs typeface="Calibri" pitchFamily="34" charset="-120"/>
                        </a:rPr>
                        <a:t>Server in den USA</a:t>
                      </a:r>
                      <a:endParaRPr lang="en-US" sz="16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40080" y="5212080"/>
            <a:ext cx="10908792" cy="64008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Ebenfalls geprüft: AWS IoT Core (Kreditkarte nötig), Arduino Cloud (Free nur 1 Tag Historie), eigene VM mit MQTT und InfluxDB (IaaS, hoher Aufwand).</a:t>
            </a:r>
            <a:endParaRPr lang="en-US" sz="14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KRITERIUM 2 · TECHNISCH BEGRÜNDETE ENTSCHEIDUNG</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8FA3B8"/>
                </a:solidFill>
                <a:latin typeface="Calibri" pitchFamily="34" charset="0"/>
                <a:ea typeface="Calibri" pitchFamily="34" charset="-122"/>
                <a:cs typeface="Calibri" pitchFamily="34" charset="-120"/>
              </a:rPr>
              <a:t>Kriterium 2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bg1"/>
                </a:solidFill>
                <a:latin typeface="Calibri" pitchFamily="34" charset="0"/>
                <a:ea typeface="Calibri" pitchFamily="34" charset="-122"/>
                <a:cs typeface="Calibri" pitchFamily="34" charset="-120"/>
              </a:rPr>
              <a:t>ThingSpeak – mit Azure als Plan A</a:t>
            </a:r>
            <a:endParaRPr lang="en-US" sz="3600" dirty="0"/>
          </a:p>
        </p:txBody>
      </p:sp>
      <p:sp>
        <p:nvSpPr>
          <p:cNvPr id="6" name="Karte"/>
          <p:cNvSpPr/>
          <p:nvPr/>
        </p:nvSpPr>
        <p:spPr>
          <a:xfrm>
            <a:off x="640080" y="1783080"/>
            <a:ext cx="5120640" cy="2011680"/>
          </a:xfrm>
          <a:prstGeom prst="roundRect">
            <a:avLst>
              <a:gd name="adj" fmla="val 5455"/>
            </a:avLst>
          </a:prstGeom>
          <a:solidFill>
            <a:srgbClr val="16293F"/>
          </a:solidFill>
          <a:ln w="9525">
            <a:solidFill>
              <a:srgbClr val="27415E"/>
            </a:solidFill>
            <a:prstDash val="solid"/>
          </a:ln>
        </p:spPr>
      </p:sp>
      <p:sp>
        <p:nvSpPr>
          <p:cNvPr id="7" name="Status"/>
          <p:cNvSpPr/>
          <p:nvPr/>
        </p:nvSpPr>
        <p:spPr>
          <a:xfrm>
            <a:off x="914400" y="1965960"/>
            <a:ext cx="1005840" cy="310896"/>
          </a:xfrm>
          <a:prstGeom prst="roundRect">
            <a:avLst>
              <a:gd name="adj" fmla="val 50000"/>
            </a:avLst>
          </a:prstGeom>
          <a:solidFill>
            <a:srgbClr val="27415E"/>
          </a:solidFill>
          <a:ln/>
        </p:spPr>
        <p:txBody>
          <a:bodyPr wrap="square" lIns="0" tIns="0" rIns="0" bIns="0" rtlCol="0" anchor="ctr"/>
          <a:lstStyle/>
          <a:p>
            <a:pPr algn="ctr" indent="0" marL="0">
              <a:buNone/>
            </a:pPr>
            <a:r>
              <a:rPr lang="en-US" sz="1200" b="1" dirty="0">
                <a:solidFill>
                  <a:srgbClr val="6CCBF5"/>
                </a:solidFill>
                <a:latin typeface="Calibri" pitchFamily="34" charset="0"/>
                <a:ea typeface="Calibri" pitchFamily="34" charset="-122"/>
                <a:cs typeface="Calibri" pitchFamily="34" charset="-120"/>
              </a:rPr>
              <a:t>PLAN A</a:t>
            </a:r>
            <a:endParaRPr lang="en-US" sz="1200" dirty="0"/>
          </a:p>
        </p:txBody>
      </p:sp>
      <p:sp>
        <p:nvSpPr>
          <p:cNvPr id="8" name="Text 6"/>
          <p:cNvSpPr txBox="1"/>
          <p:nvPr/>
        </p:nvSpPr>
        <p:spPr>
          <a:xfrm>
            <a:off x="914400" y="2377440"/>
            <a:ext cx="457200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Azure IoT Hub</a:t>
            </a:r>
            <a:endParaRPr lang="en-US" sz="2400" dirty="0"/>
          </a:p>
        </p:txBody>
      </p:sp>
      <p:sp>
        <p:nvSpPr>
          <p:cNvPr id="9" name="Text 7"/>
          <p:cNvSpPr txBox="1"/>
          <p:nvPr/>
        </p:nvSpPr>
        <p:spPr>
          <a:xfrm>
            <a:off x="914400" y="2880360"/>
            <a:ext cx="4572000" cy="82296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Setup-Skript, Bridge und Auswertung waren fertig. Der Zugriff auf das Schülerkonto war am 30.09. nicht möglich.</a:t>
            </a:r>
            <a:endParaRPr lang="en-US" sz="1500" dirty="0"/>
          </a:p>
        </p:txBody>
      </p:sp>
      <p:sp>
        <p:nvSpPr>
          <p:cNvPr id="10" name="Karte"/>
          <p:cNvSpPr/>
          <p:nvPr/>
        </p:nvSpPr>
        <p:spPr>
          <a:xfrm>
            <a:off x="640080" y="4023360"/>
            <a:ext cx="5120640" cy="2011680"/>
          </a:xfrm>
          <a:prstGeom prst="roundRect">
            <a:avLst>
              <a:gd name="adj" fmla="val 5455"/>
            </a:avLst>
          </a:prstGeom>
          <a:solidFill>
            <a:srgbClr val="16293F"/>
          </a:solidFill>
          <a:ln w="28575">
            <a:solidFill>
              <a:srgbClr val="6CCBF5"/>
            </a:solidFill>
            <a:prstDash val="solid"/>
          </a:ln>
        </p:spPr>
      </p:sp>
      <p:sp>
        <p:nvSpPr>
          <p:cNvPr id="11" name="Status"/>
          <p:cNvSpPr/>
          <p:nvPr/>
        </p:nvSpPr>
        <p:spPr>
          <a:xfrm>
            <a:off x="914400" y="4206240"/>
            <a:ext cx="1920240" cy="310896"/>
          </a:xfrm>
          <a:prstGeom prst="roundRect">
            <a:avLst>
              <a:gd name="adj" fmla="val 50000"/>
            </a:avLst>
          </a:prstGeom>
          <a:solidFill>
            <a:srgbClr val="6CCBF5"/>
          </a:solidFill>
          <a:ln/>
        </p:spPr>
        <p:txBody>
          <a:bodyPr wrap="square" lIns="0" tIns="0" rIns="0" bIns="0" rtlCol="0" anchor="ctr"/>
          <a:lstStyle/>
          <a:p>
            <a:pPr algn="ctr" indent="0" marL="0">
              <a:buNone/>
            </a:pPr>
            <a:r>
              <a:rPr lang="en-US" sz="1200" b="1" dirty="0">
                <a:solidFill>
                  <a:srgbClr val="0E1B2C"/>
                </a:solidFill>
                <a:latin typeface="Calibri" pitchFamily="34" charset="0"/>
                <a:ea typeface="Calibri" pitchFamily="34" charset="-122"/>
                <a:cs typeface="Calibri" pitchFamily="34" charset="-120"/>
              </a:rPr>
              <a:t>PLAN B · GEWÄHLT</a:t>
            </a:r>
            <a:endParaRPr lang="en-US" sz="1200" dirty="0"/>
          </a:p>
        </p:txBody>
      </p:sp>
      <p:sp>
        <p:nvSpPr>
          <p:cNvPr id="12" name="Text 10"/>
          <p:cNvSpPr txBox="1"/>
          <p:nvPr/>
        </p:nvSpPr>
        <p:spPr>
          <a:xfrm>
            <a:off x="914400" y="4617720"/>
            <a:ext cx="457200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ThingSpeak</a:t>
            </a:r>
            <a:endParaRPr lang="en-US" sz="2400" dirty="0"/>
          </a:p>
        </p:txBody>
      </p:sp>
      <p:sp>
        <p:nvSpPr>
          <p:cNvPr id="13" name="Text 11"/>
          <p:cNvSpPr txBox="1"/>
          <p:nvPr/>
        </p:nvSpPr>
        <p:spPr>
          <a:xfrm>
            <a:off x="914400" y="5120640"/>
            <a:ext cx="4572000" cy="82296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Gleiche Bridge, anderer Sender. Konto und Kanal waren in wenigen Minuten angelegt.</a:t>
            </a:r>
            <a:endParaRPr lang="en-US" sz="1500" dirty="0"/>
          </a:p>
        </p:txBody>
      </p:sp>
      <p:sp>
        <p:nvSpPr>
          <p:cNvPr id="14" name="Karte"/>
          <p:cNvSpPr/>
          <p:nvPr/>
        </p:nvSpPr>
        <p:spPr>
          <a:xfrm>
            <a:off x="6035040" y="1783080"/>
            <a:ext cx="5513832" cy="4251960"/>
          </a:xfrm>
          <a:prstGeom prst="roundRect">
            <a:avLst>
              <a:gd name="adj" fmla="val 2581"/>
            </a:avLst>
          </a:prstGeom>
          <a:solidFill>
            <a:srgbClr val="16293F"/>
          </a:solidFill>
          <a:ln w="9525">
            <a:solidFill>
              <a:srgbClr val="27415E"/>
            </a:solidFill>
            <a:prstDash val="solid"/>
          </a:ln>
        </p:spPr>
      </p:sp>
      <p:sp>
        <p:nvSpPr>
          <p:cNvPr id="15" name="Text 13"/>
          <p:cNvSpPr txBox="1"/>
          <p:nvPr/>
        </p:nvSpPr>
        <p:spPr>
          <a:xfrm>
            <a:off x="6355080" y="1965960"/>
            <a:ext cx="493776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Technische Begründung</a:t>
            </a:r>
            <a:endParaRPr lang="en-US" sz="2400" dirty="0"/>
          </a:p>
        </p:txBody>
      </p:sp>
      <p:pic>
        <p:nvPicPr>
          <p:cNvPr id="16" name="Image 0" descr="Haken">    </p:cNvPr>
          <p:cNvPicPr>
            <a:picLocks noChangeAspect="1"/>
          </p:cNvPicPr>
          <p:nvPr/>
        </p:nvPicPr>
        <p:blipFill>
          <a:blip r:embed="rId1"/>
          <a:stretch>
            <a:fillRect/>
          </a:stretch>
        </p:blipFill>
        <p:spPr>
          <a:xfrm>
            <a:off x="6355080" y="2724912"/>
            <a:ext cx="292608" cy="292608"/>
          </a:xfrm>
          <a:prstGeom prst="rect">
            <a:avLst/>
          </a:prstGeom>
        </p:spPr>
      </p:pic>
      <p:sp>
        <p:nvSpPr>
          <p:cNvPr id="17" name="Text 14"/>
          <p:cNvSpPr txBox="1"/>
          <p:nvPr/>
        </p:nvSpPr>
        <p:spPr>
          <a:xfrm>
            <a:off x="6858000" y="2651760"/>
            <a:ext cx="448056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Kosten: </a:t>
            </a:r>
            <a:pPr indent="0" marL="0">
              <a:buNone/>
            </a:pPr>
            <a:r>
              <a:rPr lang="en-US" sz="1600" dirty="0">
                <a:solidFill>
                  <a:srgbClr val="B8C7D9"/>
                </a:solidFill>
                <a:latin typeface="Calibri" pitchFamily="34" charset="0"/>
                <a:ea typeface="Calibri" pitchFamily="34" charset="-122"/>
                <a:cs typeface="Calibri" pitchFamily="34" charset="-120"/>
              </a:rPr>
              <a:t>Free-Tarif, keine Kreditkarte nötig</a:t>
            </a:r>
            <a:endParaRPr lang="en-US" sz="1600" dirty="0"/>
          </a:p>
        </p:txBody>
      </p:sp>
      <p:pic>
        <p:nvPicPr>
          <p:cNvPr id="18" name="Image 1" descr="Haken">    </p:cNvPr>
          <p:cNvPicPr>
            <a:picLocks noChangeAspect="1"/>
          </p:cNvPicPr>
          <p:nvPr/>
        </p:nvPicPr>
        <p:blipFill>
          <a:blip r:embed="rId2"/>
          <a:stretch>
            <a:fillRect/>
          </a:stretch>
        </p:blipFill>
        <p:spPr>
          <a:xfrm>
            <a:off x="6355080" y="3566160"/>
            <a:ext cx="292608" cy="292608"/>
          </a:xfrm>
          <a:prstGeom prst="rect">
            <a:avLst/>
          </a:prstGeom>
        </p:spPr>
      </p:pic>
      <p:sp>
        <p:nvSpPr>
          <p:cNvPr id="19" name="Text 15"/>
          <p:cNvSpPr txBox="1"/>
          <p:nvPr/>
        </p:nvSpPr>
        <p:spPr>
          <a:xfrm>
            <a:off x="6858000" y="3493008"/>
            <a:ext cx="448056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Protokolle: </a:t>
            </a:r>
            <a:pPr indent="0" marL="0">
              <a:buNone/>
            </a:pPr>
            <a:r>
              <a:rPr lang="en-US" sz="1600" dirty="0">
                <a:solidFill>
                  <a:srgbClr val="B8C7D9"/>
                </a:solidFill>
                <a:latin typeface="Calibri" pitchFamily="34" charset="0"/>
                <a:ea typeface="Calibri" pitchFamily="34" charset="-122"/>
                <a:cs typeface="Calibri" pitchFamily="34" charset="-120"/>
              </a:rPr>
              <a:t>HTTP(S)-API passt zur Bridge, MQTT möglich</a:t>
            </a:r>
            <a:endParaRPr lang="en-US" sz="1600" dirty="0"/>
          </a:p>
        </p:txBody>
      </p:sp>
      <p:pic>
        <p:nvPicPr>
          <p:cNvPr id="20" name="Image 2" descr="Haken">    </p:cNvPr>
          <p:cNvPicPr>
            <a:picLocks noChangeAspect="1"/>
          </p:cNvPicPr>
          <p:nvPr/>
        </p:nvPicPr>
        <p:blipFill>
          <a:blip r:embed="rId3"/>
          <a:stretch>
            <a:fillRect/>
          </a:stretch>
        </p:blipFill>
        <p:spPr>
          <a:xfrm>
            <a:off x="6355080" y="4407408"/>
            <a:ext cx="292608" cy="292608"/>
          </a:xfrm>
          <a:prstGeom prst="rect">
            <a:avLst/>
          </a:prstGeom>
        </p:spPr>
      </p:pic>
      <p:sp>
        <p:nvSpPr>
          <p:cNvPr id="21" name="Text 16"/>
          <p:cNvSpPr txBox="1"/>
          <p:nvPr/>
        </p:nvSpPr>
        <p:spPr>
          <a:xfrm>
            <a:off x="6858000" y="4334256"/>
            <a:ext cx="448056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Speicherung und Visualisierung: </a:t>
            </a:r>
            <a:pPr indent="0" marL="0">
              <a:buNone/>
            </a:pPr>
            <a:r>
              <a:rPr lang="en-US" sz="1600" dirty="0">
                <a:solidFill>
                  <a:srgbClr val="B8C7D9"/>
                </a:solidFill>
                <a:latin typeface="Calibri" pitchFamily="34" charset="0"/>
                <a:ea typeface="Calibri" pitchFamily="34" charset="-122"/>
                <a:cs typeface="Calibri" pitchFamily="34" charset="-120"/>
              </a:rPr>
              <a:t>Kanal, Diagramme und MATLAB ohne eigenen Server</a:t>
            </a:r>
            <a:endParaRPr lang="en-US" sz="1600" dirty="0"/>
          </a:p>
        </p:txBody>
      </p:sp>
      <p:pic>
        <p:nvPicPr>
          <p:cNvPr id="22" name="Image 3" descr="Haken">    </p:cNvPr>
          <p:cNvPicPr>
            <a:picLocks noChangeAspect="1"/>
          </p:cNvPicPr>
          <p:nvPr/>
        </p:nvPicPr>
        <p:blipFill>
          <a:blip r:embed="rId4"/>
          <a:stretch>
            <a:fillRect/>
          </a:stretch>
        </p:blipFill>
        <p:spPr>
          <a:xfrm>
            <a:off x="6355080" y="5248656"/>
            <a:ext cx="292608" cy="292608"/>
          </a:xfrm>
          <a:prstGeom prst="rect">
            <a:avLst/>
          </a:prstGeom>
        </p:spPr>
      </p:pic>
      <p:sp>
        <p:nvSpPr>
          <p:cNvPr id="23" name="Text 17"/>
          <p:cNvSpPr txBox="1"/>
          <p:nvPr/>
        </p:nvSpPr>
        <p:spPr>
          <a:xfrm>
            <a:off x="6858000" y="5175504"/>
            <a:ext cx="4480560" cy="73152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Datenschutz: </a:t>
            </a:r>
            <a:pPr indent="0" marL="0">
              <a:buNone/>
            </a:pPr>
            <a:r>
              <a:rPr lang="en-US" sz="1600" dirty="0">
                <a:solidFill>
                  <a:srgbClr val="B8C7D9"/>
                </a:solidFill>
                <a:latin typeface="Calibri" pitchFamily="34" charset="0"/>
                <a:ea typeface="Calibri" pitchFamily="34" charset="-122"/>
                <a:cs typeface="Calibri" pitchFamily="34" charset="-120"/>
              </a:rPr>
              <a:t>Daten ohne Personenbezug, US-Server vertretbar</a:t>
            </a:r>
            <a:endParaRPr lang="en-US" sz="1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3 · NIST-KRITERIEN (SP 800-145)</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3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Die fünf Cloud-Merkmale</a:t>
            </a:r>
            <a:endParaRPr lang="en-US" sz="3600" dirty="0"/>
          </a:p>
        </p:txBody>
      </p:sp>
      <p:graphicFrame>
        <p:nvGraphicFramePr>
          <p:cNvPr id="8" name="Tabelle"/>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2651760"/>
                <a:gridCol w="4297680"/>
                <a:gridCol w="3959352"/>
              </a:tblGrid>
              <a:tr h="640080">
                <a:tc>
                  <a:txBody>
                    <a:bodyPr/>
                    <a:lstStyle/>
                    <a:p>
                      <a:pPr algn="l" indent="0" marL="0">
                        <a:buNone/>
                      </a:pPr>
                      <a:r>
                        <a:rPr lang="en-US" sz="1500" b="1" dirty="0">
                          <a:solidFill>
                            <a:srgbClr val="0E1B2C"/>
                          </a:solidFill>
                          <a:latin typeface="Calibri" pitchFamily="34" charset="0"/>
                          <a:ea typeface="Calibri" pitchFamily="34" charset="-122"/>
                          <a:cs typeface="Calibri" pitchFamily="34" charset="-120"/>
                        </a:rPr>
                        <a:t>Merkmal</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l" indent="0" marL="0">
                        <a:buNone/>
                      </a:pPr>
                      <a:r>
                        <a:rPr lang="en-US" sz="1500" b="1" dirty="0">
                          <a:solidFill>
                            <a:srgbClr val="0E1B2C"/>
                          </a:solidFill>
                          <a:latin typeface="Calibri" pitchFamily="34" charset="0"/>
                          <a:ea typeface="Calibri" pitchFamily="34" charset="-122"/>
                          <a:cs typeface="Calibri" pitchFamily="34" charset="-120"/>
                        </a:rPr>
                        <a:t>Bei uns</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c>
                  <a:txBody>
                    <a:bodyPr/>
                    <a:lstStyle/>
                    <a:p>
                      <a:pPr algn="l" indent="0" marL="0">
                        <a:buNone/>
                      </a:pPr>
                      <a:r>
                        <a:rPr lang="en-US" sz="1500" b="1" dirty="0">
                          <a:solidFill>
                            <a:srgbClr val="0E1B2C"/>
                          </a:solidFill>
                          <a:latin typeface="Calibri" pitchFamily="34" charset="0"/>
                          <a:ea typeface="Calibri" pitchFamily="34" charset="-122"/>
                          <a:cs typeface="Calibri" pitchFamily="34" charset="-120"/>
                        </a:rPr>
                        <a:t>Einschränkung</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CBDAE4"/>
                    </a:solidFill>
                  </a:tcPr>
                </a:tc>
              </a:tr>
              <a:tr h="640080">
                <a:tc>
                  <a:txBody>
                    <a:bodyPr/>
                    <a:lstStyle/>
                    <a:p>
                      <a:pPr indent="0" marL="0">
                        <a:buNone/>
                      </a:pPr>
                      <a:r>
                        <a:rPr lang="en-US" sz="1500" b="1" dirty="0">
                          <a:solidFill>
                            <a:srgbClr val="0E1B2C"/>
                          </a:solidFill>
                          <a:latin typeface="Calibri" pitchFamily="34" charset="0"/>
                          <a:ea typeface="Calibri" pitchFamily="34" charset="-122"/>
                          <a:cs typeface="Calibri" pitchFamily="34" charset="-120"/>
                        </a:rPr>
                        <a:t>On-demand Self-Service</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Konto und Kanal in Minuten selbst angelegt, ohne Vertrag</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Free-Tarif mit festen Nutzungsbedingungen</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0E1B2C"/>
                          </a:solidFill>
                          <a:latin typeface="Calibri" pitchFamily="34" charset="0"/>
                          <a:ea typeface="Calibri" pitchFamily="34" charset="-122"/>
                          <a:cs typeface="Calibri" pitchFamily="34" charset="-120"/>
                        </a:rPr>
                        <a:t>Broad Network Access</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HTTPS aus jedem Netz, Diagramme im Browser und auf dem Handy</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Der Pi braucht Internet, der Puffer überbrückt Ausfälle</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640080">
                <a:tc>
                  <a:txBody>
                    <a:bodyPr/>
                    <a:lstStyle/>
                    <a:p>
                      <a:pPr indent="0" marL="0">
                        <a:buNone/>
                      </a:pPr>
                      <a:r>
                        <a:rPr lang="en-US" sz="1500" b="1" dirty="0">
                          <a:solidFill>
                            <a:srgbClr val="0E1B2C"/>
                          </a:solidFill>
                          <a:latin typeface="Calibri" pitchFamily="34" charset="0"/>
                          <a:ea typeface="Calibri" pitchFamily="34" charset="-122"/>
                          <a:cs typeface="Calibri" pitchFamily="34" charset="-120"/>
                        </a:rPr>
                        <a:t>Resource Pooling</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Die Plattform bedient viele Kunden gemeinsam</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Nur Herstellerangabe, von uns nicht prüfbar</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0E1B2C"/>
                          </a:solidFill>
                          <a:latin typeface="Calibri" pitchFamily="34" charset="0"/>
                          <a:ea typeface="Calibri" pitchFamily="34" charset="-122"/>
                          <a:cs typeface="Calibri" pitchFamily="34" charset="-120"/>
                        </a:rPr>
                        <a:t>Rapid Elasticity</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Weitere Einheiten jederzeit zukaufbar (1 Einheit = 33 Mio. Nachrichten)</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Free: feste Limits, kein automatisches Skalieren</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4F8FA"/>
                    </a:solidFill>
                  </a:tcPr>
                </a:tc>
              </a:tr>
              <a:tr h="640080">
                <a:tc>
                  <a:txBody>
                    <a:bodyPr/>
                    <a:lstStyle/>
                    <a:p>
                      <a:pPr indent="0" marL="0">
                        <a:buNone/>
                      </a:pPr>
                      <a:r>
                        <a:rPr lang="en-US" sz="1500" b="1" dirty="0">
                          <a:solidFill>
                            <a:srgbClr val="0E1B2C"/>
                          </a:solidFill>
                          <a:latin typeface="Calibri" pitchFamily="34" charset="0"/>
                          <a:ea typeface="Calibri" pitchFamily="34" charset="-122"/>
                          <a:cs typeface="Calibri" pitchFamily="34" charset="-120"/>
                        </a:rPr>
                        <a:t>Measured Service</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Verbrauch und Restkontingent stehen unter „My Account“</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c>
                  <a:txBody>
                    <a:bodyPr/>
                    <a:lstStyle/>
                    <a:p>
                      <a:pPr indent="0" marL="0">
                        <a:buNone/>
                      </a:pPr>
                      <a:r>
                        <a:rPr lang="en-US" sz="1500" dirty="0">
                          <a:solidFill>
                            <a:srgbClr val="3E4C5E"/>
                          </a:solidFill>
                          <a:latin typeface="Calibri" pitchFamily="34" charset="0"/>
                          <a:ea typeface="Calibri" pitchFamily="34" charset="-122"/>
                          <a:cs typeface="Calibri" pitchFamily="34" charset="-120"/>
                        </a:rPr>
                        <a:t>Keine Rechnung im Free-Tarif, nur Zählung und Warnung</a:t>
                      </a:r>
                      <a:endParaRPr lang="en-US" sz="1500" dirty="0">
                        <a:latin typeface="Calibri" charset="0"/>
                        <a:ea typeface="Calibri" charset="0"/>
                        <a:cs typeface="Calibri" charset="0"/>
                      </a:endParaRPr>
                    </a:p>
                  </a:txBody>
                  <a:tcPr marL="91440" marR="91440" marT="45720" marB="45720" anchor="ctr">
                    <a:lnL w="6350" cap="flat" cmpd="sng" algn="ctr">
                      <a:solidFill>
                        <a:srgbClr val="D3DEE6"/>
                      </a:solidFill>
                      <a:prstDash val="solid"/>
                      <a:round/>
                      <a:headEnd type="none" w="med" len="med"/>
                      <a:tailEnd type="none" w="med" len="med"/>
                    </a:lnL>
                    <a:lnR w="6350" cap="flat" cmpd="sng" algn="ctr">
                      <a:solidFill>
                        <a:srgbClr val="D3DEE6"/>
                      </a:solidFill>
                      <a:prstDash val="solid"/>
                      <a:round/>
                      <a:headEnd type="none" w="med" len="med"/>
                      <a:tailEnd type="none" w="med" len="med"/>
                    </a:lnR>
                    <a:lnT w="6350" cap="flat" cmpd="sng" algn="ctr">
                      <a:solidFill>
                        <a:srgbClr val="D3DEE6"/>
                      </a:solidFill>
                      <a:prstDash val="solid"/>
                      <a:round/>
                      <a:headEnd type="none" w="med" len="med"/>
                      <a:tailEnd type="none" w="med" len="med"/>
                    </a:lnT>
                    <a:lnB w="6350" cap="flat" cmpd="sng" algn="ctr">
                      <a:solidFill>
                        <a:srgbClr val="D3DE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4 · EINORDNUNG IAAS, PAAS ODER SAAS</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4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IaaS, PaaS oder SaaS?</a:t>
            </a:r>
            <a:endParaRPr lang="en-US" sz="3600" dirty="0"/>
          </a:p>
        </p:txBody>
      </p:sp>
      <p:sp>
        <p:nvSpPr>
          <p:cNvPr id="6" name="Karte"/>
          <p:cNvSpPr/>
          <p:nvPr/>
        </p:nvSpPr>
        <p:spPr>
          <a:xfrm>
            <a:off x="640080" y="1783080"/>
            <a:ext cx="3429000" cy="3246120"/>
          </a:xfrm>
          <a:prstGeom prst="roundRect">
            <a:avLst>
              <a:gd name="adj" fmla="val 3380"/>
            </a:avLst>
          </a:prstGeom>
          <a:solidFill>
            <a:srgbClr val="FFFFFF"/>
          </a:solidFill>
          <a:ln w="9525">
            <a:solidFill>
              <a:srgbClr val="D3DEE6"/>
            </a:solidFill>
            <a:prstDash val="solid"/>
          </a:ln>
        </p:spPr>
      </p:sp>
      <p:sp>
        <p:nvSpPr>
          <p:cNvPr id="7" name="Status"/>
          <p:cNvSpPr/>
          <p:nvPr/>
        </p:nvSpPr>
        <p:spPr>
          <a:xfrm>
            <a:off x="914400" y="1965960"/>
            <a:ext cx="1005840" cy="310896"/>
          </a:xfrm>
          <a:prstGeom prst="roundRect">
            <a:avLst>
              <a:gd name="adj" fmla="val 50000"/>
            </a:avLst>
          </a:prstGeom>
          <a:solidFill>
            <a:srgbClr val="E6EEF3"/>
          </a:solidFill>
          <a:ln/>
        </p:spPr>
        <p:txBody>
          <a:bodyPr wrap="square" lIns="0" tIns="0" rIns="0" bIns="0" rtlCol="0" anchor="ctr"/>
          <a:lstStyle/>
          <a:p>
            <a:pPr algn="ctr" indent="0" marL="0">
              <a:buNone/>
            </a:pPr>
            <a:r>
              <a:rPr lang="en-US" sz="1200" b="1" dirty="0">
                <a:solidFill>
                  <a:srgbClr val="3E4C5E"/>
                </a:solidFill>
                <a:latin typeface="Calibri" pitchFamily="34" charset="0"/>
                <a:ea typeface="Calibri" pitchFamily="34" charset="-122"/>
                <a:cs typeface="Calibri" pitchFamily="34" charset="-120"/>
              </a:rPr>
              <a:t>IAAS</a:t>
            </a:r>
            <a:endParaRPr lang="en-US" sz="1200" dirty="0"/>
          </a:p>
        </p:txBody>
      </p:sp>
      <p:sp>
        <p:nvSpPr>
          <p:cNvPr id="8" name="Text 6"/>
          <p:cNvSpPr txBox="1"/>
          <p:nvPr/>
        </p:nvSpPr>
        <p:spPr>
          <a:xfrm>
            <a:off x="914400" y="2423160"/>
            <a:ext cx="288036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Eigene VM</a:t>
            </a:r>
            <a:endParaRPr lang="en-US" sz="2200" dirty="0"/>
          </a:p>
        </p:txBody>
      </p:sp>
      <p:sp>
        <p:nvSpPr>
          <p:cNvPr id="9" name="Text 7"/>
          <p:cNvSpPr txBox="1"/>
          <p:nvPr/>
        </p:nvSpPr>
        <p:spPr>
          <a:xfrm>
            <a:off x="914400" y="2926080"/>
            <a:ext cx="288036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Mosquitto, InfluxDB und Grafana auf gemieteter Infrastruktur</a:t>
            </a:r>
            <a:endParaRPr lang="en-US" sz="1400" dirty="0"/>
          </a:p>
        </p:txBody>
      </p:sp>
      <p:sp>
        <p:nvSpPr>
          <p:cNvPr id="10" name="Text 8"/>
          <p:cNvSpPr txBox="1"/>
          <p:nvPr/>
        </p:nvSpPr>
        <p:spPr>
          <a:xfrm>
            <a:off x="914400" y="370332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Wir: </a:t>
            </a:r>
            <a:pPr indent="0" marL="0">
              <a:buNone/>
            </a:pPr>
            <a:r>
              <a:rPr lang="en-US" sz="1400" dirty="0">
                <a:solidFill>
                  <a:schemeClr val="tx2"/>
                </a:solidFill>
                <a:latin typeface="Calibri" pitchFamily="34" charset="0"/>
                <a:ea typeface="Calibri" pitchFamily="34" charset="-122"/>
                <a:cs typeface="Calibri" pitchFamily="34" charset="-120"/>
              </a:rPr>
              <a:t>Betriebssystem, Software, Updates, Backups</a:t>
            </a:r>
            <a:endParaRPr lang="en-US" sz="1400" dirty="0"/>
          </a:p>
        </p:txBody>
      </p:sp>
      <p:sp>
        <p:nvSpPr>
          <p:cNvPr id="11" name="Text 9"/>
          <p:cNvSpPr txBox="1"/>
          <p:nvPr/>
        </p:nvSpPr>
        <p:spPr>
          <a:xfrm>
            <a:off x="914400" y="434340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Anbieter: </a:t>
            </a:r>
            <a:pPr indent="0" marL="0">
              <a:buNone/>
            </a:pPr>
            <a:r>
              <a:rPr lang="en-US" sz="1400" dirty="0">
                <a:solidFill>
                  <a:schemeClr val="tx2"/>
                </a:solidFill>
                <a:latin typeface="Calibri" pitchFamily="34" charset="0"/>
                <a:ea typeface="Calibri" pitchFamily="34" charset="-122"/>
                <a:cs typeface="Calibri" pitchFamily="34" charset="-120"/>
              </a:rPr>
              <a:t>Hardware und Virtualisierung</a:t>
            </a:r>
            <a:endParaRPr lang="en-US" sz="1400" dirty="0"/>
          </a:p>
        </p:txBody>
      </p:sp>
      <p:sp>
        <p:nvSpPr>
          <p:cNvPr id="12" name="Karte"/>
          <p:cNvSpPr/>
          <p:nvPr/>
        </p:nvSpPr>
        <p:spPr>
          <a:xfrm>
            <a:off x="4379976" y="1783080"/>
            <a:ext cx="3429000" cy="3246120"/>
          </a:xfrm>
          <a:prstGeom prst="roundRect">
            <a:avLst>
              <a:gd name="adj" fmla="val 3380"/>
            </a:avLst>
          </a:prstGeom>
          <a:solidFill>
            <a:srgbClr val="FFFFFF"/>
          </a:solidFill>
          <a:ln w="9525">
            <a:solidFill>
              <a:srgbClr val="D3DEE6"/>
            </a:solidFill>
            <a:prstDash val="solid"/>
          </a:ln>
        </p:spPr>
      </p:sp>
      <p:sp>
        <p:nvSpPr>
          <p:cNvPr id="13" name="Status"/>
          <p:cNvSpPr/>
          <p:nvPr/>
        </p:nvSpPr>
        <p:spPr>
          <a:xfrm>
            <a:off x="4654296" y="1965960"/>
            <a:ext cx="1005840" cy="310896"/>
          </a:xfrm>
          <a:prstGeom prst="roundRect">
            <a:avLst>
              <a:gd name="adj" fmla="val 50000"/>
            </a:avLst>
          </a:prstGeom>
          <a:solidFill>
            <a:srgbClr val="E6EEF3"/>
          </a:solidFill>
          <a:ln/>
        </p:spPr>
        <p:txBody>
          <a:bodyPr wrap="square" lIns="0" tIns="0" rIns="0" bIns="0" rtlCol="0" anchor="ctr"/>
          <a:lstStyle/>
          <a:p>
            <a:pPr algn="ctr" indent="0" marL="0">
              <a:buNone/>
            </a:pPr>
            <a:r>
              <a:rPr lang="en-US" sz="1200" b="1" dirty="0">
                <a:solidFill>
                  <a:srgbClr val="3E4C5E"/>
                </a:solidFill>
                <a:latin typeface="Calibri" pitchFamily="34" charset="0"/>
                <a:ea typeface="Calibri" pitchFamily="34" charset="-122"/>
                <a:cs typeface="Calibri" pitchFamily="34" charset="-120"/>
              </a:rPr>
              <a:t>PAAS</a:t>
            </a:r>
            <a:endParaRPr lang="en-US" sz="1200" dirty="0"/>
          </a:p>
        </p:txBody>
      </p:sp>
      <p:sp>
        <p:nvSpPr>
          <p:cNvPr id="14" name="Text 12"/>
          <p:cNvSpPr txBox="1"/>
          <p:nvPr/>
        </p:nvSpPr>
        <p:spPr>
          <a:xfrm>
            <a:off x="4654296" y="2423160"/>
            <a:ext cx="288036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Azure IoT Hub</a:t>
            </a:r>
            <a:endParaRPr lang="en-US" sz="2200" dirty="0"/>
          </a:p>
        </p:txBody>
      </p:sp>
      <p:sp>
        <p:nvSpPr>
          <p:cNvPr id="15" name="Text 13"/>
          <p:cNvSpPr txBox="1"/>
          <p:nvPr/>
        </p:nvSpPr>
        <p:spPr>
          <a:xfrm>
            <a:off x="4654296" y="2926080"/>
            <a:ext cx="288036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Fertige Plattform für Geräte und Nachrichten</a:t>
            </a:r>
            <a:endParaRPr lang="en-US" sz="1400" dirty="0"/>
          </a:p>
        </p:txBody>
      </p:sp>
      <p:sp>
        <p:nvSpPr>
          <p:cNvPr id="16" name="Text 14"/>
          <p:cNvSpPr txBox="1"/>
          <p:nvPr/>
        </p:nvSpPr>
        <p:spPr>
          <a:xfrm>
            <a:off x="4654296" y="370332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Wir: </a:t>
            </a:r>
            <a:pPr indent="0" marL="0">
              <a:buNone/>
            </a:pPr>
            <a:r>
              <a:rPr lang="en-US" sz="1400" dirty="0">
                <a:solidFill>
                  <a:schemeClr val="tx2"/>
                </a:solidFill>
                <a:latin typeface="Calibri" pitchFamily="34" charset="0"/>
                <a:ea typeface="Calibri" pitchFamily="34" charset="-122"/>
                <a:cs typeface="Calibri" pitchFamily="34" charset="-120"/>
              </a:rPr>
              <a:t>Geräte, Routing, Auswertung</a:t>
            </a:r>
            <a:endParaRPr lang="en-US" sz="1400" dirty="0"/>
          </a:p>
        </p:txBody>
      </p:sp>
      <p:sp>
        <p:nvSpPr>
          <p:cNvPr id="17" name="Text 15"/>
          <p:cNvSpPr txBox="1"/>
          <p:nvPr/>
        </p:nvSpPr>
        <p:spPr>
          <a:xfrm>
            <a:off x="4654296" y="434340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Anbieter: </a:t>
            </a:r>
            <a:pPr indent="0" marL="0">
              <a:buNone/>
            </a:pPr>
            <a:r>
              <a:rPr lang="en-US" sz="1400" dirty="0">
                <a:solidFill>
                  <a:schemeClr val="tx2"/>
                </a:solidFill>
                <a:latin typeface="Calibri" pitchFamily="34" charset="0"/>
                <a:ea typeface="Calibri" pitchFamily="34" charset="-122"/>
                <a:cs typeface="Calibri" pitchFamily="34" charset="-120"/>
              </a:rPr>
              <a:t>Server, Betriebssystem, Plattform</a:t>
            </a:r>
            <a:endParaRPr lang="en-US" sz="1400" dirty="0"/>
          </a:p>
        </p:txBody>
      </p:sp>
      <p:sp>
        <p:nvSpPr>
          <p:cNvPr id="18" name="Karte"/>
          <p:cNvSpPr/>
          <p:nvPr/>
        </p:nvSpPr>
        <p:spPr>
          <a:xfrm>
            <a:off x="8119872" y="1783080"/>
            <a:ext cx="3429000" cy="3246120"/>
          </a:xfrm>
          <a:prstGeom prst="roundRect">
            <a:avLst>
              <a:gd name="adj" fmla="val 3380"/>
            </a:avLst>
          </a:prstGeom>
          <a:solidFill>
            <a:srgbClr val="DCEFFA"/>
          </a:solidFill>
          <a:ln w="28575">
            <a:solidFill>
              <a:srgbClr val="0B6FA4"/>
            </a:solidFill>
            <a:prstDash val="solid"/>
          </a:ln>
        </p:spPr>
      </p:sp>
      <p:sp>
        <p:nvSpPr>
          <p:cNvPr id="19" name="Status"/>
          <p:cNvSpPr/>
          <p:nvPr/>
        </p:nvSpPr>
        <p:spPr>
          <a:xfrm>
            <a:off x="8394192" y="1965960"/>
            <a:ext cx="2377440" cy="310896"/>
          </a:xfrm>
          <a:prstGeom prst="roundRect">
            <a:avLst>
              <a:gd name="adj" fmla="val 50000"/>
            </a:avLst>
          </a:prstGeom>
          <a:solidFill>
            <a:srgbClr val="0B6FA4"/>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SAAS · UNSERE LÖSUNG</a:t>
            </a:r>
            <a:endParaRPr lang="en-US" sz="1200" dirty="0"/>
          </a:p>
        </p:txBody>
      </p:sp>
      <p:sp>
        <p:nvSpPr>
          <p:cNvPr id="20" name="Text 18"/>
          <p:cNvSpPr txBox="1"/>
          <p:nvPr/>
        </p:nvSpPr>
        <p:spPr>
          <a:xfrm>
            <a:off x="8394192" y="2423160"/>
            <a:ext cx="288036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ThingSpeak</a:t>
            </a:r>
            <a:endParaRPr lang="en-US" sz="2200" dirty="0"/>
          </a:p>
        </p:txBody>
      </p:sp>
      <p:sp>
        <p:nvSpPr>
          <p:cNvPr id="21" name="Text 19"/>
          <p:cNvSpPr txBox="1"/>
          <p:nvPr/>
        </p:nvSpPr>
        <p:spPr>
          <a:xfrm>
            <a:off x="8394192" y="2926080"/>
            <a:ext cx="288036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Fertige Anwendung im Browser</a:t>
            </a:r>
            <a:endParaRPr lang="en-US" sz="1400" dirty="0"/>
          </a:p>
        </p:txBody>
      </p:sp>
      <p:sp>
        <p:nvSpPr>
          <p:cNvPr id="22" name="Text 20"/>
          <p:cNvSpPr txBox="1"/>
          <p:nvPr/>
        </p:nvSpPr>
        <p:spPr>
          <a:xfrm>
            <a:off x="8394192" y="370332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Wir: </a:t>
            </a:r>
            <a:pPr indent="0" marL="0">
              <a:buNone/>
            </a:pPr>
            <a:r>
              <a:rPr lang="en-US" sz="1400" dirty="0">
                <a:solidFill>
                  <a:schemeClr val="tx2"/>
                </a:solidFill>
                <a:latin typeface="Calibri" pitchFamily="34" charset="0"/>
                <a:ea typeface="Calibri" pitchFamily="34" charset="-122"/>
                <a:cs typeface="Calibri" pitchFamily="34" charset="-120"/>
              </a:rPr>
              <a:t>nur Kanal und Daten</a:t>
            </a:r>
            <a:endParaRPr lang="en-US" sz="1400" dirty="0"/>
          </a:p>
        </p:txBody>
      </p:sp>
      <p:sp>
        <p:nvSpPr>
          <p:cNvPr id="23" name="Text 21"/>
          <p:cNvSpPr txBox="1"/>
          <p:nvPr/>
        </p:nvSpPr>
        <p:spPr>
          <a:xfrm>
            <a:off x="8394192" y="4343400"/>
            <a:ext cx="2880360"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Anbieter: </a:t>
            </a:r>
            <a:pPr indent="0" marL="0">
              <a:buNone/>
            </a:pPr>
            <a:r>
              <a:rPr lang="en-US" sz="1400" dirty="0">
                <a:solidFill>
                  <a:schemeClr val="tx2"/>
                </a:solidFill>
                <a:latin typeface="Calibri" pitchFamily="34" charset="0"/>
                <a:ea typeface="Calibri" pitchFamily="34" charset="-122"/>
                <a:cs typeface="Calibri" pitchFamily="34" charset="-120"/>
              </a:rPr>
              <a:t>alles andere</a:t>
            </a:r>
            <a:endParaRPr lang="en-US" sz="1400" dirty="0"/>
          </a:p>
        </p:txBody>
      </p:sp>
      <p:sp>
        <p:nvSpPr>
          <p:cNvPr id="24" name="Text 22"/>
          <p:cNvSpPr txBox="1"/>
          <p:nvPr/>
        </p:nvSpPr>
        <p:spPr>
          <a:xfrm>
            <a:off x="640080" y="5303520"/>
            <a:ext cx="10908792" cy="73152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Unsere Einordnung: SaaS. </a:t>
            </a:r>
            <a:pPr indent="0" marL="0">
              <a:buNone/>
            </a:pPr>
            <a:r>
              <a:rPr lang="en-US" sz="1800" dirty="0">
                <a:solidFill>
                  <a:schemeClr val="tx1"/>
                </a:solidFill>
                <a:latin typeface="Calibri" pitchFamily="34" charset="0"/>
                <a:ea typeface="Calibri" pitchFamily="34" charset="-122"/>
                <a:cs typeface="Calibri" pitchFamily="34" charset="-120"/>
              </a:rPr>
              <a:t>Wir konfigurieren eine fertige Anwendung. Die MATLAB-Auswertungen laufen als Zusatz innerhalb dieser Anwendung.</a:t>
            </a:r>
            <a:endParaRPr lang="en-US" sz="18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5 · DATENSICHERHEIT UND DSGVO</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5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Datensicherheit und DSGVO</a:t>
            </a:r>
            <a:endParaRPr lang="en-US" sz="3600" dirty="0"/>
          </a:p>
        </p:txBody>
      </p:sp>
      <p:sp>
        <p:nvSpPr>
          <p:cNvPr id="6" name="Karte"/>
          <p:cNvSpPr/>
          <p:nvPr/>
        </p:nvSpPr>
        <p:spPr>
          <a:xfrm>
            <a:off x="640080" y="1737360"/>
            <a:ext cx="3429000" cy="3611880"/>
          </a:xfrm>
          <a:prstGeom prst="roundRect">
            <a:avLst>
              <a:gd name="adj" fmla="val 3200"/>
            </a:avLst>
          </a:prstGeom>
          <a:solidFill>
            <a:srgbClr val="FFFFFF"/>
          </a:solidFill>
          <a:ln w="9525">
            <a:solidFill>
              <a:srgbClr val="D3DEE6"/>
            </a:solidFill>
            <a:prstDash val="solid"/>
          </a:ln>
        </p:spPr>
      </p:sp>
      <p:sp>
        <p:nvSpPr>
          <p:cNvPr id="7" name="Icon-Kreis"/>
          <p:cNvSpPr/>
          <p:nvPr/>
        </p:nvSpPr>
        <p:spPr>
          <a:xfrm>
            <a:off x="914400" y="1920240"/>
            <a:ext cx="457200" cy="457200"/>
          </a:xfrm>
          <a:prstGeom prst="ellipse">
            <a:avLst/>
          </a:prstGeom>
          <a:solidFill>
            <a:srgbClr val="E6EEF3"/>
          </a:solidFill>
          <a:ln w="12700">
            <a:solidFill>
              <a:srgbClr val="E6EEF3"/>
            </a:solidFill>
            <a:prstDash val="solid"/>
          </a:ln>
        </p:spPr>
      </p:sp>
      <p:pic>
        <p:nvPicPr>
          <p:cNvPr id="8" name="Image 0" descr="FaDatabase">    </p:cNvPr>
          <p:cNvPicPr>
            <a:picLocks noChangeAspect="1"/>
          </p:cNvPicPr>
          <p:nvPr/>
        </p:nvPicPr>
        <p:blipFill>
          <a:blip r:embed="rId1"/>
          <a:stretch>
            <a:fillRect/>
          </a:stretch>
        </p:blipFill>
        <p:spPr>
          <a:xfrm>
            <a:off x="1014984" y="2020824"/>
            <a:ext cx="256032" cy="256032"/>
          </a:xfrm>
          <a:prstGeom prst="rect">
            <a:avLst/>
          </a:prstGeom>
        </p:spPr>
      </p:pic>
      <p:sp>
        <p:nvSpPr>
          <p:cNvPr id="9" name="Text 6"/>
          <p:cNvSpPr txBox="1"/>
          <p:nvPr/>
        </p:nvSpPr>
        <p:spPr>
          <a:xfrm>
            <a:off x="1508760" y="1984248"/>
            <a:ext cx="2377440" cy="3657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Welche Daten?</a:t>
            </a:r>
            <a:endParaRPr lang="en-US" sz="2000" dirty="0"/>
          </a:p>
        </p:txBody>
      </p:sp>
      <p:sp>
        <p:nvSpPr>
          <p:cNvPr id="10" name="Karte"/>
          <p:cNvSpPr/>
          <p:nvPr/>
        </p:nvSpPr>
        <p:spPr>
          <a:xfrm>
            <a:off x="4379976" y="1737360"/>
            <a:ext cx="3429000" cy="3611880"/>
          </a:xfrm>
          <a:prstGeom prst="roundRect">
            <a:avLst>
              <a:gd name="adj" fmla="val 3200"/>
            </a:avLst>
          </a:prstGeom>
          <a:solidFill>
            <a:srgbClr val="FFFFFF"/>
          </a:solidFill>
          <a:ln w="9525">
            <a:solidFill>
              <a:srgbClr val="D3DEE6"/>
            </a:solidFill>
            <a:prstDash val="solid"/>
          </a:ln>
        </p:spPr>
      </p:sp>
      <p:sp>
        <p:nvSpPr>
          <p:cNvPr id="11" name="Icon-Kreis"/>
          <p:cNvSpPr/>
          <p:nvPr/>
        </p:nvSpPr>
        <p:spPr>
          <a:xfrm>
            <a:off x="4654296" y="1920240"/>
            <a:ext cx="457200" cy="457200"/>
          </a:xfrm>
          <a:prstGeom prst="ellipse">
            <a:avLst/>
          </a:prstGeom>
          <a:solidFill>
            <a:srgbClr val="E6EEF3"/>
          </a:solidFill>
          <a:ln w="12700">
            <a:solidFill>
              <a:srgbClr val="E6EEF3"/>
            </a:solidFill>
            <a:prstDash val="solid"/>
          </a:ln>
        </p:spPr>
      </p:sp>
      <p:pic>
        <p:nvPicPr>
          <p:cNvPr id="12" name="Image 1" descr="FaExclamationTriangle">    </p:cNvPr>
          <p:cNvPicPr>
            <a:picLocks noChangeAspect="1"/>
          </p:cNvPicPr>
          <p:nvPr/>
        </p:nvPicPr>
        <p:blipFill>
          <a:blip r:embed="rId2"/>
          <a:stretch>
            <a:fillRect/>
          </a:stretch>
        </p:blipFill>
        <p:spPr>
          <a:xfrm>
            <a:off x="4754880" y="2020824"/>
            <a:ext cx="256032" cy="256032"/>
          </a:xfrm>
          <a:prstGeom prst="rect">
            <a:avLst/>
          </a:prstGeom>
        </p:spPr>
      </p:pic>
      <p:sp>
        <p:nvSpPr>
          <p:cNvPr id="13" name="Text 9"/>
          <p:cNvSpPr txBox="1"/>
          <p:nvPr/>
        </p:nvSpPr>
        <p:spPr>
          <a:xfrm>
            <a:off x="5248656" y="1984248"/>
            <a:ext cx="2377440" cy="3657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Risiken</a:t>
            </a:r>
            <a:endParaRPr lang="en-US" sz="2000" dirty="0"/>
          </a:p>
        </p:txBody>
      </p:sp>
      <p:sp>
        <p:nvSpPr>
          <p:cNvPr id="14" name="Karte"/>
          <p:cNvSpPr/>
          <p:nvPr/>
        </p:nvSpPr>
        <p:spPr>
          <a:xfrm>
            <a:off x="8119872" y="1737360"/>
            <a:ext cx="3429000" cy="3611880"/>
          </a:xfrm>
          <a:prstGeom prst="roundRect">
            <a:avLst>
              <a:gd name="adj" fmla="val 3200"/>
            </a:avLst>
          </a:prstGeom>
          <a:solidFill>
            <a:srgbClr val="FFFFFF"/>
          </a:solidFill>
          <a:ln w="9525">
            <a:solidFill>
              <a:srgbClr val="D3DEE6"/>
            </a:solidFill>
            <a:prstDash val="solid"/>
          </a:ln>
        </p:spPr>
      </p:sp>
      <p:sp>
        <p:nvSpPr>
          <p:cNvPr id="15" name="Icon-Kreis"/>
          <p:cNvSpPr/>
          <p:nvPr/>
        </p:nvSpPr>
        <p:spPr>
          <a:xfrm>
            <a:off x="8394192" y="1920240"/>
            <a:ext cx="457200" cy="457200"/>
          </a:xfrm>
          <a:prstGeom prst="ellipse">
            <a:avLst/>
          </a:prstGeom>
          <a:solidFill>
            <a:srgbClr val="E6EEF3"/>
          </a:solidFill>
          <a:ln w="12700">
            <a:solidFill>
              <a:srgbClr val="E6EEF3"/>
            </a:solidFill>
            <a:prstDash val="solid"/>
          </a:ln>
        </p:spPr>
      </p:sp>
      <p:pic>
        <p:nvPicPr>
          <p:cNvPr id="16" name="Image 2" descr="FaLock">    </p:cNvPr>
          <p:cNvPicPr>
            <a:picLocks noChangeAspect="1"/>
          </p:cNvPicPr>
          <p:nvPr/>
        </p:nvPicPr>
        <p:blipFill>
          <a:blip r:embed="rId3"/>
          <a:stretch>
            <a:fillRect/>
          </a:stretch>
        </p:blipFill>
        <p:spPr>
          <a:xfrm>
            <a:off x="8494776" y="2020824"/>
            <a:ext cx="256032" cy="256032"/>
          </a:xfrm>
          <a:prstGeom prst="rect">
            <a:avLst/>
          </a:prstGeom>
        </p:spPr>
      </p:pic>
      <p:sp>
        <p:nvSpPr>
          <p:cNvPr id="17" name="Text 12"/>
          <p:cNvSpPr txBox="1"/>
          <p:nvPr/>
        </p:nvSpPr>
        <p:spPr>
          <a:xfrm>
            <a:off x="8988552" y="1984248"/>
            <a:ext cx="2377440" cy="36576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Maßnahmen</a:t>
            </a:r>
            <a:endParaRPr lang="en-US" sz="2000" dirty="0"/>
          </a:p>
        </p:txBody>
      </p:sp>
      <p:sp>
        <p:nvSpPr>
          <p:cNvPr id="18" name="Text 13"/>
          <p:cNvSpPr txBox="1"/>
          <p:nvPr/>
        </p:nvSpPr>
        <p:spPr>
          <a:xfrm>
            <a:off x="914400" y="2606040"/>
            <a:ext cx="28803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Truck-ID</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Zwei Temperaturen und Rohwerte</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Lüfter- und Ventilwerte</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Zeitstempel (UTC)</a:t>
            </a:r>
            <a:endParaRPr lang="en-US" sz="1400" dirty="0"/>
          </a:p>
        </p:txBody>
      </p:sp>
      <p:sp>
        <p:nvSpPr>
          <p:cNvPr id="19" name="Text 14"/>
          <p:cNvSpPr txBox="1"/>
          <p:nvPr/>
        </p:nvSpPr>
        <p:spPr>
          <a:xfrm>
            <a:off x="914400" y="4114800"/>
            <a:ext cx="2880360" cy="13716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Kein Personenbezug </a:t>
            </a:r>
            <a:pPr indent="0" marL="0">
              <a:buNone/>
            </a:pPr>
            <a:r>
              <a:rPr lang="en-US" sz="1400" dirty="0">
                <a:solidFill>
                  <a:schemeClr val="tx2"/>
                </a:solidFill>
                <a:latin typeface="Calibri" pitchFamily="34" charset="0"/>
                <a:ea typeface="Calibri" pitchFamily="34" charset="-122"/>
                <a:cs typeface="Calibri" pitchFamily="34" charset="-120"/>
              </a:rPr>
              <a:t>in den Messdaten: keine Namen, kein GPS, keine Fahrer-ID. Personenbezogen sind nur die Konto-Daten des Teams.</a:t>
            </a:r>
            <a:endParaRPr lang="en-US" sz="1400" dirty="0"/>
          </a:p>
        </p:txBody>
      </p:sp>
      <p:sp>
        <p:nvSpPr>
          <p:cNvPr id="20" name="Text 15"/>
          <p:cNvSpPr txBox="1"/>
          <p:nvPr/>
        </p:nvSpPr>
        <p:spPr>
          <a:xfrm>
            <a:off x="4654296" y="2606040"/>
            <a:ext cx="288036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Speicherort laut MathWorks weltweit, USA: Drittlandübermittlung (DSGVO Kap. V)</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Truck-ID plus Zeit ließe sich mit Fahrern verknüpfen</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Kanal öffentlich: Verlauf und Betriebszeiten für alle sichtbar</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Kein Löschschutz; Kontingent leer = keine neuen Daten</a:t>
            </a:r>
            <a:endParaRPr lang="en-US" sz="1400" dirty="0"/>
          </a:p>
        </p:txBody>
      </p:sp>
      <p:sp>
        <p:nvSpPr>
          <p:cNvPr id="21" name="Text 16"/>
          <p:cNvSpPr txBox="1"/>
          <p:nvPr/>
        </p:nvSpPr>
        <p:spPr>
          <a:xfrm>
            <a:off x="8394192" y="2606040"/>
            <a:ext cx="288036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Nur nötige Daten, kein GPS; Schreiben nur mit geheimem Key</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Kanal bewusst öffentlich: nur nicht-sensible Daten, Prüfer sehen den Verlauf</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HTTPS, getrennte Keys (erneuert), Original bleibt lokal, Aufbewahrung 12 Monate</a:t>
            </a:r>
            <a:endParaRPr lang="en-US" sz="1400" dirty="0"/>
          </a:p>
          <a:p>
            <a:pPr marL="342900" indent="-342900">
              <a:spcAft>
                <a:spcPts val="600"/>
              </a:spcAft>
              <a:buSzPct val="100000"/>
              <a:buChar char="•"/>
            </a:pPr>
            <a:r>
              <a:rPr lang="en-US" sz="1400" dirty="0">
                <a:solidFill>
                  <a:schemeClr val="tx2"/>
                </a:solidFill>
                <a:latin typeface="Calibri" pitchFamily="34" charset="0"/>
                <a:ea typeface="Calibri" pitchFamily="34" charset="-122"/>
                <a:cs typeface="Calibri" pitchFamily="34" charset="-120"/>
              </a:rPr>
              <a:t>MathWorks ist im Data Privacy Framework aktiv gelistet (geprüft 07.10.2026)</a:t>
            </a:r>
            <a:endParaRPr lang="en-US" sz="1400" dirty="0"/>
          </a:p>
        </p:txBody>
      </p:sp>
      <p:sp>
        <p:nvSpPr>
          <p:cNvPr id="22" name="Text 17"/>
          <p:cNvSpPr txBox="1"/>
          <p:nvPr/>
        </p:nvSpPr>
        <p:spPr>
          <a:xfrm>
            <a:off x="640080" y="5532120"/>
            <a:ext cx="10908792" cy="548640"/>
          </a:xfrm>
          <a:prstGeom prst="rect">
            <a:avLst/>
          </a:prstGeom>
          <a:noFill/>
          <a:ln/>
        </p:spPr>
        <p:txBody>
          <a:bodyPr wrap="square" lIns="0" tIns="0" rIns="0" bIns="0" rtlCol="0" anchor="t"/>
          <a:lstStyle/>
          <a:p>
            <a:pPr indent="0" marL="0">
              <a:buNone/>
            </a:pPr>
            <a:r>
              <a:rPr lang="en-US" sz="1500" b="1" dirty="0">
                <a:solidFill>
                  <a:schemeClr val="tx1"/>
                </a:solidFill>
                <a:latin typeface="Calibri" pitchFamily="34" charset="0"/>
                <a:ea typeface="Calibri" pitchFamily="34" charset="-122"/>
                <a:cs typeface="Calibri" pitchFamily="34" charset="-120"/>
              </a:rPr>
              <a:t>Einschätzung: </a:t>
            </a:r>
            <a:pPr indent="0" marL="0">
              <a:buNone/>
            </a:pPr>
            <a:r>
              <a:rPr lang="en-US" sz="1500" dirty="0">
                <a:solidFill>
                  <a:schemeClr val="tx1"/>
                </a:solidFill>
                <a:latin typeface="Calibri" pitchFamily="34" charset="0"/>
                <a:ea typeface="Calibri" pitchFamily="34" charset="-122"/>
                <a:cs typeface="Calibri" pitchFamily="34" charset="-120"/>
              </a:rPr>
              <a:t>Für den Prototyp vertretbar. Im Realbetrieb mit Fahrerdaten wären EU-Hosting, Auftragsverarbeitungsvertrag und ein Schlüssel pro Truck nötig.</a:t>
            </a:r>
            <a:endParaRPr lang="en-US" sz="15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KRITERIUM 6 · KONZEPT SICHERE DATENÜBERTRAGUNG</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10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8FA3B8"/>
                </a:solidFill>
                <a:latin typeface="Calibri" pitchFamily="34" charset="0"/>
                <a:ea typeface="Calibri" pitchFamily="34" charset="-122"/>
                <a:cs typeface="Calibri" pitchFamily="34" charset="-120"/>
              </a:rPr>
              <a:t>Kriterium 6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bg1"/>
                </a:solidFill>
                <a:latin typeface="Calibri" pitchFamily="34" charset="0"/>
                <a:ea typeface="Calibri" pitchFamily="34" charset="-122"/>
                <a:cs typeface="Calibri" pitchFamily="34" charset="-120"/>
              </a:rPr>
              <a:t>Sichere Datenübertragung</a:t>
            </a:r>
            <a:endParaRPr lang="en-US" sz="3600" dirty="0"/>
          </a:p>
        </p:txBody>
      </p:sp>
      <p:sp>
        <p:nvSpPr>
          <p:cNvPr id="6" name="Karte"/>
          <p:cNvSpPr/>
          <p:nvPr/>
        </p:nvSpPr>
        <p:spPr>
          <a:xfrm>
            <a:off x="640080" y="1783080"/>
            <a:ext cx="3520440" cy="1691640"/>
          </a:xfrm>
          <a:prstGeom prst="roundRect">
            <a:avLst>
              <a:gd name="adj" fmla="val 6486"/>
            </a:avLst>
          </a:prstGeom>
          <a:solidFill>
            <a:srgbClr val="16293F"/>
          </a:solidFill>
          <a:ln w="9525">
            <a:solidFill>
              <a:srgbClr val="27415E"/>
            </a:solidFill>
            <a:prstDash val="solid"/>
          </a:ln>
        </p:spPr>
      </p:sp>
      <p:pic>
        <p:nvPicPr>
          <p:cNvPr id="7" name="Image 0" descr="Verschlüsselt">    </p:cNvPr>
          <p:cNvPicPr>
            <a:picLocks noChangeAspect="1"/>
          </p:cNvPicPr>
          <p:nvPr/>
        </p:nvPicPr>
        <p:blipFill>
          <a:blip r:embed="rId1"/>
          <a:stretch>
            <a:fillRect/>
          </a:stretch>
        </p:blipFill>
        <p:spPr>
          <a:xfrm>
            <a:off x="896112" y="2011680"/>
            <a:ext cx="411480" cy="411480"/>
          </a:xfrm>
          <a:prstGeom prst="rect">
            <a:avLst/>
          </a:prstGeom>
        </p:spPr>
      </p:pic>
      <p:sp>
        <p:nvSpPr>
          <p:cNvPr id="8" name="Text 5"/>
          <p:cNvSpPr txBox="1"/>
          <p:nvPr/>
        </p:nvSpPr>
        <p:spPr>
          <a:xfrm>
            <a:off x="1463040" y="203911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Verschlüsselt</a:t>
            </a:r>
            <a:endParaRPr lang="en-US" sz="1800" dirty="0"/>
          </a:p>
        </p:txBody>
      </p:sp>
      <p:sp>
        <p:nvSpPr>
          <p:cNvPr id="9" name="Text 6"/>
          <p:cNvSpPr txBox="1"/>
          <p:nvPr/>
        </p:nvSpPr>
        <p:spPr>
          <a:xfrm>
            <a:off x="896112" y="256032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HTTPS/TLS zwischen Pi und Cloud, kein Klartext im Netz</a:t>
            </a:r>
            <a:endParaRPr lang="en-US" sz="1400" dirty="0"/>
          </a:p>
        </p:txBody>
      </p:sp>
      <p:sp>
        <p:nvSpPr>
          <p:cNvPr id="10" name="Karte"/>
          <p:cNvSpPr/>
          <p:nvPr/>
        </p:nvSpPr>
        <p:spPr>
          <a:xfrm>
            <a:off x="4334256" y="1783080"/>
            <a:ext cx="3520440" cy="1691640"/>
          </a:xfrm>
          <a:prstGeom prst="roundRect">
            <a:avLst>
              <a:gd name="adj" fmla="val 6486"/>
            </a:avLst>
          </a:prstGeom>
          <a:solidFill>
            <a:srgbClr val="16293F"/>
          </a:solidFill>
          <a:ln w="9525">
            <a:solidFill>
              <a:srgbClr val="27415E"/>
            </a:solidFill>
            <a:prstDash val="solid"/>
          </a:ln>
        </p:spPr>
      </p:sp>
      <p:pic>
        <p:nvPicPr>
          <p:cNvPr id="11" name="Image 1" descr="Authentifiziert">    </p:cNvPr>
          <p:cNvPicPr>
            <a:picLocks noChangeAspect="1"/>
          </p:cNvPicPr>
          <p:nvPr/>
        </p:nvPicPr>
        <p:blipFill>
          <a:blip r:embed="rId2"/>
          <a:stretch>
            <a:fillRect/>
          </a:stretch>
        </p:blipFill>
        <p:spPr>
          <a:xfrm>
            <a:off x="4590288" y="2011680"/>
            <a:ext cx="411480" cy="411480"/>
          </a:xfrm>
          <a:prstGeom prst="rect">
            <a:avLst/>
          </a:prstGeom>
        </p:spPr>
      </p:pic>
      <p:sp>
        <p:nvSpPr>
          <p:cNvPr id="12" name="Text 8"/>
          <p:cNvSpPr txBox="1"/>
          <p:nvPr/>
        </p:nvSpPr>
        <p:spPr>
          <a:xfrm>
            <a:off x="5157216" y="203911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Authentifiziert</a:t>
            </a:r>
            <a:endParaRPr lang="en-US" sz="1800" dirty="0"/>
          </a:p>
        </p:txBody>
      </p:sp>
      <p:sp>
        <p:nvSpPr>
          <p:cNvPr id="13" name="Text 9"/>
          <p:cNvSpPr txBox="1"/>
          <p:nvPr/>
        </p:nvSpPr>
        <p:spPr>
          <a:xfrm>
            <a:off x="4590288" y="256032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Write API Key nur auf dem Pi, Keys bereits erneuert</a:t>
            </a:r>
            <a:endParaRPr lang="en-US" sz="1400" dirty="0"/>
          </a:p>
        </p:txBody>
      </p:sp>
      <p:sp>
        <p:nvSpPr>
          <p:cNvPr id="14" name="Karte"/>
          <p:cNvSpPr/>
          <p:nvPr/>
        </p:nvSpPr>
        <p:spPr>
          <a:xfrm>
            <a:off x="8028432" y="1783080"/>
            <a:ext cx="3520440" cy="1691640"/>
          </a:xfrm>
          <a:prstGeom prst="roundRect">
            <a:avLst>
              <a:gd name="adj" fmla="val 6486"/>
            </a:avLst>
          </a:prstGeom>
          <a:solidFill>
            <a:srgbClr val="16293F"/>
          </a:solidFill>
          <a:ln w="9525">
            <a:solidFill>
              <a:srgbClr val="27415E"/>
            </a:solidFill>
            <a:prstDash val="solid"/>
          </a:ln>
        </p:spPr>
      </p:sp>
      <p:pic>
        <p:nvPicPr>
          <p:cNvPr id="15" name="Image 2" descr="Geheimnisse geschützt">    </p:cNvPr>
          <p:cNvPicPr>
            <a:picLocks noChangeAspect="1"/>
          </p:cNvPicPr>
          <p:nvPr/>
        </p:nvPicPr>
        <p:blipFill>
          <a:blip r:embed="rId3"/>
          <a:stretch>
            <a:fillRect/>
          </a:stretch>
        </p:blipFill>
        <p:spPr>
          <a:xfrm>
            <a:off x="8284464" y="2011680"/>
            <a:ext cx="411480" cy="411480"/>
          </a:xfrm>
          <a:prstGeom prst="rect">
            <a:avLst/>
          </a:prstGeom>
        </p:spPr>
      </p:pic>
      <p:sp>
        <p:nvSpPr>
          <p:cNvPr id="16" name="Text 11"/>
          <p:cNvSpPr txBox="1"/>
          <p:nvPr/>
        </p:nvSpPr>
        <p:spPr>
          <a:xfrm>
            <a:off x="8851392" y="203911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Geheimnisse geschützt</a:t>
            </a:r>
            <a:endParaRPr lang="en-US" sz="1800" dirty="0"/>
          </a:p>
        </p:txBody>
      </p:sp>
      <p:sp>
        <p:nvSpPr>
          <p:cNvPr id="17" name="Text 12"/>
          <p:cNvSpPr txBox="1"/>
          <p:nvPr/>
        </p:nvSpPr>
        <p:spPr>
          <a:xfrm>
            <a:off x="8284464" y="256032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Keys in .env (chmod 600), nie im Git-Repository</a:t>
            </a:r>
            <a:endParaRPr lang="en-US" sz="1400" dirty="0"/>
          </a:p>
        </p:txBody>
      </p:sp>
      <p:sp>
        <p:nvSpPr>
          <p:cNvPr id="18" name="Karte"/>
          <p:cNvSpPr/>
          <p:nvPr/>
        </p:nvSpPr>
        <p:spPr>
          <a:xfrm>
            <a:off x="640080" y="3657600"/>
            <a:ext cx="3520440" cy="1691640"/>
          </a:xfrm>
          <a:prstGeom prst="roundRect">
            <a:avLst>
              <a:gd name="adj" fmla="val 6486"/>
            </a:avLst>
          </a:prstGeom>
          <a:solidFill>
            <a:srgbClr val="16293F"/>
          </a:solidFill>
          <a:ln w="9525">
            <a:solidFill>
              <a:srgbClr val="27415E"/>
            </a:solidFill>
            <a:prstDash val="solid"/>
          </a:ln>
        </p:spPr>
      </p:sp>
      <p:pic>
        <p:nvPicPr>
          <p:cNvPr id="19" name="Image 3" descr="Vollständig">    </p:cNvPr>
          <p:cNvPicPr>
            <a:picLocks noChangeAspect="1"/>
          </p:cNvPicPr>
          <p:nvPr/>
        </p:nvPicPr>
        <p:blipFill>
          <a:blip r:embed="rId4"/>
          <a:stretch>
            <a:fillRect/>
          </a:stretch>
        </p:blipFill>
        <p:spPr>
          <a:xfrm>
            <a:off x="896112" y="3886200"/>
            <a:ext cx="411480" cy="411480"/>
          </a:xfrm>
          <a:prstGeom prst="rect">
            <a:avLst/>
          </a:prstGeom>
        </p:spPr>
      </p:pic>
      <p:sp>
        <p:nvSpPr>
          <p:cNvPr id="20" name="Text 14"/>
          <p:cNvSpPr txBox="1"/>
          <p:nvPr/>
        </p:nvSpPr>
        <p:spPr>
          <a:xfrm>
            <a:off x="1463040" y="391363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Vollständig</a:t>
            </a:r>
            <a:endParaRPr lang="en-US" sz="1800" dirty="0"/>
          </a:p>
        </p:txBody>
      </p:sp>
      <p:sp>
        <p:nvSpPr>
          <p:cNvPr id="21" name="Text 15"/>
          <p:cNvSpPr txBox="1"/>
          <p:nvPr/>
        </p:nvSpPr>
        <p:spPr>
          <a:xfrm>
            <a:off x="896112" y="443484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Lokale ID je Messung, Cursor erst nach erfolgreichem Upload</a:t>
            </a:r>
            <a:endParaRPr lang="en-US" sz="1400" dirty="0"/>
          </a:p>
        </p:txBody>
      </p:sp>
      <p:sp>
        <p:nvSpPr>
          <p:cNvPr id="22" name="Karte"/>
          <p:cNvSpPr/>
          <p:nvPr/>
        </p:nvSpPr>
        <p:spPr>
          <a:xfrm>
            <a:off x="4334256" y="3657600"/>
            <a:ext cx="3520440" cy="1691640"/>
          </a:xfrm>
          <a:prstGeom prst="roundRect">
            <a:avLst>
              <a:gd name="adj" fmla="val 6486"/>
            </a:avLst>
          </a:prstGeom>
          <a:solidFill>
            <a:srgbClr val="16293F"/>
          </a:solidFill>
          <a:ln w="9525">
            <a:solidFill>
              <a:srgbClr val="27415E"/>
            </a:solidFill>
            <a:prstDash val="solid"/>
          </a:ln>
        </p:spPr>
      </p:sp>
      <p:pic>
        <p:nvPicPr>
          <p:cNvPr id="23" name="Image 4" descr="Nachweisbar">    </p:cNvPr>
          <p:cNvPicPr>
            <a:picLocks noChangeAspect="1"/>
          </p:cNvPicPr>
          <p:nvPr/>
        </p:nvPicPr>
        <p:blipFill>
          <a:blip r:embed="rId5"/>
          <a:stretch>
            <a:fillRect/>
          </a:stretch>
        </p:blipFill>
        <p:spPr>
          <a:xfrm>
            <a:off x="4590288" y="3886200"/>
            <a:ext cx="411480" cy="411480"/>
          </a:xfrm>
          <a:prstGeom prst="rect">
            <a:avLst/>
          </a:prstGeom>
        </p:spPr>
      </p:pic>
      <p:sp>
        <p:nvSpPr>
          <p:cNvPr id="24" name="Text 17"/>
          <p:cNvSpPr txBox="1"/>
          <p:nvPr/>
        </p:nvSpPr>
        <p:spPr>
          <a:xfrm>
            <a:off x="5157216" y="391363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Nachweisbar</a:t>
            </a:r>
            <a:endParaRPr lang="en-US" sz="1800" dirty="0"/>
          </a:p>
        </p:txBody>
      </p:sp>
      <p:sp>
        <p:nvSpPr>
          <p:cNvPr id="25" name="Text 18"/>
          <p:cNvSpPr txBox="1"/>
          <p:nvPr/>
        </p:nvSpPr>
        <p:spPr>
          <a:xfrm>
            <a:off x="4590288" y="443484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UTC-Zeitstempel je Messung, Pi-Zeit per NTP synchronisiert</a:t>
            </a:r>
            <a:endParaRPr lang="en-US" sz="1400" dirty="0"/>
          </a:p>
        </p:txBody>
      </p:sp>
      <p:sp>
        <p:nvSpPr>
          <p:cNvPr id="26" name="Karte"/>
          <p:cNvSpPr/>
          <p:nvPr/>
        </p:nvSpPr>
        <p:spPr>
          <a:xfrm>
            <a:off x="8028432" y="3657600"/>
            <a:ext cx="3520440" cy="1691640"/>
          </a:xfrm>
          <a:prstGeom prst="roundRect">
            <a:avLst>
              <a:gd name="adj" fmla="val 6486"/>
            </a:avLst>
          </a:prstGeom>
          <a:solidFill>
            <a:srgbClr val="16293F"/>
          </a:solidFill>
          <a:ln w="9525">
            <a:solidFill>
              <a:srgbClr val="27415E"/>
            </a:solidFill>
            <a:prstDash val="solid"/>
          </a:ln>
        </p:spPr>
      </p:sp>
      <p:pic>
        <p:nvPicPr>
          <p:cNvPr id="27" name="Image 5" descr="Minimale Rechte">    </p:cNvPr>
          <p:cNvPicPr>
            <a:picLocks noChangeAspect="1"/>
          </p:cNvPicPr>
          <p:nvPr/>
        </p:nvPicPr>
        <p:blipFill>
          <a:blip r:embed="rId6"/>
          <a:stretch>
            <a:fillRect/>
          </a:stretch>
        </p:blipFill>
        <p:spPr>
          <a:xfrm>
            <a:off x="8284464" y="3886200"/>
            <a:ext cx="411480" cy="411480"/>
          </a:xfrm>
          <a:prstGeom prst="rect">
            <a:avLst/>
          </a:prstGeom>
        </p:spPr>
      </p:pic>
      <p:sp>
        <p:nvSpPr>
          <p:cNvPr id="28" name="Text 20"/>
          <p:cNvSpPr txBox="1"/>
          <p:nvPr/>
        </p:nvSpPr>
        <p:spPr>
          <a:xfrm>
            <a:off x="8851392" y="3913632"/>
            <a:ext cx="2560320" cy="365760"/>
          </a:xfrm>
          <a:prstGeom prst="rect">
            <a:avLst/>
          </a:prstGeom>
          <a:noFill/>
          <a:ln/>
        </p:spPr>
        <p:txBody>
          <a:bodyPr wrap="square" lIns="0" tIns="0" rIns="0" bIns="0" rtlCol="0" anchor="t"/>
          <a:lstStyle/>
          <a:p>
            <a:pPr indent="0" marL="0">
              <a:buNone/>
            </a:pPr>
            <a:r>
              <a:rPr lang="en-US" sz="1800" b="1" dirty="0">
                <a:solidFill>
                  <a:schemeClr val="bg1"/>
                </a:solidFill>
                <a:latin typeface="Calibri" pitchFamily="34" charset="0"/>
                <a:ea typeface="Calibri" pitchFamily="34" charset="-122"/>
                <a:cs typeface="Calibri" pitchFamily="34" charset="-120"/>
              </a:rPr>
              <a:t>Minimale Rechte</a:t>
            </a:r>
            <a:endParaRPr lang="en-US" sz="1800" dirty="0"/>
          </a:p>
        </p:txBody>
      </p:sp>
      <p:sp>
        <p:nvSpPr>
          <p:cNvPr id="29" name="Text 21"/>
          <p:cNvSpPr txBox="1"/>
          <p:nvPr/>
        </p:nvSpPr>
        <p:spPr>
          <a:xfrm>
            <a:off x="8284464" y="4434840"/>
            <a:ext cx="3063240" cy="822960"/>
          </a:xfrm>
          <a:prstGeom prst="rect">
            <a:avLst/>
          </a:prstGeom>
          <a:noFill/>
          <a:ln/>
        </p:spPr>
        <p:txBody>
          <a:bodyPr wrap="square" lIns="0" tIns="0" rIns="0" bIns="0" rtlCol="0" anchor="t"/>
          <a:lstStyle/>
          <a:p>
            <a:pPr indent="0" marL="0">
              <a:buNone/>
            </a:pPr>
            <a:r>
              <a:rPr lang="en-US" sz="1400" dirty="0">
                <a:solidFill>
                  <a:srgbClr val="B8C7D9"/>
                </a:solidFill>
                <a:latin typeface="Calibri" pitchFamily="34" charset="0"/>
                <a:ea typeface="Calibri" pitchFamily="34" charset="-122"/>
                <a:cs typeface="Calibri" pitchFamily="34" charset="-120"/>
              </a:rPr>
              <a:t>Datenbank nur lesend, Dienst ohne Zusatzrechte</a:t>
            </a:r>
            <a:endParaRPr lang="en-US" sz="1400" dirty="0"/>
          </a:p>
        </p:txBody>
      </p:sp>
      <p:sp>
        <p:nvSpPr>
          <p:cNvPr id="30" name="Text 22"/>
          <p:cNvSpPr txBox="1"/>
          <p:nvPr/>
        </p:nvSpPr>
        <p:spPr>
          <a:xfrm>
            <a:off x="640080" y="5623560"/>
            <a:ext cx="10908792" cy="457200"/>
          </a:xfrm>
          <a:prstGeom prst="rect">
            <a:avLst/>
          </a:prstGeom>
          <a:noFill/>
          <a:ln/>
        </p:spPr>
        <p:txBody>
          <a:bodyPr wrap="square" lIns="0" tIns="0" rIns="0" bIns="0" rtlCol="0" anchor="t"/>
          <a:lstStyle/>
          <a:p>
            <a:pPr indent="0" marL="0">
              <a:buNone/>
            </a:pPr>
            <a:r>
              <a:rPr lang="en-US" sz="1600" b="1" dirty="0">
                <a:solidFill>
                  <a:srgbClr val="F59E42"/>
                </a:solidFill>
                <a:latin typeface="Calibri" pitchFamily="34" charset="0"/>
                <a:ea typeface="Calibri" pitchFamily="34" charset="-122"/>
                <a:cs typeface="Calibri" pitchFamily="34" charset="-120"/>
              </a:rPr>
              <a:t>Grenzen: </a:t>
            </a:r>
            <a:pPr indent="0" marL="0">
              <a:buNone/>
            </a:pPr>
            <a:r>
              <a:rPr lang="en-US" sz="1600" dirty="0">
                <a:solidFill>
                  <a:srgbClr val="F59E42"/>
                </a:solidFill>
                <a:latin typeface="Calibri" pitchFamily="34" charset="0"/>
                <a:ea typeface="Calibri" pitchFamily="34" charset="-122"/>
                <a:cs typeface="Calibri" pitchFamily="34" charset="-120"/>
              </a:rPr>
              <a:t>Pi-Terminal (ttyd) ohne Anmeldung · Uhr ohne Batterie · Free-Tarif ohne Löschschutz</a:t>
            </a:r>
            <a:endParaRPr lang="en-US" sz="1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7 · MESSDATEN PROTOKOLLIERT UND VISUALISIERT</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7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Messdaten in der Cloud</a:t>
            </a:r>
            <a:endParaRPr lang="en-US" sz="3600" dirty="0"/>
          </a:p>
        </p:txBody>
      </p:sp>
      <p:sp>
        <p:nvSpPr>
          <p:cNvPr id="6" name="Screenshot-Platzhalter"/>
          <p:cNvSpPr/>
          <p:nvPr/>
        </p:nvSpPr>
        <p:spPr>
          <a:xfrm>
            <a:off x="640080" y="1783080"/>
            <a:ext cx="6766560" cy="4206240"/>
          </a:xfrm>
          <a:prstGeom prst="roundRect">
            <a:avLst>
              <a:gd name="adj" fmla="val 2609"/>
            </a:avLst>
          </a:prstGeom>
          <a:solidFill>
            <a:schemeClr val="bg1"/>
          </a:solidFill>
          <a:ln w="25400">
            <a:solidFill>
              <a:schemeClr val="accent1"/>
            </a:solidFill>
            <a:prstDash val="dash"/>
          </a:ln>
        </p:spPr>
      </p:sp>
      <p:pic>
        <p:nvPicPr>
          <p:cNvPr id="7" name="Image 0" descr="Diagramm">    </p:cNvPr>
          <p:cNvPicPr>
            <a:picLocks noChangeAspect="1"/>
          </p:cNvPicPr>
          <p:nvPr/>
        </p:nvPicPr>
        <p:blipFill>
          <a:blip r:embed="rId1"/>
          <a:stretch>
            <a:fillRect/>
          </a:stretch>
        </p:blipFill>
        <p:spPr>
          <a:xfrm>
            <a:off x="3657600" y="2743200"/>
            <a:ext cx="914400" cy="914400"/>
          </a:xfrm>
          <a:prstGeom prst="rect">
            <a:avLst/>
          </a:prstGeom>
        </p:spPr>
      </p:pic>
      <p:sp>
        <p:nvSpPr>
          <p:cNvPr id="8" name="Text 5"/>
          <p:cNvSpPr txBox="1"/>
          <p:nvPr/>
        </p:nvSpPr>
        <p:spPr>
          <a:xfrm>
            <a:off x="640080" y="3886200"/>
            <a:ext cx="6766560" cy="457200"/>
          </a:xfrm>
          <a:prstGeom prst="rect">
            <a:avLst/>
          </a:prstGeom>
          <a:noFill/>
          <a:ln/>
        </p:spPr>
        <p:txBody>
          <a:bodyPr wrap="square" lIns="0" tIns="0" rIns="0" bIns="0" rtlCol="0" anchor="t"/>
          <a:lstStyle/>
          <a:p>
            <a:pPr algn="ctr" indent="0" marL="0">
              <a:buNone/>
            </a:pPr>
            <a:r>
              <a:rPr lang="en-US" sz="2000" b="1" dirty="0">
                <a:solidFill>
                  <a:schemeClr val="tx1"/>
                </a:solidFill>
                <a:latin typeface="Calibri" pitchFamily="34" charset="0"/>
                <a:ea typeface="Calibri" pitchFamily="34" charset="-122"/>
                <a:cs typeface="Calibri" pitchFamily="34" charset="-120"/>
              </a:rPr>
              <a:t>[Screenshot: ThingSpeak-Kanal mit Diagrammen]</a:t>
            </a:r>
            <a:endParaRPr lang="en-US" sz="2000" dirty="0"/>
          </a:p>
        </p:txBody>
      </p:sp>
      <p:sp>
        <p:nvSpPr>
          <p:cNvPr id="9" name="Text 6"/>
          <p:cNvSpPr txBox="1"/>
          <p:nvPr/>
        </p:nvSpPr>
        <p:spPr>
          <a:xfrm>
            <a:off x="640080" y="4389120"/>
            <a:ext cx="6766560" cy="365760"/>
          </a:xfrm>
          <a:prstGeom prst="rect">
            <a:avLst/>
          </a:prstGeom>
          <a:noFill/>
          <a:ln/>
        </p:spPr>
        <p:txBody>
          <a:bodyPr wrap="square" lIns="0" tIns="0" rIns="0" bIns="0" rtlCol="0" anchor="t"/>
          <a:lstStyle/>
          <a:p>
            <a:pPr algn="ctr" indent="0" marL="0">
              <a:buNone/>
            </a:pPr>
            <a:r>
              <a:rPr lang="en-US" sz="1500" dirty="0">
                <a:solidFill>
                  <a:schemeClr val="tx2"/>
                </a:solidFill>
                <a:latin typeface="Calibri" pitchFamily="34" charset="0"/>
                <a:ea typeface="Calibri" pitchFamily="34" charset="-122"/>
                <a:cs typeface="Calibri" pitchFamily="34" charset="-120"/>
              </a:rPr>
              <a:t>Temperaturverlauf beider Sensoren, Lüfter und Ventil</a:t>
            </a:r>
            <a:endParaRPr lang="en-US" sz="1500" dirty="0"/>
          </a:p>
        </p:txBody>
      </p:sp>
      <p:sp>
        <p:nvSpPr>
          <p:cNvPr id="10" name="Icon-Kreis"/>
          <p:cNvSpPr/>
          <p:nvPr/>
        </p:nvSpPr>
        <p:spPr>
          <a:xfrm>
            <a:off x="7772400" y="1828800"/>
            <a:ext cx="548640" cy="548640"/>
          </a:xfrm>
          <a:prstGeom prst="ellipse">
            <a:avLst/>
          </a:prstGeom>
          <a:solidFill>
            <a:srgbClr val="F4F8FA"/>
          </a:solidFill>
          <a:ln w="12700">
            <a:solidFill>
              <a:srgbClr val="F4F8FA"/>
            </a:solidFill>
            <a:prstDash val="solid"/>
          </a:ln>
        </p:spPr>
      </p:sp>
      <p:pic>
        <p:nvPicPr>
          <p:cNvPr id="11" name="Image 1" descr="FaClock">    </p:cNvPr>
          <p:cNvPicPr>
            <a:picLocks noChangeAspect="1"/>
          </p:cNvPicPr>
          <p:nvPr/>
        </p:nvPicPr>
        <p:blipFill>
          <a:blip r:embed="rId2"/>
          <a:stretch>
            <a:fillRect/>
          </a:stretch>
        </p:blipFill>
        <p:spPr>
          <a:xfrm>
            <a:off x="7893101" y="1949501"/>
            <a:ext cx="307238" cy="307238"/>
          </a:xfrm>
          <a:prstGeom prst="rect">
            <a:avLst/>
          </a:prstGeom>
        </p:spPr>
      </p:pic>
      <p:sp>
        <p:nvSpPr>
          <p:cNvPr id="12" name="Text 8"/>
          <p:cNvSpPr txBox="1"/>
          <p:nvPr/>
        </p:nvSpPr>
        <p:spPr>
          <a:xfrm>
            <a:off x="8503920" y="1810512"/>
            <a:ext cx="3017520" cy="8686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Messung alle 5 s, Upload gebündelt im 15-s-Takt</a:t>
            </a:r>
            <a:endParaRPr lang="en-US" sz="1600" dirty="0"/>
          </a:p>
        </p:txBody>
      </p:sp>
      <p:sp>
        <p:nvSpPr>
          <p:cNvPr id="13" name="Icon-Kreis"/>
          <p:cNvSpPr/>
          <p:nvPr/>
        </p:nvSpPr>
        <p:spPr>
          <a:xfrm>
            <a:off x="7772400" y="2907792"/>
            <a:ext cx="548640" cy="548640"/>
          </a:xfrm>
          <a:prstGeom prst="ellipse">
            <a:avLst/>
          </a:prstGeom>
          <a:solidFill>
            <a:srgbClr val="F4F8FA"/>
          </a:solidFill>
          <a:ln w="12700">
            <a:solidFill>
              <a:srgbClr val="F4F8FA"/>
            </a:solidFill>
            <a:prstDash val="solid"/>
          </a:ln>
        </p:spPr>
      </p:sp>
      <p:pic>
        <p:nvPicPr>
          <p:cNvPr id="14" name="Image 2" descr="FaWaveSquare">    </p:cNvPr>
          <p:cNvPicPr>
            <a:picLocks noChangeAspect="1"/>
          </p:cNvPicPr>
          <p:nvPr/>
        </p:nvPicPr>
        <p:blipFill>
          <a:blip r:embed="rId3"/>
          <a:stretch>
            <a:fillRect/>
          </a:stretch>
        </p:blipFill>
        <p:spPr>
          <a:xfrm>
            <a:off x="7893101" y="3028493"/>
            <a:ext cx="307238" cy="307238"/>
          </a:xfrm>
          <a:prstGeom prst="rect">
            <a:avLst/>
          </a:prstGeom>
        </p:spPr>
      </p:pic>
      <p:sp>
        <p:nvSpPr>
          <p:cNvPr id="15" name="Text 10"/>
          <p:cNvSpPr txBox="1"/>
          <p:nvPr/>
        </p:nvSpPr>
        <p:spPr>
          <a:xfrm>
            <a:off x="8503920" y="2889504"/>
            <a:ext cx="3017520" cy="8686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8 Felder: Temperaturen, Mittelwert, Lüfter, Ventil, Rohwerte</a:t>
            </a:r>
            <a:endParaRPr lang="en-US" sz="1600" dirty="0"/>
          </a:p>
        </p:txBody>
      </p:sp>
      <p:sp>
        <p:nvSpPr>
          <p:cNvPr id="16" name="Icon-Kreis"/>
          <p:cNvSpPr/>
          <p:nvPr/>
        </p:nvSpPr>
        <p:spPr>
          <a:xfrm>
            <a:off x="7772400" y="3986784"/>
            <a:ext cx="548640" cy="548640"/>
          </a:xfrm>
          <a:prstGeom prst="ellipse">
            <a:avLst/>
          </a:prstGeom>
          <a:solidFill>
            <a:srgbClr val="F4F8FA"/>
          </a:solidFill>
          <a:ln w="12700">
            <a:solidFill>
              <a:srgbClr val="F4F8FA"/>
            </a:solidFill>
            <a:prstDash val="solid"/>
          </a:ln>
        </p:spPr>
      </p:sp>
      <p:pic>
        <p:nvPicPr>
          <p:cNvPr id="17" name="Image 3" descr="FaBook">    </p:cNvPr>
          <p:cNvPicPr>
            <a:picLocks noChangeAspect="1"/>
          </p:cNvPicPr>
          <p:nvPr/>
        </p:nvPicPr>
        <p:blipFill>
          <a:blip r:embed="rId4"/>
          <a:stretch>
            <a:fillRect/>
          </a:stretch>
        </p:blipFill>
        <p:spPr>
          <a:xfrm>
            <a:off x="7893101" y="4107485"/>
            <a:ext cx="307238" cy="307238"/>
          </a:xfrm>
          <a:prstGeom prst="rect">
            <a:avLst/>
          </a:prstGeom>
        </p:spPr>
      </p:pic>
      <p:sp>
        <p:nvSpPr>
          <p:cNvPr id="18" name="Text 12"/>
          <p:cNvSpPr txBox="1"/>
          <p:nvPr/>
        </p:nvSpPr>
        <p:spPr>
          <a:xfrm>
            <a:off x="8503920" y="3968496"/>
            <a:ext cx="3017520" cy="8686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CSV-Export als Nachweis für Kontrollen</a:t>
            </a:r>
            <a:endParaRPr lang="en-US" sz="1600" dirty="0"/>
          </a:p>
        </p:txBody>
      </p:sp>
      <p:sp>
        <p:nvSpPr>
          <p:cNvPr id="19" name="Icon-Kreis"/>
          <p:cNvSpPr/>
          <p:nvPr/>
        </p:nvSpPr>
        <p:spPr>
          <a:xfrm>
            <a:off x="7772400" y="5065776"/>
            <a:ext cx="548640" cy="548640"/>
          </a:xfrm>
          <a:prstGeom prst="ellipse">
            <a:avLst/>
          </a:prstGeom>
          <a:solidFill>
            <a:srgbClr val="F4F8FA"/>
          </a:solidFill>
          <a:ln w="12700">
            <a:solidFill>
              <a:srgbClr val="F4F8FA"/>
            </a:solidFill>
            <a:prstDash val="solid"/>
          </a:ln>
        </p:spPr>
      </p:sp>
      <p:pic>
        <p:nvPicPr>
          <p:cNvPr id="20" name="Image 4" descr="FaGlobe">    </p:cNvPr>
          <p:cNvPicPr>
            <a:picLocks noChangeAspect="1"/>
          </p:cNvPicPr>
          <p:nvPr/>
        </p:nvPicPr>
        <p:blipFill>
          <a:blip r:embed="rId5"/>
          <a:stretch>
            <a:fillRect/>
          </a:stretch>
        </p:blipFill>
        <p:spPr>
          <a:xfrm>
            <a:off x="7893101" y="5186477"/>
            <a:ext cx="307238" cy="307238"/>
          </a:xfrm>
          <a:prstGeom prst="rect">
            <a:avLst/>
          </a:prstGeom>
        </p:spPr>
      </p:pic>
      <p:sp>
        <p:nvSpPr>
          <p:cNvPr id="21" name="Text 14"/>
          <p:cNvSpPr txBox="1"/>
          <p:nvPr/>
        </p:nvSpPr>
        <p:spPr>
          <a:xfrm>
            <a:off x="8503920" y="5047488"/>
            <a:ext cx="3017520" cy="86868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Abrufbar im Browser, von überall</a:t>
            </a:r>
            <a:endParaRPr lang="en-US" sz="1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KRITERIUM 8 · ZUSÄTZLICHE FUNKTIONEN</a:t>
            </a:r>
            <a:endParaRPr lang="en-US" sz="1200" dirty="0"/>
          </a:p>
        </p:txBody>
      </p:sp>
      <p:sp>
        <p:nvSpPr>
          <p:cNvPr id="3" name="Punkte"/>
          <p:cNvSpPr/>
          <p:nvPr/>
        </p:nvSpPr>
        <p:spPr>
          <a:xfrm>
            <a:off x="9994392" y="457200"/>
            <a:ext cx="1554480" cy="457200"/>
          </a:xfrm>
          <a:prstGeom prst="roundRect">
            <a:avLst>
              <a:gd name="adj" fmla="val 50000"/>
            </a:avLst>
          </a:prstGeom>
          <a:solidFill>
            <a:schemeClr val="accent1"/>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 Punkte</a:t>
            </a:r>
            <a:endParaRPr lang="en-US" sz="1600" dirty="0"/>
          </a:p>
        </p:txBody>
      </p:sp>
      <p:sp>
        <p:nvSpPr>
          <p:cNvPr id="4" name="Kriterium"/>
          <p:cNvSpPr txBox="1"/>
          <p:nvPr/>
        </p:nvSpPr>
        <p:spPr>
          <a:xfrm>
            <a:off x="7315200" y="6355080"/>
            <a:ext cx="3657600" cy="274320"/>
          </a:xfrm>
          <a:prstGeom prst="rect">
            <a:avLst/>
          </a:prstGeom>
          <a:noFill/>
          <a:ln/>
        </p:spPr>
        <p:txBody>
          <a:bodyPr wrap="square" lIns="0" tIns="0" rIns="0" bIns="0" rtlCol="0" anchor="ctr"/>
          <a:lstStyle/>
          <a:p>
            <a:pPr algn="r" indent="0" marL="0">
              <a:buNone/>
            </a:pPr>
            <a:r>
              <a:rPr lang="en-US" sz="1100" dirty="0">
                <a:solidFill>
                  <a:srgbClr val="5A6878"/>
                </a:solidFill>
                <a:latin typeface="Calibri" pitchFamily="34" charset="0"/>
                <a:ea typeface="Calibri" pitchFamily="34" charset="-122"/>
                <a:cs typeface="Calibri" pitchFamily="34" charset="-120"/>
              </a:rPr>
              <a:t>Kriterium 8 von 8</a:t>
            </a:r>
            <a:endParaRPr lang="en-US" sz="1100" dirty="0"/>
          </a:p>
        </p:txBody>
      </p:sp>
      <p:sp>
        <p:nvSpPr>
          <p:cNvPr id="5"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tx1"/>
                </a:solidFill>
                <a:latin typeface="Calibri" pitchFamily="34" charset="0"/>
                <a:ea typeface="Calibri" pitchFamily="34" charset="-122"/>
                <a:cs typeface="Calibri" pitchFamily="34" charset="-120"/>
              </a:rPr>
              <a:t>Mehr als nur speichern</a:t>
            </a:r>
            <a:endParaRPr lang="en-US" sz="3600" dirty="0"/>
          </a:p>
        </p:txBody>
      </p:sp>
      <p:sp>
        <p:nvSpPr>
          <p:cNvPr id="6" name="Karte"/>
          <p:cNvSpPr/>
          <p:nvPr/>
        </p:nvSpPr>
        <p:spPr>
          <a:xfrm>
            <a:off x="640080" y="1783080"/>
            <a:ext cx="5303520" cy="2011680"/>
          </a:xfrm>
          <a:prstGeom prst="roundRect">
            <a:avLst>
              <a:gd name="adj" fmla="val 5455"/>
            </a:avLst>
          </a:prstGeom>
          <a:solidFill>
            <a:srgbClr val="FFFFFF"/>
          </a:solidFill>
          <a:ln w="9525">
            <a:solidFill>
              <a:srgbClr val="D3DEE6"/>
            </a:solidFill>
            <a:prstDash val="solid"/>
          </a:ln>
        </p:spPr>
      </p:sp>
      <p:sp>
        <p:nvSpPr>
          <p:cNvPr id="7" name="Status"/>
          <p:cNvSpPr/>
          <p:nvPr/>
        </p:nvSpPr>
        <p:spPr>
          <a:xfrm>
            <a:off x="914400" y="2011680"/>
            <a:ext cx="1371600" cy="310896"/>
          </a:xfrm>
          <a:prstGeom prst="roundRect">
            <a:avLst>
              <a:gd name="adj" fmla="val 50000"/>
            </a:avLst>
          </a:prstGeom>
          <a:solidFill>
            <a:srgbClr val="D9F2E3"/>
          </a:solidFill>
          <a:ln/>
        </p:spPr>
        <p:txBody>
          <a:bodyPr wrap="square" lIns="0" tIns="0" rIns="0" bIns="0" rtlCol="0" anchor="ctr"/>
          <a:lstStyle/>
          <a:p>
            <a:pPr algn="ctr" indent="0" marL="0">
              <a:buNone/>
            </a:pPr>
            <a:r>
              <a:rPr lang="en-US" sz="1200" b="1" dirty="0">
                <a:solidFill>
                  <a:srgbClr val="1B6B3A"/>
                </a:solidFill>
                <a:latin typeface="Calibri" pitchFamily="34" charset="0"/>
                <a:ea typeface="Calibri" pitchFamily="34" charset="-122"/>
                <a:cs typeface="Calibri" pitchFamily="34" charset="-120"/>
              </a:rPr>
              <a:t>UMGESETZT</a:t>
            </a:r>
            <a:endParaRPr lang="en-US" sz="1200" dirty="0"/>
          </a:p>
        </p:txBody>
      </p:sp>
      <p:sp>
        <p:nvSpPr>
          <p:cNvPr id="8" name="Text 6"/>
          <p:cNvSpPr txBox="1"/>
          <p:nvPr/>
        </p:nvSpPr>
        <p:spPr>
          <a:xfrm>
            <a:off x="914400" y="2468880"/>
            <a:ext cx="475488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Store and Forward</a:t>
            </a:r>
            <a:endParaRPr lang="en-US" sz="2200" dirty="0"/>
          </a:p>
        </p:txBody>
      </p:sp>
      <p:sp>
        <p:nvSpPr>
          <p:cNvPr id="9" name="Text 7"/>
          <p:cNvSpPr txBox="1"/>
          <p:nvPr/>
        </p:nvSpPr>
        <p:spPr>
          <a:xfrm>
            <a:off x="914400" y="2971800"/>
            <a:ext cx="475488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Funkloch im Truck: fehlende Messungen werden mit ihrer Originalzeit nachgeliefert.</a:t>
            </a:r>
            <a:endParaRPr lang="en-US" sz="1500" dirty="0"/>
          </a:p>
        </p:txBody>
      </p:sp>
      <p:sp>
        <p:nvSpPr>
          <p:cNvPr id="10" name="Karte"/>
          <p:cNvSpPr/>
          <p:nvPr/>
        </p:nvSpPr>
        <p:spPr>
          <a:xfrm>
            <a:off x="6245352" y="1783080"/>
            <a:ext cx="5303520" cy="2011680"/>
          </a:xfrm>
          <a:prstGeom prst="roundRect">
            <a:avLst>
              <a:gd name="adj" fmla="val 5455"/>
            </a:avLst>
          </a:prstGeom>
          <a:solidFill>
            <a:srgbClr val="FFFFFF"/>
          </a:solidFill>
          <a:ln w="9525">
            <a:solidFill>
              <a:srgbClr val="D3DEE6"/>
            </a:solidFill>
            <a:prstDash val="solid"/>
          </a:ln>
        </p:spPr>
      </p:sp>
      <p:sp>
        <p:nvSpPr>
          <p:cNvPr id="11" name="Status"/>
          <p:cNvSpPr/>
          <p:nvPr/>
        </p:nvSpPr>
        <p:spPr>
          <a:xfrm>
            <a:off x="6519672" y="2011680"/>
            <a:ext cx="1371600" cy="310896"/>
          </a:xfrm>
          <a:prstGeom prst="roundRect">
            <a:avLst>
              <a:gd name="adj" fmla="val 50000"/>
            </a:avLst>
          </a:prstGeom>
          <a:solidFill>
            <a:srgbClr val="D9F2E3"/>
          </a:solidFill>
          <a:ln/>
        </p:spPr>
        <p:txBody>
          <a:bodyPr wrap="square" lIns="0" tIns="0" rIns="0" bIns="0" rtlCol="0" anchor="ctr"/>
          <a:lstStyle/>
          <a:p>
            <a:pPr algn="ctr" indent="0" marL="0">
              <a:buNone/>
            </a:pPr>
            <a:r>
              <a:rPr lang="en-US" sz="1200" b="1" dirty="0">
                <a:solidFill>
                  <a:srgbClr val="1B6B3A"/>
                </a:solidFill>
                <a:latin typeface="Calibri" pitchFamily="34" charset="0"/>
                <a:ea typeface="Calibri" pitchFamily="34" charset="-122"/>
                <a:cs typeface="Calibri" pitchFamily="34" charset="-120"/>
              </a:rPr>
              <a:t>UMGESETZT</a:t>
            </a:r>
            <a:endParaRPr lang="en-US" sz="1200" dirty="0"/>
          </a:p>
        </p:txBody>
      </p:sp>
      <p:sp>
        <p:nvSpPr>
          <p:cNvPr id="12" name="Text 10"/>
          <p:cNvSpPr txBox="1"/>
          <p:nvPr/>
        </p:nvSpPr>
        <p:spPr>
          <a:xfrm>
            <a:off x="6519672" y="2468880"/>
            <a:ext cx="475488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Health-Flags am Edge</a:t>
            </a:r>
            <a:endParaRPr lang="en-US" sz="2200" dirty="0"/>
          </a:p>
        </p:txBody>
      </p:sp>
      <p:sp>
        <p:nvSpPr>
          <p:cNvPr id="13" name="Text 11"/>
          <p:cNvSpPr txBox="1"/>
          <p:nvPr/>
        </p:nvSpPr>
        <p:spPr>
          <a:xfrm>
            <a:off x="6519672" y="2971800"/>
            <a:ext cx="475488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Warnung bei zu hoher Temperatur, abweichenden Sensoren oder eingefrorenem Sensor.</a:t>
            </a:r>
            <a:endParaRPr lang="en-US" sz="1500" dirty="0"/>
          </a:p>
        </p:txBody>
      </p:sp>
      <p:sp>
        <p:nvSpPr>
          <p:cNvPr id="14" name="Karte"/>
          <p:cNvSpPr/>
          <p:nvPr/>
        </p:nvSpPr>
        <p:spPr>
          <a:xfrm>
            <a:off x="640080" y="3977640"/>
            <a:ext cx="5303520" cy="2011680"/>
          </a:xfrm>
          <a:prstGeom prst="roundRect">
            <a:avLst>
              <a:gd name="adj" fmla="val 5455"/>
            </a:avLst>
          </a:prstGeom>
          <a:solidFill>
            <a:srgbClr val="FFFFFF"/>
          </a:solidFill>
          <a:ln w="9525">
            <a:solidFill>
              <a:srgbClr val="D3DEE6"/>
            </a:solidFill>
            <a:prstDash val="solid"/>
          </a:ln>
        </p:spPr>
      </p:sp>
      <p:sp>
        <p:nvSpPr>
          <p:cNvPr id="15" name="Status"/>
          <p:cNvSpPr/>
          <p:nvPr/>
        </p:nvSpPr>
        <p:spPr>
          <a:xfrm>
            <a:off x="914400" y="4206240"/>
            <a:ext cx="1371600" cy="310896"/>
          </a:xfrm>
          <a:prstGeom prst="roundRect">
            <a:avLst>
              <a:gd name="adj" fmla="val 50000"/>
            </a:avLst>
          </a:prstGeom>
          <a:solidFill>
            <a:srgbClr val="D9F2E3"/>
          </a:solidFill>
          <a:ln/>
        </p:spPr>
        <p:txBody>
          <a:bodyPr wrap="square" lIns="0" tIns="0" rIns="0" bIns="0" rtlCol="0" anchor="ctr"/>
          <a:lstStyle/>
          <a:p>
            <a:pPr algn="ctr" indent="0" marL="0">
              <a:buNone/>
            </a:pPr>
            <a:r>
              <a:rPr lang="en-US" sz="1200" b="1" dirty="0">
                <a:solidFill>
                  <a:srgbClr val="1B6B3A"/>
                </a:solidFill>
                <a:latin typeface="Calibri" pitchFamily="34" charset="0"/>
                <a:ea typeface="Calibri" pitchFamily="34" charset="-122"/>
                <a:cs typeface="Calibri" pitchFamily="34" charset="-120"/>
              </a:rPr>
              <a:t>UMGESETZT</a:t>
            </a:r>
            <a:endParaRPr lang="en-US" sz="1200" dirty="0"/>
          </a:p>
        </p:txBody>
      </p:sp>
      <p:sp>
        <p:nvSpPr>
          <p:cNvPr id="16" name="Text 14"/>
          <p:cNvSpPr txBox="1"/>
          <p:nvPr/>
        </p:nvSpPr>
        <p:spPr>
          <a:xfrm>
            <a:off x="914400" y="4663440"/>
            <a:ext cx="475488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Alarm per E-Mail und Discord</a:t>
            </a:r>
            <a:endParaRPr lang="en-US" sz="2200" dirty="0"/>
          </a:p>
        </p:txBody>
      </p:sp>
      <p:sp>
        <p:nvSpPr>
          <p:cNvPr id="17" name="Text 15"/>
          <p:cNvSpPr txBox="1"/>
          <p:nvPr/>
        </p:nvSpPr>
        <p:spPr>
          <a:xfrm>
            <a:off x="914400" y="5166360"/>
            <a:ext cx="475488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Über 30 °C löst ThingSpeak React eine Analyse aus: Discord-Nachricht und E-Mail.</a:t>
            </a:r>
            <a:endParaRPr lang="en-US" sz="1500" dirty="0"/>
          </a:p>
        </p:txBody>
      </p:sp>
      <p:sp>
        <p:nvSpPr>
          <p:cNvPr id="18" name="Karte"/>
          <p:cNvSpPr/>
          <p:nvPr/>
        </p:nvSpPr>
        <p:spPr>
          <a:xfrm>
            <a:off x="6245352" y="3977640"/>
            <a:ext cx="5303520" cy="2011680"/>
          </a:xfrm>
          <a:prstGeom prst="roundRect">
            <a:avLst>
              <a:gd name="adj" fmla="val 5455"/>
            </a:avLst>
          </a:prstGeom>
          <a:solidFill>
            <a:srgbClr val="FFFFFF"/>
          </a:solidFill>
          <a:ln w="9525">
            <a:solidFill>
              <a:srgbClr val="D3DEE6"/>
            </a:solidFill>
            <a:prstDash val="solid"/>
          </a:ln>
        </p:spPr>
      </p:sp>
      <p:sp>
        <p:nvSpPr>
          <p:cNvPr id="19" name="Status"/>
          <p:cNvSpPr/>
          <p:nvPr/>
        </p:nvSpPr>
        <p:spPr>
          <a:xfrm>
            <a:off x="6519672" y="4206240"/>
            <a:ext cx="1188720" cy="310896"/>
          </a:xfrm>
          <a:prstGeom prst="roundRect">
            <a:avLst>
              <a:gd name="adj" fmla="val 50000"/>
            </a:avLst>
          </a:prstGeom>
          <a:solidFill>
            <a:srgbClr val="FDE9CF"/>
          </a:solidFill>
          <a:ln/>
        </p:spPr>
        <p:txBody>
          <a:bodyPr wrap="square" lIns="0" tIns="0" rIns="0" bIns="0" rtlCol="0" anchor="ctr"/>
          <a:lstStyle/>
          <a:p>
            <a:pPr algn="ctr" indent="0" marL="0">
              <a:buNone/>
            </a:pPr>
            <a:r>
              <a:rPr lang="en-US" sz="1200" b="1" dirty="0">
                <a:solidFill>
                  <a:srgbClr val="8A4B05"/>
                </a:solidFill>
                <a:latin typeface="Calibri" pitchFamily="34" charset="0"/>
                <a:ea typeface="Calibri" pitchFamily="34" charset="-122"/>
                <a:cs typeface="Calibri" pitchFamily="34" charset="-120"/>
              </a:rPr>
              <a:t>IN ARBEIT</a:t>
            </a:r>
            <a:endParaRPr lang="en-US" sz="1200" dirty="0"/>
          </a:p>
        </p:txBody>
      </p:sp>
      <p:sp>
        <p:nvSpPr>
          <p:cNvPr id="20" name="Text 18"/>
          <p:cNvSpPr txBox="1"/>
          <p:nvPr/>
        </p:nvSpPr>
        <p:spPr>
          <a:xfrm>
            <a:off x="6519672" y="4663440"/>
            <a:ext cx="4754880" cy="457200"/>
          </a:xfrm>
          <a:prstGeom prst="rect">
            <a:avLst/>
          </a:prstGeom>
          <a:noFill/>
          <a:ln/>
        </p:spPr>
        <p:txBody>
          <a:bodyPr wrap="square" lIns="0" tIns="0" rIns="0" bIns="0" rtlCol="0" anchor="t"/>
          <a:lstStyle/>
          <a:p>
            <a:pPr indent="0" marL="0">
              <a:buNone/>
            </a:pPr>
            <a:r>
              <a:rPr lang="en-US" sz="2200" b="1" dirty="0">
                <a:solidFill>
                  <a:schemeClr val="tx1"/>
                </a:solidFill>
                <a:latin typeface="Calibri" pitchFamily="34" charset="0"/>
                <a:ea typeface="Calibri" pitchFamily="34" charset="-122"/>
                <a:cs typeface="Calibri" pitchFamily="34" charset="-120"/>
              </a:rPr>
              <a:t>Sensor-Drift erkennen</a:t>
            </a:r>
            <a:endParaRPr lang="en-US" sz="2200" dirty="0"/>
          </a:p>
        </p:txBody>
      </p:sp>
      <p:sp>
        <p:nvSpPr>
          <p:cNvPr id="21" name="Text 19"/>
          <p:cNvSpPr txBox="1"/>
          <p:nvPr/>
        </p:nvSpPr>
        <p:spPr>
          <a:xfrm>
            <a:off x="6519672" y="5166360"/>
            <a:ext cx="4754880" cy="731520"/>
          </a:xfrm>
          <a:prstGeom prst="rect">
            <a:avLst/>
          </a:prstGeom>
          <a:noFill/>
          <a:ln/>
        </p:spPr>
        <p:txBody>
          <a:bodyPr wrap="square" lIns="0" tIns="0" rIns="0" bIns="0" rtlCol="0" anchor="t"/>
          <a:lstStyle/>
          <a:p>
            <a:pPr indent="0" marL="0">
              <a:buNone/>
            </a:pPr>
            <a:r>
              <a:rPr lang="en-US" sz="1500" dirty="0">
                <a:solidFill>
                  <a:schemeClr val="tx2"/>
                </a:solidFill>
                <a:latin typeface="Calibri" pitchFamily="34" charset="0"/>
                <a:ea typeface="Calibri" pitchFamily="34" charset="-122"/>
                <a:cs typeface="Calibri" pitchFamily="34" charset="-120"/>
              </a:rPr>
              <a:t>MATLAB-Diagramm: Wandert ein Sensor vom anderen weg? So lässt sich Wartung planen.</a:t>
            </a:r>
            <a:endParaRPr lang="en-US" sz="15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A68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640080" y="457200"/>
            <a:ext cx="8961120" cy="320040"/>
          </a:xfrm>
          <a:prstGeom prst="rect">
            <a:avLst/>
          </a:prstGeom>
          <a:noFill/>
          <a:ln/>
        </p:spPr>
        <p:txBody>
          <a:bodyPr wrap="square" lIns="0" tIns="0" rIns="0" bIns="0" rtlCol="0" anchor="ctr"/>
          <a:lstStyle/>
          <a:p>
            <a:pPr indent="0" marL="0">
              <a:buNone/>
            </a:pPr>
            <a:r>
              <a:rPr lang="en-US" sz="1200" b="1" spc="200" kern="0" dirty="0">
                <a:solidFill>
                  <a:schemeClr val="accent2"/>
                </a:solidFill>
                <a:latin typeface="Calibri" pitchFamily="34" charset="0"/>
                <a:ea typeface="Calibri" pitchFamily="34" charset="-122"/>
                <a:cs typeface="Calibri" pitchFamily="34" charset="-120"/>
              </a:rPr>
              <a:t>ABSCHLUSS</a:t>
            </a:r>
            <a:endParaRPr lang="en-US" sz="1200" dirty="0"/>
          </a:p>
        </p:txBody>
      </p:sp>
      <p:sp>
        <p:nvSpPr>
          <p:cNvPr id="3" name="Text 0"/>
          <p:cNvSpPr/>
          <p:nvPr>
            <p:ph idx="100" type="title" hasCustomPrompt="1"/>
          </p:nvPr>
        </p:nvSpPr>
        <p:spPr>
          <a:xfrm>
            <a:off x="640080" y="868680"/>
            <a:ext cx="9144000" cy="731520"/>
          </a:xfrm>
          <a:prstGeom prst="rect">
            <a:avLst/>
          </a:prstGeom>
          <a:noFill/>
          <a:ln/>
        </p:spPr>
        <p:txBody>
          <a:bodyPr wrap="square" lIns="0" tIns="0" rIns="0" bIns="0" rtlCol="0" anchor="t"/>
          <a:lstStyle/>
          <a:p>
            <a:pPr algn="l" indent="0" marL="0">
              <a:buNone/>
            </a:pPr>
            <a:r>
              <a:rPr lang="en-US" sz="3600" b="1" dirty="0">
                <a:solidFill>
                  <a:schemeClr val="bg1"/>
                </a:solidFill>
                <a:latin typeface="Calibri" pitchFamily="34" charset="0"/>
                <a:ea typeface="Calibri" pitchFamily="34" charset="-122"/>
                <a:cs typeface="Calibri" pitchFamily="34" charset="-120"/>
              </a:rPr>
              <a:t>Fazit und Ausblick</a:t>
            </a:r>
            <a:endParaRPr lang="en-US" sz="3600" dirty="0"/>
          </a:p>
        </p:txBody>
      </p:sp>
      <p:sp>
        <p:nvSpPr>
          <p:cNvPr id="4" name="Karte"/>
          <p:cNvSpPr/>
          <p:nvPr/>
        </p:nvSpPr>
        <p:spPr>
          <a:xfrm>
            <a:off x="640080" y="1783080"/>
            <a:ext cx="3429000" cy="2651760"/>
          </a:xfrm>
          <a:prstGeom prst="roundRect">
            <a:avLst>
              <a:gd name="adj" fmla="val 4138"/>
            </a:avLst>
          </a:prstGeom>
          <a:solidFill>
            <a:srgbClr val="16293F"/>
          </a:solidFill>
          <a:ln w="9525">
            <a:solidFill>
              <a:srgbClr val="27415E"/>
            </a:solidFill>
            <a:prstDash val="solid"/>
          </a:ln>
        </p:spPr>
      </p:sp>
      <p:pic>
        <p:nvPicPr>
          <p:cNvPr id="5" name="Image 0" descr="Nachweis">    </p:cNvPr>
          <p:cNvPicPr>
            <a:picLocks noChangeAspect="1"/>
          </p:cNvPicPr>
          <p:nvPr/>
        </p:nvPicPr>
        <p:blipFill>
          <a:blip r:embed="rId1"/>
          <a:stretch>
            <a:fillRect/>
          </a:stretch>
        </p:blipFill>
        <p:spPr>
          <a:xfrm>
            <a:off x="914400" y="2011680"/>
            <a:ext cx="502920" cy="502920"/>
          </a:xfrm>
          <a:prstGeom prst="rect">
            <a:avLst/>
          </a:prstGeom>
        </p:spPr>
      </p:pic>
      <p:sp>
        <p:nvSpPr>
          <p:cNvPr id="6" name="Text 3"/>
          <p:cNvSpPr txBox="1"/>
          <p:nvPr/>
        </p:nvSpPr>
        <p:spPr>
          <a:xfrm>
            <a:off x="914400" y="2697480"/>
            <a:ext cx="288036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Nachweis</a:t>
            </a:r>
            <a:endParaRPr lang="en-US" sz="2400" dirty="0"/>
          </a:p>
        </p:txBody>
      </p:sp>
      <p:sp>
        <p:nvSpPr>
          <p:cNvPr id="7" name="Text 4"/>
          <p:cNvSpPr txBox="1"/>
          <p:nvPr/>
        </p:nvSpPr>
        <p:spPr>
          <a:xfrm>
            <a:off x="914400" y="3246120"/>
            <a:ext cx="2880360" cy="109728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Temperaturverläufe sind jederzeit und überall abrufbar, ohne manuelles Auslesen.</a:t>
            </a:r>
            <a:endParaRPr lang="en-US" sz="1500" dirty="0"/>
          </a:p>
        </p:txBody>
      </p:sp>
      <p:sp>
        <p:nvSpPr>
          <p:cNvPr id="8" name="Karte"/>
          <p:cNvSpPr/>
          <p:nvPr/>
        </p:nvSpPr>
        <p:spPr>
          <a:xfrm>
            <a:off x="4379976" y="1783080"/>
            <a:ext cx="3429000" cy="2651760"/>
          </a:xfrm>
          <a:prstGeom prst="roundRect">
            <a:avLst>
              <a:gd name="adj" fmla="val 4138"/>
            </a:avLst>
          </a:prstGeom>
          <a:solidFill>
            <a:srgbClr val="16293F"/>
          </a:solidFill>
          <a:ln w="9525">
            <a:solidFill>
              <a:srgbClr val="27415E"/>
            </a:solidFill>
            <a:prstDash val="solid"/>
          </a:ln>
        </p:spPr>
      </p:sp>
      <p:pic>
        <p:nvPicPr>
          <p:cNvPr id="9" name="Image 1" descr="Ausfallsicher">    </p:cNvPr>
          <p:cNvPicPr>
            <a:picLocks noChangeAspect="1"/>
          </p:cNvPicPr>
          <p:nvPr/>
        </p:nvPicPr>
        <p:blipFill>
          <a:blip r:embed="rId2"/>
          <a:stretch>
            <a:fillRect/>
          </a:stretch>
        </p:blipFill>
        <p:spPr>
          <a:xfrm>
            <a:off x="4654296" y="2011680"/>
            <a:ext cx="502920" cy="502920"/>
          </a:xfrm>
          <a:prstGeom prst="rect">
            <a:avLst/>
          </a:prstGeom>
        </p:spPr>
      </p:pic>
      <p:sp>
        <p:nvSpPr>
          <p:cNvPr id="10" name="Text 6"/>
          <p:cNvSpPr txBox="1"/>
          <p:nvPr/>
        </p:nvSpPr>
        <p:spPr>
          <a:xfrm>
            <a:off x="4654296" y="2697480"/>
            <a:ext cx="288036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Ausfallsicher</a:t>
            </a:r>
            <a:endParaRPr lang="en-US" sz="2400" dirty="0"/>
          </a:p>
        </p:txBody>
      </p:sp>
      <p:sp>
        <p:nvSpPr>
          <p:cNvPr id="11" name="Text 7"/>
          <p:cNvSpPr txBox="1"/>
          <p:nvPr/>
        </p:nvSpPr>
        <p:spPr>
          <a:xfrm>
            <a:off x="4654296" y="3246120"/>
            <a:ext cx="2880360" cy="109728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Fällt der Pi aus, bleiben die Daten in der Cloud. Bei Funkausfall puffert der Pi.</a:t>
            </a:r>
            <a:endParaRPr lang="en-US" sz="1500" dirty="0"/>
          </a:p>
        </p:txBody>
      </p:sp>
      <p:sp>
        <p:nvSpPr>
          <p:cNvPr id="12" name="Karte"/>
          <p:cNvSpPr/>
          <p:nvPr/>
        </p:nvSpPr>
        <p:spPr>
          <a:xfrm>
            <a:off x="8119872" y="1783080"/>
            <a:ext cx="3429000" cy="2651760"/>
          </a:xfrm>
          <a:prstGeom prst="roundRect">
            <a:avLst>
              <a:gd name="adj" fmla="val 4138"/>
            </a:avLst>
          </a:prstGeom>
          <a:solidFill>
            <a:srgbClr val="16293F"/>
          </a:solidFill>
          <a:ln w="9525">
            <a:solidFill>
              <a:srgbClr val="27415E"/>
            </a:solidFill>
            <a:prstDash val="solid"/>
          </a:ln>
        </p:spPr>
      </p:sp>
      <p:pic>
        <p:nvPicPr>
          <p:cNvPr id="13" name="Image 2" descr="Ausblick">    </p:cNvPr>
          <p:cNvPicPr>
            <a:picLocks noChangeAspect="1"/>
          </p:cNvPicPr>
          <p:nvPr/>
        </p:nvPicPr>
        <p:blipFill>
          <a:blip r:embed="rId3"/>
          <a:stretch>
            <a:fillRect/>
          </a:stretch>
        </p:blipFill>
        <p:spPr>
          <a:xfrm>
            <a:off x="8394192" y="2011680"/>
            <a:ext cx="502920" cy="502920"/>
          </a:xfrm>
          <a:prstGeom prst="rect">
            <a:avLst/>
          </a:prstGeom>
        </p:spPr>
      </p:pic>
      <p:sp>
        <p:nvSpPr>
          <p:cNvPr id="14" name="Text 9"/>
          <p:cNvSpPr txBox="1"/>
          <p:nvPr/>
        </p:nvSpPr>
        <p:spPr>
          <a:xfrm>
            <a:off x="8394192" y="2697480"/>
            <a:ext cx="2880360" cy="45720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Ausblick</a:t>
            </a:r>
            <a:endParaRPr lang="en-US" sz="2400" dirty="0"/>
          </a:p>
        </p:txBody>
      </p:sp>
      <p:sp>
        <p:nvSpPr>
          <p:cNvPr id="15" name="Text 10"/>
          <p:cNvSpPr txBox="1"/>
          <p:nvPr/>
        </p:nvSpPr>
        <p:spPr>
          <a:xfrm>
            <a:off x="8394192" y="3246120"/>
            <a:ext cx="2880360" cy="1097280"/>
          </a:xfrm>
          <a:prstGeom prst="rect">
            <a:avLst/>
          </a:prstGeom>
          <a:noFill/>
          <a:ln/>
        </p:spPr>
        <p:txBody>
          <a:bodyPr wrap="square" lIns="0" tIns="0" rIns="0" bIns="0" rtlCol="0" anchor="t"/>
          <a:lstStyle/>
          <a:p>
            <a:pPr indent="0" marL="0">
              <a:buNone/>
            </a:pPr>
            <a:r>
              <a:rPr lang="en-US" sz="1500" dirty="0">
                <a:solidFill>
                  <a:srgbClr val="B8C7D9"/>
                </a:solidFill>
                <a:latin typeface="Calibri" pitchFamily="34" charset="0"/>
                <a:ea typeface="Calibri" pitchFamily="34" charset="-122"/>
                <a:cs typeface="Calibri" pitchFamily="34" charset="-120"/>
              </a:rPr>
              <a:t>Flottenbetrieb mit EU-Hosting (Azure IoT Hub), Alarme und Predictive Maintenance.</a:t>
            </a:r>
            <a:endParaRPr lang="en-US" sz="1500" dirty="0"/>
          </a:p>
        </p:txBody>
      </p:sp>
      <p:sp>
        <p:nvSpPr>
          <p:cNvPr id="16" name="Text 11"/>
          <p:cNvSpPr txBox="1"/>
          <p:nvPr/>
        </p:nvSpPr>
        <p:spPr>
          <a:xfrm>
            <a:off x="640080" y="4709160"/>
            <a:ext cx="10908792" cy="54864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Gelernt: </a:t>
            </a:r>
            <a:pPr indent="0" marL="0">
              <a:buNone/>
            </a:pPr>
            <a:r>
              <a:rPr lang="en-US" sz="1800" dirty="0">
                <a:solidFill>
                  <a:srgbClr val="FFFFFF"/>
                </a:solidFill>
                <a:latin typeface="Calibri" pitchFamily="34" charset="0"/>
                <a:ea typeface="Calibri" pitchFamily="34" charset="-122"/>
                <a:cs typeface="Calibri" pitchFamily="34" charset="-120"/>
              </a:rPr>
              <a:t>Ein zweiter Cloud-Anbieter als Plan B hat uns gerettet. Die Bridge trennt Logik und Sender.</a:t>
            </a:r>
            <a:endParaRPr lang="en-US" sz="1800" dirty="0"/>
          </a:p>
        </p:txBody>
      </p:sp>
      <p:sp>
        <p:nvSpPr>
          <p:cNvPr id="17" name="Text 12"/>
          <p:cNvSpPr txBox="1"/>
          <p:nvPr/>
        </p:nvSpPr>
        <p:spPr>
          <a:xfrm>
            <a:off x="640080" y="5440680"/>
            <a:ext cx="7315200" cy="731520"/>
          </a:xfrm>
          <a:prstGeom prst="rect">
            <a:avLst/>
          </a:prstGeom>
          <a:noFill/>
          <a:ln/>
        </p:spPr>
        <p:txBody>
          <a:bodyPr wrap="square" lIns="0" tIns="0" rIns="0" bIns="0" rtlCol="0" anchor="t"/>
          <a:lstStyle/>
          <a:p>
            <a:pPr indent="0" marL="0">
              <a:buNone/>
            </a:pPr>
            <a:r>
              <a:rPr lang="en-US" sz="3600" b="1" dirty="0">
                <a:solidFill>
                  <a:schemeClr val="accent2"/>
                </a:solidFill>
                <a:latin typeface="Calibri" pitchFamily="34" charset="0"/>
                <a:ea typeface="Calibri" pitchFamily="34" charset="-122"/>
                <a:cs typeface="Calibri" pitchFamily="34" charset="-120"/>
              </a:rPr>
              <a:t>Danke – Fragen?</a:t>
            </a:r>
            <a:endParaRPr lang="en-US" sz="3600" dirty="0"/>
          </a:p>
        </p:txBody>
      </p:sp>
      <p:sp>
        <p:nvSpPr>
          <p:cNvPr id="25" name="Slide Number Placeholder 0"/>
          <p:cNvSpPr>
            <a:spLocks noGrp="1"/>
          </p:cNvSpPr>
          <p:nvPr>
            <p:ph type="sldNum" sz="quarter" idx="4294967295"/>
          </p:nvPr>
        </p:nvSpPr>
        <p:spPr>
          <a:xfrm>
            <a:off x="11091672"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FA3B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Ice Truck Cloud">
  <a:themeElements>
    <a:clrScheme name="Ice Truck Cloud">
      <a:dk1>
        <a:srgbClr val="0E1B2C"/>
      </a:dk1>
      <a:lt1>
        <a:srgbClr val="F4F8FA"/>
      </a:lt1>
      <a:dk2>
        <a:srgbClr val="3E4C5E"/>
      </a:dk2>
      <a:lt2>
        <a:srgbClr val="E6EEF3"/>
      </a:lt2>
      <a:accent1>
        <a:srgbClr val="0B6FA4"/>
      </a:accent1>
      <a:accent2>
        <a:srgbClr val="6CCBF5"/>
      </a:accent2>
      <a:accent3>
        <a:srgbClr val="B85C00"/>
      </a:accent3>
      <a:accent4>
        <a:srgbClr val="1B6B3A"/>
      </a:accent4>
      <a:accent5>
        <a:srgbClr val="16293F"/>
      </a:accent5>
      <a:accent6>
        <a:srgbClr val="CBDAE4"/>
      </a:accent6>
      <a:hlink>
        <a:srgbClr val="0B6FA4"/>
      </a:hlink>
      <a:folHlink>
        <a:srgbClr val="3E4C5E"/>
      </a:folHlink>
    </a:clrScheme>
    <a:fontScheme name="Ice Truck Clou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 Truck in der Cloud</dc:title>
  <dc:subject>Challenge III: IoT in der Cloud</dc:subject>
  <dc:creator>Team 13-1</dc:creator>
  <cp:lastModifiedBy>Team 13-1</cp:lastModifiedBy>
  <cp:revision>1</cp:revision>
  <dcterms:created xsi:type="dcterms:W3CDTF">2026-10-07T10:05:44Z</dcterms:created>
  <dcterms:modified xsi:type="dcterms:W3CDTF">2026-10-07T10:05:44Z</dcterms:modified>
</cp:coreProperties>
</file>