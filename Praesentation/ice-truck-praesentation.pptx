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The Ice Truck Problem(s)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1C6E8C"/>
                </a:solidFill>
                <a:latin typeface="Century Schoolbook"/>
              </a:rPr>
              <a:t>Team 13 – Technisches Fachgespräch Challenge I +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300">
                <a:solidFill>
                  <a:srgbClr val="6B6F73"/>
                </a:solidFill>
                <a:latin typeface="Calibri"/>
              </a:rPr>
              <a:t>Anton · Felix · Dogan · Erik · Smart Systems (BH4ab)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C6E8C"/>
                </a:solidFill>
                <a:latin typeface="Calibri"/>
              </a:rPr>
              <a:t>01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C6E8C"/>
                </a:solidFill>
                <a:latin typeface="Century Schoolbook"/>
              </a:rPr>
              <a:t>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Worum geht's heute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C6E8C"/>
                </a:solidFill>
                <a:latin typeface="Calibri"/>
              </a:rPr>
              <a:t>02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C6E8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Ein</a:t>
            </a:r>
            <a:r>
              <a:rPr sz="1500">
                <a:solidFill>
                  <a:srgbClr val="1C1F22"/>
                </a:solidFill>
                <a:latin typeface="Calibri"/>
              </a:rPr>
              <a:t> Kühl-Truck-Szenario, zwei Challenges nacheinander gebaut:</a:t>
            </a:r>
          </a:p>
          <a:p>
            <a:pPr marL="457200" indent="-457200">
              <a:lnSpc>
                <a:spcPct val="112000"/>
              </a:lnSpc>
              <a:spcAft>
                <a:spcPts val="800"/>
              </a:spcAft>
              <a:buClr>
                <a:srgbClr val="1C6E8C"/>
              </a:buClr>
              <a:buFont typeface="Arial"/>
              <a:buChar char="–"/>
            </a:pPr>
            <a:r>
              <a:rPr b="1" sz="1300">
                <a:solidFill>
                  <a:srgbClr val="1C1F22"/>
                </a:solidFill>
                <a:latin typeface="Calibri"/>
              </a:rPr>
              <a:t>Challenge I</a:t>
            </a:r>
            <a:r>
              <a:rPr sz="1300">
                <a:solidFill>
                  <a:srgbClr val="1C1F22"/>
                </a:solidFill>
                <a:latin typeface="Calibri"/>
              </a:rPr>
              <a:t> – Signale &amp; Bus-Systeme (Sensoren, LEDs, I2C, Aktorik)</a:t>
            </a:r>
          </a:p>
          <a:p>
            <a:pPr marL="457200" indent="-457200">
              <a:lnSpc>
                <a:spcPct val="112000"/>
              </a:lnSpc>
              <a:spcAft>
                <a:spcPts val="800"/>
              </a:spcAft>
              <a:buClr>
                <a:srgbClr val="1C6E8C"/>
              </a:buClr>
              <a:buFont typeface="Arial"/>
              <a:buChar char="–"/>
            </a:pPr>
            <a:r>
              <a:rPr b="1" sz="1300">
                <a:solidFill>
                  <a:srgbClr val="1C1F22"/>
                </a:solidFill>
                <a:latin typeface="Calibri"/>
              </a:rPr>
              <a:t>Challenge II</a:t>
            </a:r>
            <a:r>
              <a:rPr sz="1300">
                <a:solidFill>
                  <a:srgbClr val="1C1F22"/>
                </a:solidFill>
                <a:latin typeface="Calibri"/>
              </a:rPr>
              <a:t> – Kommunikation &amp; Entwicklungswerkzeuge (MQTT, Node-RED, Handy)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C6E8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Roter Faden: Sensor → Arduino → I2C → Pi (Regellogik + SQL) → Aktor, danach zusätzlich → MQTT → Node-RED → Handy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C6E8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Wir gehen den Datenfluss entlang – jede:r erklärt den Abschnitt, an dem er/sie am tiefsten drin war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C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C6E8C"/>
                </a:solidFill>
                <a:latin typeface="Century Schoolbook"/>
              </a:rPr>
              <a:t>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Team &amp; Aufteilung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C6E8C"/>
                </a:solidFill>
                <a:latin typeface="Calibri"/>
              </a:rPr>
              <a:t>03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618488"/>
          <a:ext cx="868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76072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24A5E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L="91440" marR="91440" marT="36576" marB="36576" anchor="ctr">
                    <a:solidFill>
                      <a:srgbClr val="EA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24A5E"/>
                          </a:solidFill>
                          <a:latin typeface="Calibri"/>
                        </a:rPr>
                        <a:t>Thema</a:t>
                      </a:r>
                    </a:p>
                  </a:txBody>
                  <a:tcPr marL="91440" marR="91440" marT="36576" marB="36576" anchor="ctr">
                    <a:solidFill>
                      <a:srgbClr val="EA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24A5E"/>
                          </a:solidFill>
                          <a:latin typeface="Calibri"/>
                        </a:rPr>
                        <a:t>Wer</a:t>
                      </a:r>
                    </a:p>
                  </a:txBody>
                  <a:tcPr marL="91440" marR="91440" marT="36576" marB="36576" anchor="ctr">
                    <a:solidFill>
                      <a:srgbClr val="EA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Hardware &amp; Sensorik (Ch 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Anton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Datenübertragung &amp; Speicherung (Ch 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Felix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Regellogik &amp; Aktorik (Ch 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Dogan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MQTT &amp; Topics (Ch II)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Erik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Node-RED &amp; Fernsteuerung (Ch II)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Anton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Mobiles Endgerät &amp; Status (Ch II)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Felix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Fazit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Dogan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5046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i="1">
                <a:solidFill>
                  <a:srgbClr val="6B6F73"/>
                </a:solidFill>
                <a:latin typeface="Calibri"/>
              </a:rPr>
              <a:t>Gesamtdauer: ca. 15 Minuten Vortrag, danach Rückfragen · 5 Folien pro 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C2650A"/>
                </a:solidFill>
                <a:latin typeface="Century Schoolbook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1: Hardware &amp; Sensorik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C2650A"/>
                </a:solidFill>
                <a:latin typeface="Century Schoolbook"/>
              </a:rPr>
              <a:t>Anton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04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7A4308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C2650A"/>
                </a:solidFill>
                <a:latin typeface="Century Schoolbook"/>
              </a:rPr>
              <a:t>Hardware &amp; Sensorik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Systemarchitektur Challenge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05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64208"/>
            <a:ext cx="4754880" cy="13716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5875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55648"/>
            <a:ext cx="4425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7A4308"/>
                </a:solidFill>
                <a:latin typeface="Calibri"/>
              </a:rPr>
              <a:t>Sensor-Board · I2C 0x08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48256"/>
            <a:ext cx="4425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KY-028 Temperatursensor → A0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Status-LED (PWM) → D9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664208"/>
            <a:ext cx="4754880" cy="13716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5875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1755648"/>
            <a:ext cx="4425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7A4308"/>
                </a:solidFill>
                <a:latin typeface="Calibri"/>
              </a:rPr>
              <a:t>Aktor-Board · I2C 0x09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2048256"/>
            <a:ext cx="4425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KY-028 Temperatursensor → A0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Status-LED (PWM) → D5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Lüfter (Software-PWM) → D4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Servo/Ventil → D6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3035808"/>
            <a:ext cx="0" cy="274320"/>
          </a:xfrm>
          <a:prstGeom prst="line">
            <a:avLst/>
          </a:prstGeom>
          <a:ln w="19050">
            <a:solidFill>
              <a:srgbClr val="C265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25712" y="3035808"/>
            <a:ext cx="0" cy="274320"/>
          </a:xfrm>
          <a:prstGeom prst="line">
            <a:avLst/>
          </a:prstGeom>
          <a:ln w="19050">
            <a:solidFill>
              <a:srgbClr val="C265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63240" y="3310128"/>
            <a:ext cx="6062472" cy="0"/>
          </a:xfrm>
          <a:prstGeom prst="line">
            <a:avLst/>
          </a:prstGeom>
          <a:ln w="19050">
            <a:solidFill>
              <a:srgbClr val="C265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63240" y="3017520"/>
            <a:ext cx="6062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00" b="1">
                <a:solidFill>
                  <a:srgbClr val="7A4308"/>
                </a:solidFill>
                <a:latin typeface="Calibri"/>
              </a:rPr>
              <a:t>I2C · SDA/SCL · Pull-ups auf 3,3V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" y="3310128"/>
            <a:ext cx="0" cy="320040"/>
          </a:xfrm>
          <a:prstGeom prst="line">
            <a:avLst/>
          </a:prstGeom>
          <a:ln w="22225">
            <a:solidFill>
              <a:srgbClr val="C265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84748" y="344728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>
                <a:solidFill>
                  <a:srgbClr val="C2650A"/>
                </a:solidFill>
                <a:latin typeface="Calibri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630168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C2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372160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Raspberry Pi — pi-backend/app.py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014216"/>
            <a:ext cx="2916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FDF1E3"/>
                </a:solidFill>
                <a:latin typeface="Calibri"/>
              </a:rPr>
              <a:t>liest beide Boards · rechnet &amp; regelt · loggt in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902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>
                <a:solidFill>
                  <a:srgbClr val="1C1F22"/>
                </a:solidFill>
                <a:latin typeface="Calibri"/>
              </a:rPr>
              <a:t>Zwei Arduino Unos, ein gemeinsamer I2C-Bus, ein Pi als Gehirn.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7A4308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C2650A"/>
                </a:solidFill>
                <a:latin typeface="Century Schoolbook"/>
              </a:rPr>
              <a:t>Hardware &amp; Sensorik · Bewertung: Sensor funktionstüchtig (5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Sensorik: von DHT22 zu 2× KY-028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06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Ursprünglich geplant: DHT22 (Temp/Feuchte) auf dem Aktor-Board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Problem:</a:t>
            </a:r>
            <a:r>
              <a:rPr sz="1500">
                <a:solidFill>
                  <a:srgbClr val="1C1F22"/>
                </a:solidFill>
                <a:latin typeface="Calibri"/>
              </a:rPr>
              <a:t> </a:t>
            </a:r>
            <a:r>
              <a:rPr sz="1500">
                <a:solidFill>
                  <a:srgbClr val="124A5E"/>
                </a:solidFill>
                <a:latin typeface="Consolas"/>
              </a:rPr>
              <a:t>readTemperature()</a:t>
            </a:r>
            <a:r>
              <a:rPr sz="1500">
                <a:solidFill>
                  <a:srgbClr val="1C1F22"/>
                </a:solidFill>
                <a:latin typeface="Calibri"/>
              </a:rPr>
              <a:t>/</a:t>
            </a:r>
            <a:r>
              <a:rPr sz="1500">
                <a:solidFill>
                  <a:srgbClr val="124A5E"/>
                </a:solidFill>
                <a:latin typeface="Consolas"/>
              </a:rPr>
              <a:t>readHumidity()</a:t>
            </a:r>
            <a:r>
              <a:rPr sz="1500">
                <a:solidFill>
                  <a:srgbClr val="1C1F22"/>
                </a:solidFill>
                <a:latin typeface="Calibri"/>
              </a:rPr>
              <a:t> lieferten ab dem ersten Aufruf nach jedem Reset nur </a:t>
            </a:r>
            <a:r>
              <a:rPr sz="1500">
                <a:solidFill>
                  <a:srgbClr val="124A5E"/>
                </a:solidFill>
                <a:latin typeface="Consolas"/>
              </a:rPr>
              <a:t>NaN</a:t>
            </a:r>
            <a:r>
              <a:rPr sz="1500">
                <a:solidFill>
                  <a:srgbClr val="1C1F22"/>
                </a:solidFill>
                <a:latin typeface="Calibri"/>
              </a:rPr>
              <a:t> – per Serial direkt verifiziert, Verkabelung mehrfach gegengeprüft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Entscheidung:</a:t>
            </a:r>
            <a:r>
              <a:rPr sz="1500">
                <a:solidFill>
                  <a:srgbClr val="1C1F22"/>
                </a:solidFill>
                <a:latin typeface="Calibri"/>
              </a:rPr>
              <a:t> DHT22 raus, stattdessen ein zweites KY-028 – beide Boards messen jetzt nach demselben Prinzip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Beide Sensoren einzeln mit einem Referenzthermometer kalibriert (2 Punkte je 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7A4308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C2650A"/>
                </a:solidFill>
                <a:latin typeface="Century Schoolbook"/>
              </a:rPr>
              <a:t>Hardware &amp; Sensorik · Bewertung: LED + Helligkeit folgt Sensor (4 + 6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LED zeigt den Messwert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07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910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5C4400"/>
                </a:solidFill>
                <a:latin typeface="Calibri"/>
              </a:rPr>
              <a:t>👉 Live-Demo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10789920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Jedes Board hat eine eigene PWM-LED, die </a:t>
            </a:r>
            <a:r>
              <a:rPr b="1" sz="1500">
                <a:solidFill>
                  <a:srgbClr val="1C1F22"/>
                </a:solidFill>
                <a:latin typeface="Calibri"/>
              </a:rPr>
              <a:t>lokal auf dem Arduino</a:t>
            </a:r>
            <a:r>
              <a:rPr sz="1500">
                <a:solidFill>
                  <a:srgbClr val="1C1F22"/>
                </a:solidFill>
                <a:latin typeface="Calibri"/>
              </a:rPr>
              <a:t> aus dem Rohwert berechnet wird – kein I2C-Umweg nötig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Kalibrierte Eckwerte pro Board (z.B. Aktor-Board: </a:t>
            </a:r>
            <a:r>
              <a:rPr sz="1500">
                <a:solidFill>
                  <a:srgbClr val="124A5E"/>
                </a:solidFill>
                <a:latin typeface="Consolas"/>
              </a:rPr>
              <a:t>RAW_AT_LED_FULL=129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RAW_AT_LED_OFF=385</a:t>
            </a:r>
            <a:r>
              <a:rPr sz="1500">
                <a:solidFill>
                  <a:srgbClr val="1C1F22"/>
                </a:solidFill>
                <a:latin typeface="Calibri"/>
              </a:rPr>
              <a:t>), dazwischen linear interpoliert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LED voll hell ab ~30°C, aus ab ~-10°C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Wir zeigen das jetzt kurz live: Finger auf den Sensor, Helligkeit ändert sich in Echtzeit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1F8A4C"/>
                </a:solidFill>
                <a:latin typeface="Century Schoolbook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2: Datenübertragung &amp; Speicherung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1F8A4C"/>
                </a:solidFill>
                <a:latin typeface="Century Schoolbook"/>
              </a:rPr>
              <a:t>Felix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45C33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F8A4C"/>
                </a:solidFill>
                <a:latin typeface="Century Schoolbook"/>
              </a:rPr>
              <a:t>Datenübertragung · Bewertung: Kommunikation mehrerer Arduinos mit dem Pi (5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I2C-Kommunikation Pi ↔ beide Arduinos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09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Pi liest beide Boards per I2C aus (</a:t>
            </a:r>
            <a:r>
              <a:rPr sz="1500">
                <a:solidFill>
                  <a:srgbClr val="124A5E"/>
                </a:solidFill>
                <a:latin typeface="Consolas"/>
              </a:rPr>
              <a:t>smbus2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/dev/i2c-1</a:t>
            </a:r>
            <a:r>
              <a:rPr sz="1500">
                <a:solidFill>
                  <a:srgbClr val="1C1F22"/>
                </a:solidFill>
                <a:latin typeface="Calibri"/>
              </a:rPr>
              <a:t>), Adressen </a:t>
            </a:r>
            <a:r>
              <a:rPr sz="1500">
                <a:solidFill>
                  <a:srgbClr val="124A5E"/>
                </a:solidFill>
                <a:latin typeface="Consolas"/>
              </a:rPr>
              <a:t>0x08</a:t>
            </a:r>
            <a:r>
              <a:rPr sz="1500">
                <a:solidFill>
                  <a:srgbClr val="1C1F22"/>
                </a:solidFill>
                <a:latin typeface="Calibri"/>
              </a:rPr>
              <a:t> / </a:t>
            </a:r>
            <a:r>
              <a:rPr sz="1500">
                <a:solidFill>
                  <a:srgbClr val="124A5E"/>
                </a:solidFill>
                <a:latin typeface="Consolas"/>
              </a:rPr>
              <a:t>0x09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Bug, den wir gefunden haben:</a:t>
            </a:r>
            <a:r>
              <a:rPr sz="1500">
                <a:solidFill>
                  <a:srgbClr val="1C1F22"/>
                </a:solidFill>
                <a:latin typeface="Calibri"/>
              </a:rPr>
              <a:t> </a:t>
            </a:r>
            <a:r>
              <a:rPr sz="1500">
                <a:solidFill>
                  <a:srgbClr val="124A5E"/>
                </a:solidFill>
                <a:latin typeface="Consolas"/>
              </a:rPr>
              <a:t>smbus2</a:t>
            </a:r>
            <a:r>
              <a:rPr sz="1500">
                <a:solidFill>
                  <a:srgbClr val="1C1F22"/>
                </a:solidFill>
                <a:latin typeface="Calibri"/>
              </a:rPr>
              <a:t>s </a:t>
            </a:r>
            <a:r>
              <a:rPr sz="1500">
                <a:solidFill>
                  <a:srgbClr val="124A5E"/>
                </a:solidFill>
                <a:latin typeface="Consolas"/>
              </a:rPr>
              <a:t>write_i2c_block_data()</a:t>
            </a:r>
            <a:r>
              <a:rPr sz="1500">
                <a:solidFill>
                  <a:srgbClr val="1C1F22"/>
                </a:solidFill>
                <a:latin typeface="Calibri"/>
              </a:rPr>
              <a:t>/</a:t>
            </a:r>
            <a:r>
              <a:rPr sz="1500">
                <a:solidFill>
                  <a:srgbClr val="124A5E"/>
                </a:solidFill>
                <a:latin typeface="Consolas"/>
              </a:rPr>
              <a:t>read_i2c_block_data()</a:t>
            </a:r>
            <a:r>
              <a:rPr sz="1500">
                <a:solidFill>
                  <a:srgbClr val="1C1F22"/>
                </a:solidFill>
                <a:latin typeface="Calibri"/>
              </a:rPr>
              <a:t> sprechen die SMBus-Block-Konvention (ein Register-Byte vorab, erstes Byte = Längenangabe) – unsere Sketches senden aber rohe Bytes ohne Präfix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Symptom: Lüfter- und Ventil-Sollwerte vertauscht, Sensorwerte um ein Byte verschoben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Fix:</a:t>
            </a:r>
            <a:r>
              <a:rPr sz="1500">
                <a:solidFill>
                  <a:srgbClr val="1C1F22"/>
                </a:solidFill>
                <a:latin typeface="Calibri"/>
              </a:rPr>
              <a:t> </a:t>
            </a:r>
            <a:r>
              <a:rPr sz="1500">
                <a:solidFill>
                  <a:srgbClr val="124A5E"/>
                </a:solidFill>
                <a:latin typeface="Consolas"/>
              </a:rPr>
              <a:t>smbus2.i2c_msg.read()</a:t>
            </a:r>
            <a:r>
              <a:rPr sz="1500">
                <a:solidFill>
                  <a:srgbClr val="1C1F22"/>
                </a:solidFill>
                <a:latin typeface="Calibri"/>
              </a:rPr>
              <a:t>/</a:t>
            </a:r>
            <a:r>
              <a:rPr sz="1500">
                <a:solidFill>
                  <a:srgbClr val="124A5E"/>
                </a:solidFill>
                <a:latin typeface="Consolas"/>
              </a:rPr>
              <a:t>.write()</a:t>
            </a:r>
            <a:r>
              <a:rPr sz="1500">
                <a:solidFill>
                  <a:srgbClr val="1C1F22"/>
                </a:solidFill>
                <a:latin typeface="Calibri"/>
              </a:rPr>
              <a:t> statt der Block-Funktionen – exakte Byte-Anzahl, kein Präfix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45C33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F8A4C"/>
                </a:solidFill>
                <a:latin typeface="Century Schoolbook"/>
              </a:rPr>
              <a:t>Datenübertragung · Bewertung: Datenformate dargestellt (5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Datenformate der Sensoren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10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91056"/>
          <a:ext cx="10789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383280"/>
                <a:gridCol w="3291840"/>
              </a:tblGrid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45C33"/>
                          </a:solidFill>
                          <a:latin typeface="Calibri"/>
                        </a:rPr>
                        <a:t>Board</a:t>
                      </a:r>
                    </a:p>
                  </a:txBody>
                  <a:tcPr marL="91440" marR="91440" marT="36576" marB="36576" anchor="ctr">
                    <a:solidFill>
                      <a:srgbClr val="E8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45C33"/>
                          </a:solidFill>
                          <a:latin typeface="Calibri"/>
                        </a:rPr>
                        <a:t>23°C → Rohwert</a:t>
                      </a:r>
                    </a:p>
                  </a:txBody>
                  <a:tcPr marL="91440" marR="91440" marT="36576" marB="36576" anchor="ctr">
                    <a:solidFill>
                      <a:srgbClr val="E8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45C33"/>
                          </a:solidFill>
                          <a:latin typeface="Calibri"/>
                        </a:rPr>
                        <a:t>30°C → Rohwert</a:t>
                      </a:r>
                    </a:p>
                  </a:txBody>
                  <a:tcPr marL="91440" marR="91440" marT="36576" marB="36576" anchor="ctr">
                    <a:solidFill>
                      <a:srgbClr val="E8F7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Sensor-Board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Aktor-Board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126 (bei 30,5°C)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282696"/>
            <a:ext cx="10789920" cy="2843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Jedes Board sendet </a:t>
            </a:r>
            <a:r>
              <a:rPr b="1" sz="1500">
                <a:solidFill>
                  <a:srgbClr val="1C1F22"/>
                </a:solidFill>
                <a:latin typeface="Calibri"/>
              </a:rPr>
              <a:t>2 rohe Bytes</a:t>
            </a:r>
            <a:r>
              <a:rPr sz="1500">
                <a:solidFill>
                  <a:srgbClr val="1C1F22"/>
                </a:solidFill>
                <a:latin typeface="Calibri"/>
              </a:rPr>
              <a:t> (KY-028-Analogwert) über I2C – keine Umrechnung in der Firmware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Umrechnung passiert komplett im Pi-Backend (</a:t>
            </a:r>
            <a:r>
              <a:rPr sz="1500">
                <a:solidFill>
                  <a:srgbClr val="124A5E"/>
                </a:solidFill>
                <a:latin typeface="Consolas"/>
              </a:rPr>
              <a:t>calibration.py</a:t>
            </a:r>
            <a:r>
              <a:rPr sz="1500">
                <a:solidFill>
                  <a:srgbClr val="1C1F22"/>
                </a:solidFill>
                <a:latin typeface="Calibri"/>
              </a:rPr>
              <a:t>): 2-Punkt-lineare Interpolation, </a:t>
            </a:r>
            <a:r>
              <a:rPr b="1" sz="1500">
                <a:solidFill>
                  <a:srgbClr val="1C1F22"/>
                </a:solidFill>
                <a:latin typeface="Calibri"/>
              </a:rPr>
              <a:t>pro Board eigene Kurve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45C33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F8A4C"/>
                </a:solidFill>
                <a:latin typeface="Century Schoolbook"/>
              </a:rPr>
              <a:t>Datenübertragung · Bewertung: Messdaten in SQL-DB protokolliert (4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Messdaten in SQLite protokolliert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11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Tabelle </a:t>
            </a:r>
            <a:r>
              <a:rPr sz="1500">
                <a:solidFill>
                  <a:srgbClr val="124A5E"/>
                </a:solidFill>
                <a:latin typeface="Consolas"/>
              </a:rPr>
              <a:t>readings</a:t>
            </a:r>
            <a:r>
              <a:rPr sz="1500">
                <a:solidFill>
                  <a:srgbClr val="1C1F22"/>
                </a:solidFill>
                <a:latin typeface="Calibri"/>
              </a:rPr>
              <a:t> (</a:t>
            </a:r>
            <a:r>
              <a:rPr sz="1500">
                <a:solidFill>
                  <a:srgbClr val="124A5E"/>
                </a:solidFill>
                <a:latin typeface="Consolas"/>
              </a:rPr>
              <a:t>db.py</a:t>
            </a:r>
            <a:r>
              <a:rPr sz="1500">
                <a:solidFill>
                  <a:srgbClr val="1C1F22"/>
                </a:solidFill>
                <a:latin typeface="Calibri"/>
              </a:rPr>
              <a:t>), eine Zeile je Poll-Zyklus (alle 5s)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Felder: </a:t>
            </a:r>
            <a:r>
              <a:rPr sz="1500">
                <a:solidFill>
                  <a:srgbClr val="124A5E"/>
                </a:solidFill>
                <a:latin typeface="Consolas"/>
              </a:rPr>
              <a:t>timestamp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sensor_board_raw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sensor_board_temp_c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actor_board_raw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actor_board_temp_c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fan_pwm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sz="1500">
                <a:solidFill>
                  <a:srgbClr val="124A5E"/>
                </a:solidFill>
                <a:latin typeface="Consolas"/>
              </a:rPr>
              <a:t>valve_angle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Läuft als systemd-Service (</a:t>
            </a:r>
            <a:r>
              <a:rPr sz="1500">
                <a:solidFill>
                  <a:srgbClr val="124A5E"/>
                </a:solidFill>
                <a:latin typeface="Consolas"/>
              </a:rPr>
              <a:t>challenge-i-backend.service</a:t>
            </a:r>
            <a:r>
              <a:rPr sz="1500">
                <a:solidFill>
                  <a:srgbClr val="1C1F22"/>
                </a:solidFill>
                <a:latin typeface="Calibri"/>
              </a:rPr>
              <a:t>) – startet automatisch bei jedem Boot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Rohwert </a:t>
            </a:r>
            <a:r>
              <a:rPr b="1" sz="1500">
                <a:solidFill>
                  <a:srgbClr val="1C1F22"/>
                </a:solidFill>
                <a:latin typeface="Calibri"/>
              </a:rPr>
              <a:t>und</a:t>
            </a:r>
            <a:r>
              <a:rPr sz="1500">
                <a:solidFill>
                  <a:srgbClr val="1C1F22"/>
                </a:solidFill>
                <a:latin typeface="Calibri"/>
              </a:rPr>
              <a:t> kalibrierter Wert werden geloggt – falls die Kalibrierung später nachjustiert wird, bleiben die Rohdaten auswertbar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9333C9"/>
                </a:solidFill>
                <a:latin typeface="Century Schoolbook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3: Regellogik &amp; Aktorik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9333C9"/>
                </a:solidFill>
                <a:latin typeface="Century Schoolbook"/>
              </a:rPr>
              <a:t>Dogan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5ECFC"/>
          </a:solidFill>
          <a:ln w="1270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5B1F86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9333C9"/>
                </a:solidFill>
                <a:latin typeface="Century Schoolbook"/>
              </a:rPr>
              <a:t>Regellogik &amp; Aktorik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Regellogik: zwei Kühlstufen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13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91056"/>
            <a:ext cx="10789920" cy="12344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00784"/>
            <a:ext cx="10332720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 indent="0">
              <a:buNone/>
            </a:pPr>
            <a:r>
              <a:rPr sz="1250">
                <a:solidFill>
                  <a:srgbClr val="1C1F22"/>
                </a:solidFill>
                <a:latin typeface="Consolas"/>
              </a:rPr>
              <a:t># rules.py – vereinfacht</a:t>
            </a:r>
          </a:p>
          <a:p>
            <a:pPr marL="0" indent="0">
              <a:buNone/>
            </a:pPr>
            <a:r>
              <a:rPr sz="1250">
                <a:solidFill>
                  <a:srgbClr val="1C1F22"/>
                </a:solidFill>
                <a:latin typeface="Consolas"/>
              </a:rPr>
              <a:t>if temp &lt; 25°C:         fan = 0,         valve = 0</a:t>
            </a:r>
          </a:p>
          <a:p>
            <a:pPr marL="0" indent="0">
              <a:buNone/>
            </a:pPr>
            <a:r>
              <a:rPr sz="1250">
                <a:solidFill>
                  <a:srgbClr val="1C1F22"/>
                </a:solidFill>
                <a:latin typeface="Consolas"/>
              </a:rPr>
              <a:t>if 25°C &lt;= temp &lt; 28°C: fan = 40..255,   valve = 0     # Stufe 1</a:t>
            </a:r>
          </a:p>
          <a:p>
            <a:pPr marL="0" indent="0">
              <a:buNone/>
            </a:pPr>
            <a:r>
              <a:rPr sz="1250">
                <a:solidFill>
                  <a:srgbClr val="1C1F22"/>
                </a:solidFill>
                <a:latin typeface="Consolas"/>
              </a:rPr>
              <a:t>if temp &gt;= 28°C:         fan = 255,       valve = 30..180  # Stufe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6"/>
            <a:ext cx="10789920" cy="3118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Berechnungsgrundlage: </a:t>
            </a:r>
            <a:r>
              <a:rPr b="1" sz="1500">
                <a:solidFill>
                  <a:srgbClr val="1C1F22"/>
                </a:solidFill>
                <a:latin typeface="Calibri"/>
              </a:rPr>
              <a:t>Mittelwert</a:t>
            </a:r>
            <a:r>
              <a:rPr sz="1500">
                <a:solidFill>
                  <a:srgbClr val="1C1F22"/>
                </a:solidFill>
                <a:latin typeface="Calibri"/>
              </a:rPr>
              <a:t> beider kalibrierter Temperaturen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Schwellwerte sind aktuell Tischtest-Platzhalter, nicht die echten Betriebswerte aus der Moodle-Aufgabenstellung – offener Punkt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5ECFC"/>
          </a:solidFill>
          <a:ln w="1270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5B1F86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9333C9"/>
                </a:solidFill>
                <a:latin typeface="Century Schoolbook"/>
              </a:rPr>
              <a:t>Regellogik &amp; Aktorik · Bewertung: Lüfter über Transistor vom Pi gesteuert (8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Lüfter: Ansteuerung über Transistor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14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910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5C4400"/>
                </a:solidFill>
                <a:latin typeface="Calibri"/>
              </a:rPr>
              <a:t>👉 Live-Demo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10789920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DC-Lüfter hängt über einen Transistor/H-Brücke am Arduino, der Pi liefert den PWM-Sollwert per I2C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Die Odyssee dahin:</a:t>
            </a:r>
            <a:r>
              <a:rPr sz="1500">
                <a:solidFill>
                  <a:srgbClr val="1C1F22"/>
                </a:solidFill>
                <a:latin typeface="Calibri"/>
              </a:rPr>
              <a:t> D9 (Timer1) kollidierte mit der Servo-Bibliothek → auf D3 (Timer2) umverkabelt → Timer2 lief auf diesem Board generell nicht (vermutlich LGT8F328P-Klon-Chip statt echtem ATmega328P) → </a:t>
            </a:r>
            <a:r>
              <a:rPr b="1" sz="1500">
                <a:solidFill>
                  <a:srgbClr val="1C1F22"/>
                </a:solidFill>
                <a:latin typeface="Calibri"/>
              </a:rPr>
              <a:t>Software-PWM auf D4</a:t>
            </a:r>
            <a:r>
              <a:rPr sz="1500">
                <a:solidFill>
                  <a:srgbClr val="1C1F22"/>
                </a:solidFill>
                <a:latin typeface="Calibri"/>
              </a:rPr>
              <a:t>, per </a:t>
            </a:r>
            <a:r>
              <a:rPr sz="1500">
                <a:solidFill>
                  <a:srgbClr val="124A5E"/>
                </a:solidFill>
                <a:latin typeface="Consolas"/>
              </a:rPr>
              <a:t>digitalWrite()</a:t>
            </a:r>
            <a:r>
              <a:rPr sz="1500">
                <a:solidFill>
                  <a:srgbClr val="1C1F22"/>
                </a:solidFill>
                <a:latin typeface="Calibri"/>
              </a:rPr>
              <a:t> und </a:t>
            </a:r>
            <a:r>
              <a:rPr sz="1500">
                <a:solidFill>
                  <a:srgbClr val="124A5E"/>
                </a:solidFill>
                <a:latin typeface="Consolas"/>
              </a:rPr>
              <a:t>millis()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Danach drehte der Lüfter erst </a:t>
            </a:r>
            <a:r>
              <a:rPr b="1" sz="1500">
                <a:solidFill>
                  <a:srgbClr val="1C1F22"/>
                </a:solidFill>
                <a:latin typeface="Calibri"/>
              </a:rPr>
              <a:t>rückwärts</a:t>
            </a:r>
            <a:r>
              <a:rPr sz="1500">
                <a:solidFill>
                  <a:srgbClr val="1C1F22"/>
                </a:solidFill>
                <a:latin typeface="Calibri"/>
              </a:rPr>
              <a:t> (schneller bei Kälte) – Board schaltet active-low, Logik invertiert, jetzt korrekt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5ECFC"/>
          </a:solidFill>
          <a:ln w="1270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5B1F86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9333C9"/>
                </a:solidFill>
                <a:latin typeface="Century Schoolbook"/>
              </a:rPr>
              <a:t>Regellogik &amp; Aktorik · Bewertung: Servomotor vom Pi gesteuert (3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Ventil: Servo-Ansteuerung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15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910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5C4400"/>
                </a:solidFill>
                <a:latin typeface="Calibri"/>
              </a:rPr>
              <a:t>👉 Live-Demo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10789920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Servo am Ventil, Signal auf D6, Standard-Arduino-</a:t>
            </a:r>
            <a:r>
              <a:rPr sz="1500">
                <a:solidFill>
                  <a:srgbClr val="124A5E"/>
                </a:solidFill>
                <a:latin typeface="Consolas"/>
              </a:rPr>
              <a:t>Servo</a:t>
            </a:r>
            <a:r>
              <a:rPr sz="1500">
                <a:solidFill>
                  <a:srgbClr val="1C1F22"/>
                </a:solidFill>
                <a:latin typeface="Calibri"/>
              </a:rPr>
              <a:t>-Bibliothek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Winkel 0–180° direkt aus </a:t>
            </a:r>
            <a:r>
              <a:rPr sz="1500">
                <a:solidFill>
                  <a:srgbClr val="124A5E"/>
                </a:solidFill>
                <a:latin typeface="Consolas"/>
              </a:rPr>
              <a:t>rules.py</a:t>
            </a:r>
            <a:r>
              <a:rPr sz="1500">
                <a:solidFill>
                  <a:srgbClr val="1C1F22"/>
                </a:solidFill>
                <a:latin typeface="Calibri"/>
              </a:rPr>
              <a:t>, vom Pi per I2C an den Aktor-Arduino geschrieben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Genau diese Bibliothek belegt intern Timer1 – </a:t>
            </a:r>
            <a:r>
              <a:rPr b="1" sz="1500">
                <a:solidFill>
                  <a:srgbClr val="1C1F22"/>
                </a:solidFill>
                <a:latin typeface="Calibri"/>
              </a:rPr>
              <a:t>das</a:t>
            </a:r>
            <a:r>
              <a:rPr sz="1500">
                <a:solidFill>
                  <a:srgbClr val="1C1F22"/>
                </a:solidFill>
                <a:latin typeface="Calibri"/>
              </a:rPr>
              <a:t> war die Ursache für den Lüfter-Konflikt auf D9/D10 (siehe vorherige Folie)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81844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F5ECFC"/>
          </a:solidFill>
          <a:ln w="1270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5B1F86"/>
                </a:solidFill>
                <a:latin typeface="Calibri"/>
              </a:rPr>
              <a:t>Challenge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9333C9"/>
                </a:solidFill>
                <a:latin typeface="Century Schoolbook"/>
              </a:rPr>
              <a:t>Regellogik &amp; Aktorik · Bewertung: Szenario sinnvoll erweitert (5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Szenario sinnvoll erweitert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16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Zwei physische Boards statt nur des geforderten Minimums (Sensor + Platzhalter-Slave) – echte 2-Sensor-Redundanz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Kalibrierung nicht geschätzt, sondern mit Referenzthermometer gemessen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Automatischer Systemd-Start, kein manuelles Hochfahren nötig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24A5E"/>
                </a:solidFill>
                <a:latin typeface="Consolas"/>
              </a:rPr>
              <a:t>control_state.py</a:t>
            </a:r>
            <a:r>
              <a:rPr sz="1500">
                <a:solidFill>
                  <a:srgbClr val="1C1F22"/>
                </a:solidFill>
                <a:latin typeface="Calibri"/>
              </a:rPr>
              <a:t>/</a:t>
            </a:r>
            <a:r>
              <a:rPr sz="1500">
                <a:solidFill>
                  <a:srgbClr val="124A5E"/>
                </a:solidFill>
                <a:latin typeface="Consolas"/>
              </a:rPr>
              <a:t>set_control.py</a:t>
            </a:r>
            <a:r>
              <a:rPr sz="1500">
                <a:solidFill>
                  <a:srgbClr val="1C1F22"/>
                </a:solidFill>
                <a:latin typeface="Calibri"/>
              </a:rPr>
              <a:t>: manueller Override-Kanal – die Brücke zu Challenge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2F6FB0"/>
                </a:solidFill>
                <a:latin typeface="Century Schoolbook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4: MQTT &amp;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2F6FB0"/>
                </a:solidFill>
                <a:latin typeface="Century Schoolbook"/>
              </a:rPr>
              <a:t>Erik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2F6FB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F4E7D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2F6FB0"/>
                </a:solidFill>
                <a:latin typeface="Century Schoolbook"/>
              </a:rPr>
              <a:t>MQTT &amp;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Von Challenge I zu Challenge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2F6FB0"/>
                </a:solidFill>
                <a:latin typeface="Calibri"/>
              </a:rPr>
              <a:t>18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18488"/>
            <a:ext cx="2331720" cy="749808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099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1F4E7D"/>
                </a:solidFill>
                <a:latin typeface="Calibri"/>
              </a:rP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02536"/>
            <a:ext cx="2002536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challenge_i.db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618488"/>
            <a:ext cx="2331720" cy="749808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1" y="17099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1F4E7D"/>
                </a:solidFill>
                <a:latin typeface="Calibri"/>
              </a:rPr>
              <a:t>Node-RED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2002536"/>
            <a:ext cx="2002536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618488"/>
            <a:ext cx="2331720" cy="749808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1" y="17099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1F4E7D"/>
                </a:solidFill>
                <a:latin typeface="Calibri"/>
              </a:rPr>
              <a:t>MQTT-Broker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1" y="2002536"/>
            <a:ext cx="2002536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Mosquitto (Pi)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18488"/>
            <a:ext cx="2331720" cy="749808"/>
          </a:xfrm>
          <a:prstGeom prst="roundRect">
            <a:avLst>
              <a:gd name="adj" fmla="val 12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17099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Handy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002536"/>
            <a:ext cx="2002536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EAF2FA"/>
                </a:solidFill>
                <a:latin typeface="Calibri"/>
              </a:rPr>
              <a:t>MQTT Dash / Explorer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1993392"/>
            <a:ext cx="502919" cy="0"/>
          </a:xfrm>
          <a:prstGeom prst="line">
            <a:avLst/>
          </a:prstGeom>
          <a:ln w="22225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1700784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>
                <a:solidFill>
                  <a:srgbClr val="2F6FB0"/>
                </a:solidFill>
                <a:latin typeface="Calibri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1700784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 b="1">
                <a:solidFill>
                  <a:srgbClr val="2F6FB0"/>
                </a:solidFill>
                <a:latin typeface="Calibri"/>
              </a:rPr>
              <a:t>alle 5s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59" y="1993392"/>
            <a:ext cx="502920" cy="0"/>
          </a:xfrm>
          <a:prstGeom prst="line">
            <a:avLst/>
          </a:prstGeom>
          <a:ln w="22225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59" y="1700784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>
                <a:solidFill>
                  <a:srgbClr val="2F6FB0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1700784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 b="1">
                <a:solidFill>
                  <a:srgbClr val="2F6FB0"/>
                </a:solidFill>
                <a:latin typeface="Calibri"/>
              </a:rPr>
              <a:t>publish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0" y="1993392"/>
            <a:ext cx="502920" cy="0"/>
          </a:xfrm>
          <a:prstGeom prst="line">
            <a:avLst/>
          </a:prstGeom>
          <a:ln w="22225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0" y="1700784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>
                <a:solidFill>
                  <a:srgbClr val="2F6FB0"/>
                </a:solidFill>
                <a:latin typeface="Calibr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700784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 b="1">
                <a:solidFill>
                  <a:srgbClr val="2F6FB0"/>
                </a:solidFill>
                <a:latin typeface="Calibri"/>
              </a:rPr>
              <a:t>MQTT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55580" y="2368296"/>
            <a:ext cx="0" cy="868680"/>
          </a:xfrm>
          <a:prstGeom prst="line">
            <a:avLst/>
          </a:prstGeom>
          <a:ln w="19050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86300" y="3236976"/>
            <a:ext cx="5669280" cy="0"/>
          </a:xfrm>
          <a:prstGeom prst="line">
            <a:avLst/>
          </a:prstGeom>
          <a:ln w="19050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86300" y="294436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50" b="1">
                <a:solidFill>
                  <a:srgbClr val="1F4E7D"/>
                </a:solidFill>
                <a:latin typeface="Calibri"/>
              </a:rPr>
              <a:t>control/* (Fernsteuerung)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686300" y="2368296"/>
            <a:ext cx="0" cy="868680"/>
          </a:xfrm>
          <a:prstGeom prst="line">
            <a:avLst/>
          </a:prstGeom>
          <a:ln w="22225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6572" y="2185415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>
                <a:solidFill>
                  <a:srgbClr val="2F6FB0"/>
                </a:solidFill>
                <a:latin typeface="Calibri"/>
              </a:rPr>
              <a:t>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6300" y="3236976"/>
            <a:ext cx="0" cy="320040"/>
          </a:xfrm>
          <a:prstGeom prst="line">
            <a:avLst/>
          </a:prstGeom>
          <a:ln w="22225">
            <a:solidFill>
              <a:srgbClr val="2F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6572" y="3374136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00">
                <a:solidFill>
                  <a:srgbClr val="2F6FB0"/>
                </a:solidFill>
                <a:latin typeface="Calibri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86100" y="3557016"/>
            <a:ext cx="3200400" cy="73152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0692" y="3648456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>
                <a:solidFill>
                  <a:srgbClr val="1F4E7D"/>
                </a:solidFill>
                <a:latin typeface="Calibri"/>
              </a:rPr>
              <a:t>set_control.py → control_state.json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0692" y="3941064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50">
                <a:solidFill>
                  <a:srgbClr val="333333"/>
                </a:solidFill>
                <a:latin typeface="Calibri"/>
              </a:rPr>
              <a:t>app.py liest jeden Poll-Zyklus → I2C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471416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>
                <a:solidFill>
                  <a:srgbClr val="1C1F22"/>
                </a:solidFill>
                <a:latin typeface="Calibri"/>
              </a:rPr>
              <a:t>Die lokale Regelung aus Challenge I läuft automatisch – Challenge II macht Zustand </a:t>
            </a:r>
            <a:r>
              <a:rPr b="1" sz="1250">
                <a:solidFill>
                  <a:srgbClr val="1C1F22"/>
                </a:solidFill>
                <a:latin typeface="Calibri"/>
              </a:rPr>
              <a:t>sichtbar</a:t>
            </a:r>
            <a:r>
              <a:rPr sz="1250">
                <a:solidFill>
                  <a:srgbClr val="1C1F22"/>
                </a:solidFill>
                <a:latin typeface="Calibri"/>
              </a:rPr>
              <a:t> und Aktoren </a:t>
            </a:r>
            <a:r>
              <a:rPr b="1" sz="1250">
                <a:solidFill>
                  <a:srgbClr val="1C1F22"/>
                </a:solidFill>
                <a:latin typeface="Calibri"/>
              </a:rPr>
              <a:t>fernsteuerbar</a:t>
            </a:r>
            <a:r>
              <a:rPr sz="1250">
                <a:solidFill>
                  <a:srgbClr val="1C1F22"/>
                </a:solidFill>
                <a:latin typeface="Calibri"/>
              </a:rPr>
              <a:t>, ohne die Ch-I-Logik zu ersetzen.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F4E7D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2F6FB0"/>
                </a:solidFill>
                <a:latin typeface="Century Schoolbook"/>
              </a:rPr>
              <a:t>MQTT &amp; Topics · Bewertung: Kommunikation über MQTT realisiert (8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MQTT-Broker: lokaler Mosquitto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2F6FB0"/>
                </a:solidFill>
                <a:latin typeface="Calibri"/>
              </a:rPr>
              <a:t>19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2F6FB0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Entscheidung: lokaler Mosquitto auf dem Pi statt ITECH-Broker (war schon installiert)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2F6FB0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Eigene Config: Listener auf </a:t>
            </a:r>
            <a:r>
              <a:rPr sz="1500">
                <a:solidFill>
                  <a:srgbClr val="124A5E"/>
                </a:solidFill>
                <a:latin typeface="Consolas"/>
              </a:rPr>
              <a:t>0.0.0.0:1883</a:t>
            </a:r>
            <a:r>
              <a:rPr sz="1500">
                <a:solidFill>
                  <a:srgbClr val="1C1F22"/>
                </a:solidFill>
                <a:latin typeface="Calibri"/>
              </a:rPr>
              <a:t> statt nur </a:t>
            </a:r>
            <a:r>
              <a:rPr sz="1500">
                <a:solidFill>
                  <a:srgbClr val="124A5E"/>
                </a:solidFill>
                <a:latin typeface="Consolas"/>
              </a:rPr>
              <a:t>localhost</a:t>
            </a:r>
            <a:r>
              <a:rPr sz="1500">
                <a:solidFill>
                  <a:srgbClr val="1C1F22"/>
                </a:solidFill>
                <a:latin typeface="Calibri"/>
              </a:rPr>
              <a:t>, </a:t>
            </a:r>
            <a:r>
              <a:rPr b="1" sz="1500">
                <a:solidFill>
                  <a:srgbClr val="1C1F22"/>
                </a:solidFill>
                <a:latin typeface="Calibri"/>
              </a:rPr>
              <a:t>Passwort-Pflicht</a:t>
            </a:r>
            <a:r>
              <a:rPr sz="1500">
                <a:solidFill>
                  <a:srgbClr val="1C1F22"/>
                </a:solidFill>
                <a:latin typeface="Calibri"/>
              </a:rPr>
              <a:t> (</a:t>
            </a:r>
            <a:r>
              <a:rPr sz="1500">
                <a:solidFill>
                  <a:srgbClr val="124A5E"/>
                </a:solidFill>
                <a:latin typeface="Consolas"/>
              </a:rPr>
              <a:t>allow_anonymous false</a:t>
            </a:r>
            <a:r>
              <a:rPr sz="1500">
                <a:solidFill>
                  <a:srgbClr val="1C1F22"/>
                </a:solidFill>
                <a:latin typeface="Calibri"/>
              </a:rPr>
              <a:t>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2F6FB0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ACL beschränkt den Nutzer </a:t>
            </a:r>
            <a:r>
              <a:rPr sz="1500">
                <a:solidFill>
                  <a:srgbClr val="124A5E"/>
                </a:solidFill>
                <a:latin typeface="Consolas"/>
              </a:rPr>
              <a:t>team13-1</a:t>
            </a:r>
            <a:r>
              <a:rPr sz="1500">
                <a:solidFill>
                  <a:srgbClr val="1C1F22"/>
                </a:solidFill>
                <a:latin typeface="Calibri"/>
              </a:rPr>
              <a:t> strikt auf </a:t>
            </a:r>
            <a:r>
              <a:rPr sz="1500">
                <a:solidFill>
                  <a:srgbClr val="124A5E"/>
                </a:solidFill>
                <a:latin typeface="Consolas"/>
              </a:rPr>
              <a:t>team13-1/#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2F6FB0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Getestet: authentifizierter Roundtrip, anonyme Verbindung abgelehnt, Publish außerhalb der ACL wird verworfen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F4E7D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2F6FB0"/>
                </a:solidFill>
                <a:latin typeface="Century Schoolbook"/>
              </a:rPr>
              <a:t>MQTT &amp; Topics · Bewertung: Organisation/Hierarchie der Topics (5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Topic-Schema &amp; Hierarchie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2F6FB0"/>
                </a:solidFill>
                <a:latin typeface="Calibri"/>
              </a:rPr>
              <a:t>20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>
                <a:solidFill>
                  <a:srgbClr val="1C1F22"/>
                </a:solidFill>
                <a:latin typeface="Calibri"/>
              </a:rPr>
              <a:t>Präfix: team13-1/icetruck/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956816"/>
          <a:ext cx="10789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03504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4E7D"/>
                          </a:solidFill>
                          <a:latin typeface="Calibri"/>
                        </a:rPr>
                        <a:t>Richtung</a:t>
                      </a:r>
                    </a:p>
                  </a:txBody>
                  <a:tcPr marL="91440" marR="91440"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4E7D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marL="91440" marR="91440" marT="36576" marB="36576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4E7D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 marL="91440" marR="91440" marT="36576" marB="36576" anchor="ctr">
                    <a:solidFill>
                      <a:srgbClr val="EAF2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Pi → Handy (retained)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sensors/*_temp_c, actuators/fan_pwm, actuators/valve_angle, status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Zahl bzw. JSON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Handy → Pi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control/mode/set, control/fan_pwm/set, control/valve_angle/set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1F22"/>
                          </a:solidFill>
                          <a:latin typeface="Calibri"/>
                        </a:rPr>
                        <a:t>auto/manual, Zahl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3648456"/>
            <a:ext cx="107899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2F6FB0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Retained</a:t>
            </a:r>
            <a:r>
              <a:rPr sz="1500">
                <a:solidFill>
                  <a:srgbClr val="1C1F22"/>
                </a:solidFill>
                <a:latin typeface="Calibri"/>
              </a:rPr>
              <a:t>, damit ein neu verbundenes Handy sofort den letzten Stand sieht, statt 5s auf den nächsten Poll zu warten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C2650A"/>
                </a:solidFill>
                <a:latin typeface="Century Schoolbook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5: Node-RED &amp; Fernsteuerung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C2650A"/>
                </a:solidFill>
                <a:latin typeface="Century Schoolbook"/>
              </a:rPr>
              <a:t>Anton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7A4308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C2650A"/>
                </a:solidFill>
                <a:latin typeface="Century Schoolbook"/>
              </a:rPr>
              <a:t>Node-RED &amp; Fernsteuerung · Bewertung: Steuerung über Node-RED realisiert (9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Node-RED als Integrationsschicht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22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Ein Flow liest alle 5s die letzte Zeile aus </a:t>
            </a:r>
            <a:r>
              <a:rPr sz="1500">
                <a:solidFill>
                  <a:srgbClr val="124A5E"/>
                </a:solidFill>
                <a:latin typeface="Consolas"/>
              </a:rPr>
              <a:t>challenge_i.db</a:t>
            </a:r>
            <a:r>
              <a:rPr sz="1500">
                <a:solidFill>
                  <a:srgbClr val="1C1F22"/>
                </a:solidFill>
                <a:latin typeface="Calibri"/>
              </a:rPr>
              <a:t> (</a:t>
            </a:r>
            <a:r>
              <a:rPr sz="1500">
                <a:solidFill>
                  <a:srgbClr val="124A5E"/>
                </a:solidFill>
                <a:latin typeface="Consolas"/>
              </a:rPr>
              <a:t>node-red-node-sqlite</a:t>
            </a:r>
            <a:r>
              <a:rPr sz="1500">
                <a:solidFill>
                  <a:srgbClr val="1C1F22"/>
                </a:solidFill>
                <a:latin typeface="Calibri"/>
              </a:rPr>
              <a:t>) und publiziert sie auf die Topics aus dem Schema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Gleicher Flow abonniert </a:t>
            </a:r>
            <a:r>
              <a:rPr sz="1500">
                <a:solidFill>
                  <a:srgbClr val="124A5E"/>
                </a:solidFill>
                <a:latin typeface="Consolas"/>
              </a:rPr>
              <a:t>control/#</a:t>
            </a:r>
            <a:r>
              <a:rPr sz="1500">
                <a:solidFill>
                  <a:srgbClr val="1C1F22"/>
                </a:solidFill>
                <a:latin typeface="Calibri"/>
              </a:rPr>
              <a:t>, validiert eingehende Befehle, loggt sie nach </a:t>
            </a:r>
            <a:r>
              <a:rPr sz="1500">
                <a:solidFill>
                  <a:srgbClr val="124A5E"/>
                </a:solidFill>
                <a:latin typeface="Consolas"/>
              </a:rPr>
              <a:t>control_log.ndjson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Per Exec-Node ruft er </a:t>
            </a:r>
            <a:r>
              <a:rPr sz="1500">
                <a:solidFill>
                  <a:srgbClr val="124A5E"/>
                </a:solidFill>
                <a:latin typeface="Consolas"/>
              </a:rPr>
              <a:t>set_control.py</a:t>
            </a:r>
            <a:r>
              <a:rPr sz="1500">
                <a:solidFill>
                  <a:srgbClr val="1C1F22"/>
                </a:solidFill>
                <a:latin typeface="Calibri"/>
              </a:rPr>
              <a:t> auf – das schreibt den gewünschten Zustand in </a:t>
            </a:r>
            <a:r>
              <a:rPr sz="1500">
                <a:solidFill>
                  <a:srgbClr val="124A5E"/>
                </a:solidFill>
                <a:latin typeface="Consolas"/>
              </a:rPr>
              <a:t>control_state.json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Damit ist Node-RED die Brücke in </a:t>
            </a:r>
            <a:r>
              <a:rPr b="1" sz="1500">
                <a:solidFill>
                  <a:srgbClr val="1C1F22"/>
                </a:solidFill>
                <a:latin typeface="Calibri"/>
              </a:rPr>
              <a:t>beide</a:t>
            </a:r>
            <a:r>
              <a:rPr sz="1500">
                <a:solidFill>
                  <a:srgbClr val="1C1F22"/>
                </a:solidFill>
                <a:latin typeface="Calibri"/>
              </a:rPr>
              <a:t> Richtungen zwischen Pi-Backend und MQTT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C26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7A4308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C2650A"/>
                </a:solidFill>
                <a:latin typeface="Century Schoolbook"/>
              </a:rPr>
              <a:t>Node-RED &amp; Fernsteuerung · Bewertung: Zusätzliche Funktionen realisiert (8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Fernsteuerung: auto/manual als Extra-Feature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C2650A"/>
                </a:solidFill>
                <a:latin typeface="Calibri"/>
              </a:rPr>
              <a:t>23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24A5E"/>
                </a:solidFill>
                <a:latin typeface="Consolas"/>
              </a:rPr>
              <a:t>control/mode/set</a:t>
            </a:r>
            <a:r>
              <a:rPr sz="1500">
                <a:solidFill>
                  <a:srgbClr val="1C1F22"/>
                </a:solidFill>
                <a:latin typeface="Calibri"/>
              </a:rPr>
              <a:t> schaltet zwischen automatischer Regellogik (</a:t>
            </a:r>
            <a:r>
              <a:rPr sz="1500">
                <a:solidFill>
                  <a:srgbClr val="124A5E"/>
                </a:solidFill>
                <a:latin typeface="Consolas"/>
              </a:rPr>
              <a:t>rules.py</a:t>
            </a:r>
            <a:r>
              <a:rPr sz="1500">
                <a:solidFill>
                  <a:srgbClr val="1C1F22"/>
                </a:solidFill>
                <a:latin typeface="Calibri"/>
              </a:rPr>
              <a:t>) und manuellem Override vom Handy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Im </a:t>
            </a:r>
            <a:r>
              <a:rPr sz="1500">
                <a:solidFill>
                  <a:srgbClr val="124A5E"/>
                </a:solidFill>
                <a:latin typeface="Consolas"/>
              </a:rPr>
              <a:t>manual</a:t>
            </a:r>
            <a:r>
              <a:rPr sz="1500">
                <a:solidFill>
                  <a:srgbClr val="1C1F22"/>
                </a:solidFill>
                <a:latin typeface="Calibri"/>
              </a:rPr>
              <a:t>-Modus liest </a:t>
            </a:r>
            <a:r>
              <a:rPr sz="1500">
                <a:solidFill>
                  <a:srgbClr val="124A5E"/>
                </a:solidFill>
                <a:latin typeface="Consolas"/>
              </a:rPr>
              <a:t>app.py</a:t>
            </a:r>
            <a:r>
              <a:rPr sz="1500">
                <a:solidFill>
                  <a:srgbClr val="1C1F22"/>
                </a:solidFill>
                <a:latin typeface="Calibri"/>
              </a:rPr>
              <a:t> </a:t>
            </a:r>
            <a:r>
              <a:rPr sz="1500">
                <a:solidFill>
                  <a:srgbClr val="124A5E"/>
                </a:solidFill>
                <a:latin typeface="Consolas"/>
              </a:rPr>
              <a:t>control_state.json</a:t>
            </a:r>
            <a:r>
              <a:rPr sz="1500">
                <a:solidFill>
                  <a:srgbClr val="1C1F22"/>
                </a:solidFill>
                <a:latin typeface="Calibri"/>
              </a:rPr>
              <a:t> jeden Poll-Zyklus und schreibt die vom Handy gesendeten Werte </a:t>
            </a:r>
            <a:r>
              <a:rPr b="1" sz="1500">
                <a:solidFill>
                  <a:srgbClr val="1C1F22"/>
                </a:solidFill>
                <a:latin typeface="Calibri"/>
              </a:rPr>
              <a:t>direkt per I2C</a:t>
            </a:r>
            <a:r>
              <a:rPr sz="1500">
                <a:solidFill>
                  <a:srgbClr val="1C1F22"/>
                </a:solidFill>
                <a:latin typeface="Calibri"/>
              </a:rPr>
              <a:t> – statt der berechneten Werte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C2650A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Modul-seitig komplett getestet (</a:t>
            </a:r>
            <a:r>
              <a:rPr sz="1500">
                <a:solidFill>
                  <a:srgbClr val="124A5E"/>
                </a:solidFill>
                <a:latin typeface="Consolas"/>
              </a:rPr>
              <a:t>pytest</a:t>
            </a:r>
            <a:r>
              <a:rPr sz="1500">
                <a:solidFill>
                  <a:srgbClr val="1C1F22"/>
                </a:solidFill>
                <a:latin typeface="Calibri"/>
              </a:rPr>
              <a:t>, 16/16 grün), auf der echten Hardware End-to-End noch nicht final verifiziert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500" b="1" i="1">
                <a:solidFill>
                  <a:srgbClr val="1F8A4C"/>
                </a:solidFill>
                <a:latin typeface="Century Schoolbook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Block 6: Mobiles Endgerät &amp;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1F8A4C"/>
                </a:solidFill>
                <a:latin typeface="Century Schoolbook"/>
              </a:rPr>
              <a:t>Felix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45C33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1F8A4C"/>
                </a:solidFill>
                <a:latin typeface="Century Schoolbook"/>
              </a:rPr>
              <a:t>Mobiles Endgerät &amp; Status · Bewertung: weiteres Endgerät über MQTT eingebunden (8 Pkt)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Mobiles Endgerät statt Eigenbau-App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25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Aufgabenstellung erlaubt explizit MQTT Dash oder MQTT Explorer statt einer selbstgebauten App – genau das nutzen wir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Einzelwert-Topics als reiner Zahlen-Payload → passen direkt in numerische Widgets/Gauges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24A5E"/>
                </a:solidFill>
                <a:latin typeface="Consolas"/>
              </a:rPr>
              <a:t>status</a:t>
            </a:r>
            <a:r>
              <a:rPr sz="1500">
                <a:solidFill>
                  <a:srgbClr val="1C1F22"/>
                </a:solidFill>
                <a:latin typeface="Calibri"/>
              </a:rPr>
              <a:t>-Topic zusätzlich als JSON für alle, die lieber Rohdaten sehen (z.B. MQTT Explorer)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Retained Topics sorgen dafür, dass ein Widget sofort einen Wert zeigt, nicht erst nach dem nächsten Poll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145C33"/>
                </a:solidFill>
                <a:latin typeface="Calibri"/>
              </a:rPr>
              <a:t>Challenge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Stand heute &amp; offene Punkte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F8A4C"/>
                </a:solidFill>
                <a:latin typeface="Calibri"/>
              </a:rPr>
              <a:t>26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Läuft:</a:t>
            </a:r>
            <a:r>
              <a:rPr sz="1500">
                <a:solidFill>
                  <a:srgbClr val="1C1F22"/>
                </a:solidFill>
                <a:latin typeface="Calibri"/>
              </a:rPr>
              <a:t> I2C-Bug behoben, Regellogik pytest-getestet, SQLite-Logging live im Systemd-Service, Node-RED-Flow importiert und mit echten Live-Daten verifiziert (Lese-Richtung), Broker-Auth läuft wieder (die Handy-Verbindungsfehler kamen von der wechselnden Hotspot-IP, nicht von der Authentifizierung)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Noch offen:</a:t>
            </a:r>
          </a:p>
          <a:p>
            <a:pPr marL="457200" indent="-457200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–"/>
            </a:pPr>
            <a:r>
              <a:rPr sz="1300">
                <a:solidFill>
                  <a:srgbClr val="1C1F22"/>
                </a:solidFill>
                <a:latin typeface="Calibri"/>
              </a:rPr>
              <a:t>Backend-Service hält noch alten Code im Speicher (kein </a:t>
            </a:r>
            <a:r>
              <a:rPr sz="1300">
                <a:solidFill>
                  <a:srgbClr val="124A5E"/>
                </a:solidFill>
                <a:latin typeface="Consolas"/>
              </a:rPr>
              <a:t>control_state</a:t>
            </a:r>
            <a:r>
              <a:rPr sz="1300">
                <a:solidFill>
                  <a:srgbClr val="1C1F22"/>
                </a:solidFill>
                <a:latin typeface="Calibri"/>
              </a:rPr>
              <a:t>-Support) – braucht kurz sudo: </a:t>
            </a:r>
            <a:r>
              <a:rPr sz="1300">
                <a:solidFill>
                  <a:srgbClr val="124A5E"/>
                </a:solidFill>
                <a:latin typeface="Consolas"/>
              </a:rPr>
              <a:t>systemctl restart</a:t>
            </a:r>
          </a:p>
          <a:p>
            <a:pPr marL="457200" indent="-457200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–"/>
            </a:pPr>
            <a:r>
              <a:rPr sz="1300">
                <a:solidFill>
                  <a:srgbClr val="1C1F22"/>
                </a:solidFill>
                <a:latin typeface="Calibri"/>
              </a:rPr>
              <a:t>MQTT Dash auf einem echten Handy noch nicht konfiguriert (Broker-IP im Hotspot wechselt, vorher hostname -I prüfen)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1F8A4C"/>
              </a:buClr>
              <a:buFont typeface="Arial"/>
              <a:buChar char="●"/>
            </a:pPr>
            <a:r>
              <a:rPr b="1" sz="1500">
                <a:solidFill>
                  <a:srgbClr val="1C1F22"/>
                </a:solidFill>
                <a:latin typeface="Calibri"/>
              </a:rPr>
              <a:t>Challenge III (Cloud) – Sensor-Drift realisiert:</a:t>
            </a:r>
            <a:r>
              <a:rPr sz="1500">
                <a:solidFill>
                  <a:srgbClr val="1C1F22"/>
                </a:solidFill>
                <a:latin typeface="Calibri"/>
              </a:rPr>
              <a:t> ThingSpeak-Kanal mit MATLAB-Visualisierung (1-min-Mittel der Abweichung beider Sensoren, Warnschwelle 3 °C) zeigt, ob die beiden KY-028 auseinanderlaufen – Predictive Maintenance. Azure-IoT-Hub-Anbindung vorbereitet, Ende-zu-Ende-Test steht noch aus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384" y="1645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84494" y="1977344"/>
            <a:ext cx="193322" cy="193322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7816" y="2033470"/>
            <a:ext cx="118487" cy="130960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761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8352" y="2217438"/>
            <a:ext cx="81070" cy="8107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Fazit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9333C9"/>
                </a:solidFill>
                <a:latin typeface="Century Schoolbook"/>
              </a:rPr>
              <a:t>Dogan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" y="365759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383" y="558588"/>
            <a:ext cx="112478" cy="112478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861" y="591243"/>
            <a:ext cx="68938" cy="76195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6197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445" y="698279"/>
            <a:ext cx="47168" cy="471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33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404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1">
                <a:solidFill>
                  <a:srgbClr val="9333C9"/>
                </a:solidFill>
                <a:latin typeface="Century Schoolbook"/>
              </a:rPr>
              <a:t>Fazit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836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1C1F22"/>
                </a:solidFill>
                <a:latin typeface="Century Schoolbook"/>
              </a:rPr>
              <a:t>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9333C9"/>
                </a:solidFill>
                <a:latin typeface="Calibri"/>
              </a:rPr>
              <a:t>28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10789920" cy="4535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Erst auf der echten Hardware messen, nicht raten – der DHT22 "war kaputt", nicht unser Code; der PWM-Timer-Konflikt war chip-spezifisch, keine Verkabelungsfrage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Modul-Tests (pytest, Mock-I2C) geben Sicherheit *vor* dem Hardware-Test, ersetzen ihn aber nicht – der End-to-End-Test auf echter Hardware fand nochmal eigene Bugs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9333C9"/>
              </a:buClr>
              <a:buFont typeface="Arial"/>
              <a:buChar char="●"/>
            </a:pPr>
            <a:r>
              <a:rPr sz="1500">
                <a:solidFill>
                  <a:srgbClr val="1C1F22"/>
                </a:solidFill>
                <a:latin typeface="Calibri"/>
              </a:rPr>
              <a:t>Ehrliches Logging (Rohwert </a:t>
            </a:r>
            <a:r>
              <a:rPr b="1" sz="1500">
                <a:solidFill>
                  <a:srgbClr val="1C1F22"/>
                </a:solidFill>
                <a:latin typeface="Calibri"/>
              </a:rPr>
              <a:t>und</a:t>
            </a:r>
            <a:r>
              <a:rPr sz="1500">
                <a:solidFill>
                  <a:srgbClr val="1C1F22"/>
                </a:solidFill>
                <a:latin typeface="Calibri"/>
              </a:rPr>
              <a:t> kalibrierter Wert) macht Fehlersuche später erst möglich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46120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1C1F22"/>
                </a:solidFill>
                <a:latin typeface="Century Schoolbook"/>
              </a:rPr>
              <a:t>Danke!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60520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000" b="1" i="1">
                <a:solidFill>
                  <a:srgbClr val="1C6E8C"/>
                </a:solidFill>
                <a:latin typeface="Century Schoolbook"/>
              </a:rP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00" b="1">
                <a:solidFill>
                  <a:srgbClr val="1C6E8C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