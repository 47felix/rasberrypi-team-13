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 Erik. Ich fange ganz vorne in der Kette an: bei der Hardware und den Sensoren.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Aufbau besteht aus zwei Arduino Unos und einem Raspberry Pi. Die Arduinos sitzen direkt an der Hardware, sie messen und steuern. Der Pi ist das Gehirn: Er holt die Werte ab, entscheidet, was passiert, und speichert alles. Alle drei hängen an einem gemeinsamen I2C-Bus, das sind nur zwei Leitungen, Daten und Takt. Damit der Pi weiß, mit wem er redet, hat jedes Board eine eigene Adresse: 0x08 ist unser Sensor-Board, 0x09 das Aktor-Board, weil da zusätzlich Lüfter und Ventil dranhängen. Der Pi ist der Master, er fragt an, die Arduinos antworten.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seht ihr, was wo angeschlossen ist. Beide Boards haben den gleichen Temperatursensor am Analogeingang A0 und eine LED an einem PWM-Pin. Am Aktor-Board hängen zusätzlich der Lüfter und der Servo, das erklärt Dogan gleich genauer. Wichtig bei I2C: Der Arduino arbeitet mit 5 Volt, der Pi nur mit 3,3 Volt. Kämen 5 Volt auf den Bus, könnten wir den Pi beschädigen. Deshalb ziehen wir die Leitungen mit Widerständen auf 3,3 Volt hoch und haben die internen 5-Volt-Pull-ups der Arduinos abgeschaltet. Außerdem haben alle drei Geräte eine gemeinsame Masse.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Sensor nutzen wir das KY-028. Darauf sitzt ein NTC-Thermistor, ein Widerstand, dessen Wert sich mit der Temperatur ändert. Der Arduino misst die Spannung daran und wandelt sie mit seinem Analog-Digital-Wandler in eine Zahl zwischen 0 und 1023 um, das ist unser Rohwert. NTC heißt: Wird es wärmer, sinkt der Wert. Bei 23 Grad haben wir zum Beispiel rund 212 gemessen, bei 30 Grad nur noch 160. Der Arduino misst fünfmal pro Sekunde. Weil der Wert bis 1023 gehen kann und ein Byte nur bis 255, schicken wir ihn als zwei Bytes an den Pi.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Ursprünglich war das nicht so geplant. Auf dem Aktor-Board sollte ein DHT22 sitzen, der Temperatur und Luftfeuchte misst. Der hat aber nie einen gültigen Wert geliefert, immer nur NaN, also ‚keine Zahl‘. Wir haben das direkt über den seriellen Monitor geprüft, damit wir einen Fehler in unserer Software ausschließen konnten, und die Verkabelung mehrfach kontrolliert. Der Sensor war vermutlich defekt. Statt weiter Zeit zu verlieren, haben wir ihn durch ein zweites KY-028 ersetzt. Das hat den Vorteil, dass jetzt beide Boards gleich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Rohwert von 212 sagt noch nichts über die Temperatur. Deshalb haben wir kalibriert: Wir haben ein echtes Thermometer neben den Sensor gelegt und bei zwei Temperaturen den Rohwert notiert. Durch diese zwei Punkte legen wir eine Gerade und können so jeden Rohwert in Grad Celsius umrechnen. Wie ihr seht, liefern die beiden Sensoren bei gleicher Temperatur ganz unterschiedliche Werte, 212 gegenüber 174. Das ist normale Bauteilstreuung, deshalb bekommt jedes Board seine eigene Kurve. Die Umrechnung passiert auf dem Pi, die Arduinos schicken nur den Rohwert. Rechts seht ihr, wie sich das Datenformat auf dem Weg ändert: von der Spannung über den Rohwert und zwei Bytes bis zur Temperatur in der Datenbank.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Board hat eine LED, die die Temperatur anzeigt: Je wärmer, desto heller. Dafür nutzen wir PWM. Die LED wird so schnell an- und ausgeschaltet, dass man das Flackern nicht sieht. Je länger sie pro Takt an ist, desto heller wirkt sie, das seht ihr rechts. Der Arduino rechnet den Rohwert mit der Funktion map() direkt in einen Helligkeitswert zwischen 0 und 255 um, constrain() sorgt dafür, dass der Wert nicht aus diesem Bereich rausläuft. Das passiert komplett auf dem Arduino, ohne den Pi. So reagiert die LED sofort und funktioniert auch, wenn der Pi mal nicht antwortet. Ich zeige das kurz.</a:t>
            </a:r>
          </a:p>
          <a:p/>
          <a:p>
            <a:r>
              <a:t>[DEMO: Finger auf den Sensor am SENSOR-BOARD legen – dort reagiert die LED zwischen ca. 29 und 33 °C, also gut sichtbar. Warten, bis sie heller wird.]</a:t>
            </a:r>
          </a:p>
          <a:p/>
          <a:p>
            <a:r>
              <a:t>Damit gebe ich an Felix ab, der zeigt, wie die Daten zum Pi kommen.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 Erik. Ich zeige jetzt, wie Node-RED die Brücke zwischen unserem Pi und MQTT schlägt.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Node-RED ist ein Werkzeug, mit dem man Abläufe grafisch zusammenbaut, statt alles von Hand zu programmieren. Man zieht Bausteine, sogenannte Nodes, auf eine Fläche und verbindet sie. Durch diese Verbindungen wandern Nachrichten von Baustein zu Baustein, wie rechts gezeigt. Für MQTT und Datenbanken gibt es fertige Nodes, und wo wir eigene Logik brauchen, schreiben wir sie in einem Function-Node mit JavaScript. Bei uns ist Node-RED die Brücke zwischen unserem Python-Backend aus Challenge I und dem MQTT-Broker, und zwar in beide Richtungen.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seht ihr unseren Flow. Er hat zwei Stränge. Oben geht es vom Pi zum Handy: Messwerte werden aus der Datenbank abgeholt und per MQTT veröffentlicht. Unten geht es vom Handy zum Pi: Befehle kommen rein, werden geprüft und dann an drei Stellen weitergegeben. Beide Richtungen schauen wir uns jetzt einzeln an.</a:t>
            </a:r>
          </a:p>
          <a:p/>
          <a:p>
            <a:r>
              <a:t>[Den Hinweis unten auf der Folie vor dem Vortrag löschen oder durch einen Screenshot ersetzen.]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fünf Sekunden startet ein Inject-Node den Ablauf. Danach holt ein SQLite-Node mit dieser SQL-Abfrage die neueste Zeile aus unserer Datenbank, also die letzte Messung. Ein Function-Node verteilt sie auf acht einzelne MQTT-Topics: die Temperaturen beider Sensoren, die Rohwerte, die Werte für Lüfter und Ventil und zusätzlich die Durchschnittstemperatur, die wir direkt hier im Flow berechnen. Außerdem gibt es ein Status-Topic mit allen Werten als JSON. Alles wird retained veröffentlicht. Das heißt, der Broker merkt sich den letzten Wert, und ein Handy, das sich neu verbindet, sieht ihn sofort, statt auf den nächsten Zyklus zu warten.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die andere Richtung abonniert der Flow alle Topics unter control. Die Raute ist ein Platzhalter und bedeutet ‚alles darunter‘. Jeder Befehl wird zuerst geprüft, denn wir wollen nicht, dass jemand Unsinn an die Hardware schickt. Beim Modus sind nur auto und manual erlaubt, alles andere wird verworfen. Zahlen werden auf den erlaubten Bereich begrenzt: Schickt jemand für den Lüfter 999, wird daraus 255, weil mehr nicht geht, und beim Ventil ist bei 180 Grad Schluss. Ein gültiger Befehl geht an drei Stellen: in die Debug-Ansicht, in eine Log-Datei mit Zeitstempel, damit wir nachvollziehen können, wer wann was geschaltet hat, und an ein Python-Skript, das ihn ans Backend weitergibt.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haben wir eine Zusatzfunktion gebaut: einen Umschalter zwischen automatisch und manuell. Das Python-Skript schreibt den Befehl vom Handy in eine kleine Datei, control_state.json. Unser Backend aus Challenge I schaut bei jedem Messzyklus, also alle fünf Sekunden, in diese Datei. Steht dort ‚auto‘, rechnet wie bisher die Regellogik aus, wie stark Lüfter und Ventil laufen. Steht dort ‚manual‘, nimmt das Backend die Werte vom Handy und schickt sie per I2C an den Aktor-Arduino. So kann man im Notfall per Hand eingreifen, zum Beispiel wenn ein Sensor spinnt. Die automatische Regelung bleibt dabei erhalten, wir haben nur einen zweiten Weg ergänzt.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Stand: Der Flow läuft auf dem Pi, und die Richtung vom Pi zum Handy haben wir mit echten Messdaten geprüft. Die Backend-Logik ist mit 16 automatischen Tests abgedeckt, die alle grün sind. Dafür haben wir den I2C-Bus simuliert, damit wir auch ohne angeschlossene Hardware testen können. Felix zeigt jetzt, wie das Ganze auf dem Handy aussieht.</a:t>
            </a:r>
          </a:p>
          <a:p/>
          <a:p>
            <a:r>
              <a:t>[Letzten Punkt vorher mit Felix klären und auf der Folie anpassen.]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1E3"/>
        </a:solidFill>
        <a:effectLst/>
      </p:bgPr>
    </p:bg>
    <p:spTree>
      <p:nvGrpSpPr>
        <p:cNvPr id="1" name=""/>
        <p:cNvGrpSpPr/>
        <p:nvPr/>
      </p:nvGrpSpPr>
      <p:grpSpPr/>
      <p:sp>
        <p:nvSpPr>
          <p:cNvPr id="2" name="Oval 1"/>
          <p:cNvSpPr/>
          <p:nvPr/>
        </p:nvSpPr>
        <p:spPr>
          <a:xfrm>
            <a:off x="5593384" y="1645920"/>
            <a:ext cx="1005840" cy="1005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784494" y="1977344"/>
            <a:ext cx="193322" cy="193322"/>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77816" y="2033470"/>
            <a:ext cx="118487" cy="130960"/>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7612" y="2217438"/>
            <a:ext cx="81070" cy="81070"/>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018352" y="2217438"/>
            <a:ext cx="81070" cy="81070"/>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2880360"/>
            <a:ext cx="12191695" cy="365760"/>
          </a:xfrm>
          <a:prstGeom prst="rect">
            <a:avLst/>
          </a:prstGeom>
          <a:noFill/>
        </p:spPr>
        <p:txBody>
          <a:bodyPr wrap="square" lIns="0" rIns="0" tIns="0" bIns="0" anchor="t">
            <a:spAutoFit/>
          </a:bodyPr>
          <a:lstStyle/>
          <a:p>
            <a:pPr algn="ctr" marL="0" indent="0">
              <a:buNone/>
            </a:pPr>
            <a:r>
              <a:rPr sz="1500" b="1" i="1">
                <a:solidFill>
                  <a:srgbClr val="C2650A"/>
                </a:solidFill>
                <a:latin typeface="Century Schoolbook"/>
              </a:rPr>
              <a:t>Challenge I</a:t>
            </a:r>
          </a:p>
        </p:txBody>
      </p:sp>
      <p:sp>
        <p:nvSpPr>
          <p:cNvPr id="8" name="TextBox 7"/>
          <p:cNvSpPr txBox="1"/>
          <p:nvPr/>
        </p:nvSpPr>
        <p:spPr>
          <a:xfrm>
            <a:off x="1097280" y="3246120"/>
            <a:ext cx="9997135" cy="1005840"/>
          </a:xfrm>
          <a:prstGeom prst="rect">
            <a:avLst/>
          </a:prstGeom>
          <a:noFill/>
        </p:spPr>
        <p:txBody>
          <a:bodyPr wrap="square" lIns="0" rIns="0" tIns="0" bIns="0" anchor="t">
            <a:spAutoFit/>
          </a:bodyPr>
          <a:lstStyle/>
          <a:p>
            <a:pPr algn="ctr" marL="0" indent="0">
              <a:buNone/>
            </a:pPr>
            <a:r>
              <a:rPr sz="3400" b="1">
                <a:solidFill>
                  <a:srgbClr val="1C1F22"/>
                </a:solidFill>
                <a:latin typeface="Century Schoolbook"/>
              </a:rPr>
              <a:t>Block 1: Hardware &amp; Sensorik</a:t>
            </a:r>
          </a:p>
        </p:txBody>
      </p:sp>
      <p:sp>
        <p:nvSpPr>
          <p:cNvPr id="9" name="TextBox 8"/>
          <p:cNvSpPr txBox="1"/>
          <p:nvPr/>
        </p:nvSpPr>
        <p:spPr>
          <a:xfrm>
            <a:off x="1097280" y="4160520"/>
            <a:ext cx="9997135" cy="548640"/>
          </a:xfrm>
          <a:prstGeom prst="rect">
            <a:avLst/>
          </a:prstGeom>
          <a:noFill/>
        </p:spPr>
        <p:txBody>
          <a:bodyPr wrap="square" lIns="0" rIns="0" tIns="0" bIns="0" anchor="t">
            <a:spAutoFit/>
          </a:bodyPr>
          <a:lstStyle/>
          <a:p>
            <a:pPr algn="ctr" marL="0" indent="0">
              <a:buNone/>
            </a:pPr>
            <a:r>
              <a:rPr sz="2000" b="1" i="1">
                <a:solidFill>
                  <a:srgbClr val="C2650A"/>
                </a:solidFill>
                <a:latin typeface="Century Schoolbook"/>
              </a:rPr>
              <a:t>Anton</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Überblick</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Systemarchitektur</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02 / 14</a:t>
            </a:r>
          </a:p>
        </p:txBody>
      </p:sp>
      <p:sp>
        <p:nvSpPr>
          <p:cNvPr id="11" name="Rounded Rectangle 10"/>
          <p:cNvSpPr/>
          <p:nvPr/>
        </p:nvSpPr>
        <p:spPr>
          <a:xfrm>
            <a:off x="685800" y="1682496"/>
            <a:ext cx="4754880" cy="173736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73936"/>
            <a:ext cx="442569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Sensor-Board · I2C 0x08</a:t>
            </a:r>
          </a:p>
        </p:txBody>
      </p:sp>
      <p:sp>
        <p:nvSpPr>
          <p:cNvPr id="13" name="TextBox 12"/>
          <p:cNvSpPr txBox="1"/>
          <p:nvPr/>
        </p:nvSpPr>
        <p:spPr>
          <a:xfrm>
            <a:off x="850392" y="2066544"/>
            <a:ext cx="4425696" cy="128016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KY-028 Temperatursensor → A0</a:t>
            </a:r>
          </a:p>
          <a:p>
            <a:pPr algn="l" marL="0" indent="0">
              <a:lnSpc>
                <a:spcPct val="115000"/>
              </a:lnSpc>
              <a:buNone/>
            </a:pPr>
            <a:r>
              <a:rPr sz="1050">
                <a:solidFill>
                  <a:srgbClr val="333333"/>
                </a:solidFill>
                <a:latin typeface="Calibri"/>
              </a:rPr>
              <a:t>LED (PWM) → D9</a:t>
            </a:r>
          </a:p>
        </p:txBody>
      </p:sp>
      <p:sp>
        <p:nvSpPr>
          <p:cNvPr id="14" name="Rounded Rectangle 13"/>
          <p:cNvSpPr/>
          <p:nvPr/>
        </p:nvSpPr>
        <p:spPr>
          <a:xfrm>
            <a:off x="6748272" y="1682496"/>
            <a:ext cx="4754880" cy="173736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1773936"/>
            <a:ext cx="442569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Aktor-Board · I2C 0x09</a:t>
            </a:r>
          </a:p>
        </p:txBody>
      </p:sp>
      <p:sp>
        <p:nvSpPr>
          <p:cNvPr id="16" name="TextBox 15"/>
          <p:cNvSpPr txBox="1"/>
          <p:nvPr/>
        </p:nvSpPr>
        <p:spPr>
          <a:xfrm>
            <a:off x="6912864" y="2066544"/>
            <a:ext cx="4425696" cy="128016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KY-028 Temperatursensor → A0</a:t>
            </a:r>
          </a:p>
          <a:p>
            <a:pPr algn="l" marL="0" indent="0">
              <a:lnSpc>
                <a:spcPct val="115000"/>
              </a:lnSpc>
              <a:buNone/>
            </a:pPr>
            <a:r>
              <a:rPr sz="1050">
                <a:solidFill>
                  <a:srgbClr val="333333"/>
                </a:solidFill>
                <a:latin typeface="Calibri"/>
              </a:rPr>
              <a:t>LED (PWM) → D5</a:t>
            </a:r>
          </a:p>
          <a:p>
            <a:pPr algn="l" marL="0" indent="0">
              <a:lnSpc>
                <a:spcPct val="115000"/>
              </a:lnSpc>
              <a:buNone/>
            </a:pPr>
            <a:r>
              <a:rPr sz="1050">
                <a:solidFill>
                  <a:srgbClr val="333333"/>
                </a:solidFill>
                <a:latin typeface="Calibri"/>
              </a:rPr>
              <a:t>Lüfter (über Transistor) → D4</a:t>
            </a:r>
          </a:p>
          <a:p>
            <a:pPr algn="l" marL="0" indent="0">
              <a:lnSpc>
                <a:spcPct val="115000"/>
              </a:lnSpc>
              <a:buNone/>
            </a:pPr>
            <a:r>
              <a:rPr sz="1050">
                <a:solidFill>
                  <a:srgbClr val="333333"/>
                </a:solidFill>
                <a:latin typeface="Calibri"/>
              </a:rPr>
              <a:t>Servo / Ventil → D6</a:t>
            </a:r>
          </a:p>
        </p:txBody>
      </p:sp>
      <p:cxnSp>
        <p:nvCxnSpPr>
          <p:cNvPr id="17" name="Connector 16"/>
          <p:cNvCxnSpPr/>
          <p:nvPr/>
        </p:nvCxnSpPr>
        <p:spPr>
          <a:xfrm>
            <a:off x="3063240" y="3419856"/>
            <a:ext cx="0" cy="50292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25712" y="3419856"/>
            <a:ext cx="0" cy="50292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063240" y="3922776"/>
            <a:ext cx="606247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063240" y="3593592"/>
            <a:ext cx="6062472" cy="274320"/>
          </a:xfrm>
          <a:prstGeom prst="rect">
            <a:avLst/>
          </a:prstGeom>
          <a:noFill/>
        </p:spPr>
        <p:txBody>
          <a:bodyPr wrap="square" lIns="0" rIns="0" tIns="0" bIns="0" anchor="t">
            <a:spAutoFit/>
          </a:bodyPr>
          <a:lstStyle/>
          <a:p>
            <a:pPr algn="ctr" marL="0" indent="0">
              <a:buNone/>
            </a:pPr>
            <a:r>
              <a:rPr sz="1200" b="1">
                <a:solidFill>
                  <a:srgbClr val="7A4308"/>
                </a:solidFill>
                <a:latin typeface="Calibri"/>
              </a:rPr>
              <a:t>I2C-Bus · SDA + SCL · Pull-ups auf 3,3 V</a:t>
            </a:r>
          </a:p>
        </p:txBody>
      </p:sp>
      <p:cxnSp>
        <p:nvCxnSpPr>
          <p:cNvPr id="21" name="Connector 20"/>
          <p:cNvCxnSpPr/>
          <p:nvPr/>
        </p:nvCxnSpPr>
        <p:spPr>
          <a:xfrm>
            <a:off x="6096304" y="3922776"/>
            <a:ext cx="0" cy="50292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86576" y="4242816"/>
            <a:ext cx="219456" cy="182880"/>
          </a:xfrm>
          <a:prstGeom prst="rect">
            <a:avLst/>
          </a:prstGeom>
          <a:noFill/>
        </p:spPr>
        <p:txBody>
          <a:bodyPr wrap="square" lIns="0" rIns="0" tIns="0" bIns="0" anchor="t">
            <a:spAutoFit/>
          </a:bodyPr>
          <a:lstStyle/>
          <a:p>
            <a:pPr algn="ctr" marL="0" indent="0">
              <a:buNone/>
            </a:pPr>
            <a:r>
              <a:rPr sz="1000">
                <a:solidFill>
                  <a:srgbClr val="C2650A"/>
                </a:solidFill>
                <a:latin typeface="Calibri"/>
              </a:rPr>
              <a:t>▼</a:t>
            </a:r>
          </a:p>
        </p:txBody>
      </p:sp>
      <p:sp>
        <p:nvSpPr>
          <p:cNvPr id="23" name="Rounded Rectangle 22"/>
          <p:cNvSpPr/>
          <p:nvPr/>
        </p:nvSpPr>
        <p:spPr>
          <a:xfrm>
            <a:off x="3566160" y="4471416"/>
            <a:ext cx="5056632" cy="1051560"/>
          </a:xfrm>
          <a:prstGeom prst="roundRect">
            <a:avLst>
              <a:gd name="adj" fmla="val 12000"/>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30752" y="4562855"/>
            <a:ext cx="4727448" cy="274320"/>
          </a:xfrm>
          <a:prstGeom prst="rect">
            <a:avLst/>
          </a:prstGeom>
          <a:noFill/>
        </p:spPr>
        <p:txBody>
          <a:bodyPr wrap="square" lIns="0" rIns="0" tIns="0" bIns="0" anchor="t">
            <a:spAutoFit/>
          </a:bodyPr>
          <a:lstStyle/>
          <a:p>
            <a:pPr algn="l" marL="0" indent="0">
              <a:buNone/>
            </a:pPr>
            <a:r>
              <a:rPr sz="1300" b="1">
                <a:solidFill>
                  <a:srgbClr val="FFFFFF"/>
                </a:solidFill>
                <a:latin typeface="Calibri"/>
              </a:rPr>
              <a:t>Raspberry Pi = Master („Gehirn“)</a:t>
            </a:r>
          </a:p>
        </p:txBody>
      </p:sp>
      <p:sp>
        <p:nvSpPr>
          <p:cNvPr id="25" name="TextBox 24"/>
          <p:cNvSpPr txBox="1"/>
          <p:nvPr/>
        </p:nvSpPr>
        <p:spPr>
          <a:xfrm>
            <a:off x="3730752" y="4855464"/>
            <a:ext cx="4727448" cy="594359"/>
          </a:xfrm>
          <a:prstGeom prst="rect">
            <a:avLst/>
          </a:prstGeom>
          <a:noFill/>
        </p:spPr>
        <p:txBody>
          <a:bodyPr wrap="square" lIns="0" rIns="0" tIns="0" bIns="0" anchor="t">
            <a:spAutoFit/>
          </a:bodyPr>
          <a:lstStyle/>
          <a:p>
            <a:pPr algn="l" marL="0" indent="0">
              <a:lnSpc>
                <a:spcPct val="115000"/>
              </a:lnSpc>
              <a:buNone/>
            </a:pPr>
            <a:r>
              <a:rPr sz="1050">
                <a:solidFill>
                  <a:srgbClr val="FDF1E3"/>
                </a:solidFill>
                <a:latin typeface="Calibri"/>
              </a:rPr>
              <a:t>liest beide Boards · rechnet &amp; regelt · speichert in SQLite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Hardware</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Verkabelung im Überblick</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03 / 14</a:t>
            </a:r>
          </a:p>
        </p:txBody>
      </p:sp>
      <p:graphicFrame>
        <p:nvGraphicFramePr>
          <p:cNvPr id="11" name="Table 10"/>
          <p:cNvGraphicFramePr>
            <a:graphicFrameLocks noGrp="1"/>
          </p:cNvGraphicFramePr>
          <p:nvPr/>
        </p:nvGraphicFramePr>
        <p:xfrm>
          <a:off x="685800" y="1591056"/>
          <a:ext cx="6949440" cy="3657600"/>
        </p:xfrm>
        <a:graphic>
          <a:graphicData uri="http://schemas.openxmlformats.org/drawingml/2006/table">
            <a:tbl>
              <a:tblPr firstRow="1" bandRow="1">
                <a:tableStyleId>{5C22544A-7EE6-4342-B048-85BDC9FD1C3A}</a:tableStyleId>
              </a:tblPr>
              <a:tblGrid>
                <a:gridCol w="2011680"/>
                <a:gridCol w="2286000"/>
                <a:gridCol w="2651760"/>
              </a:tblGrid>
              <a:tr h="457200">
                <a:tc>
                  <a:txBody>
                    <a:bodyPr wrap="square"/>
                    <a:lstStyle/>
                    <a:p>
                      <a:pPr marL="0" indent="0">
                        <a:buNone/>
                      </a:pPr>
                      <a:r>
                        <a:rPr sz="1300" b="1">
                          <a:solidFill>
                            <a:srgbClr val="7A4308"/>
                          </a:solidFill>
                          <a:latin typeface="Calibri"/>
                        </a:rPr>
                        <a:t>Board</a:t>
                      </a:r>
                    </a:p>
                  </a:txBody>
                  <a:tcPr marL="91440" marR="91440" marT="36576" marB="36576" anchor="ctr">
                    <a:solidFill>
                      <a:srgbClr val="FDF1E3"/>
                    </a:solidFill>
                  </a:tcPr>
                </a:tc>
                <a:tc>
                  <a:txBody>
                    <a:bodyPr wrap="square"/>
                    <a:lstStyle/>
                    <a:p>
                      <a:pPr marL="0" indent="0">
                        <a:buNone/>
                      </a:pPr>
                      <a:r>
                        <a:rPr sz="1300" b="1">
                          <a:solidFill>
                            <a:srgbClr val="7A4308"/>
                          </a:solidFill>
                          <a:latin typeface="Calibri"/>
                        </a:rPr>
                        <a:t>Bauteil</a:t>
                      </a:r>
                    </a:p>
                  </a:txBody>
                  <a:tcPr marL="91440" marR="91440" marT="36576" marB="36576" anchor="ctr">
                    <a:solidFill>
                      <a:srgbClr val="FDF1E3"/>
                    </a:solidFill>
                  </a:tcPr>
                </a:tc>
                <a:tc>
                  <a:txBody>
                    <a:bodyPr wrap="square"/>
                    <a:lstStyle/>
                    <a:p>
                      <a:pPr marL="0" indent="0">
                        <a:buNone/>
                      </a:pPr>
                      <a:r>
                        <a:rPr sz="1300" b="1">
                          <a:solidFill>
                            <a:srgbClr val="7A4308"/>
                          </a:solidFill>
                          <a:latin typeface="Calibri"/>
                        </a:rPr>
                        <a:t>Pin</a:t>
                      </a:r>
                    </a:p>
                  </a:txBody>
                  <a:tcPr marL="91440" marR="91440" marT="36576" marB="36576" anchor="ctr">
                    <a:solidFill>
                      <a:srgbClr val="FDF1E3"/>
                    </a:solidFill>
                  </a:tcPr>
                </a:tc>
              </a:tr>
              <a:tr h="457200">
                <a:tc>
                  <a:txBody>
                    <a:bodyPr wrap="square"/>
                    <a:lstStyle/>
                    <a:p>
                      <a:pPr marL="0" indent="0">
                        <a:buNone/>
                      </a:pPr>
                      <a:r>
                        <a:rPr sz="1300">
                          <a:solidFill>
                            <a:srgbClr val="1C1F22"/>
                          </a:solidFill>
                          <a:latin typeface="Calibri"/>
                        </a:rPr>
                        <a:t>Sensor-Board (0x08)</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KY-028 Temperatursensor</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A0 (analog)</a:t>
                      </a:r>
                    </a:p>
                  </a:txBody>
                  <a:tcPr marL="91440" marR="91440" marT="36576" marB="36576" anchor="ctr">
                    <a:solidFill>
                      <a:srgbClr val="FFFFFF"/>
                    </a:solidFill>
                  </a:tcPr>
                </a:tc>
              </a:tr>
              <a:tr h="457200">
                <a:tc>
                  <a:txBody>
                    <a:bodyPr wrap="square"/>
                    <a:lstStyle/>
                    <a:p>
                      <a:pPr marL="0" indent="0">
                        <a:buNone/>
                      </a:pP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LED</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D9 (PWM)</a:t>
                      </a:r>
                    </a:p>
                  </a:txBody>
                  <a:tcPr marL="91440" marR="91440" marT="36576" marB="36576" anchor="ctr">
                    <a:solidFill>
                      <a:srgbClr val="FFFFFF"/>
                    </a:solidFill>
                  </a:tcPr>
                </a:tc>
              </a:tr>
              <a:tr h="457200">
                <a:tc>
                  <a:txBody>
                    <a:bodyPr wrap="square"/>
                    <a:lstStyle/>
                    <a:p>
                      <a:pPr marL="0" indent="0">
                        <a:buNone/>
                      </a:pPr>
                      <a:r>
                        <a:rPr sz="1300">
                          <a:solidFill>
                            <a:srgbClr val="1C1F22"/>
                          </a:solidFill>
                          <a:latin typeface="Calibri"/>
                        </a:rPr>
                        <a:t>Aktor-Board (0x09)</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KY-028 Temperatursensor</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A0 (analog)</a:t>
                      </a:r>
                    </a:p>
                  </a:txBody>
                  <a:tcPr marL="91440" marR="91440" marT="36576" marB="36576" anchor="ctr">
                    <a:solidFill>
                      <a:srgbClr val="FFFFFF"/>
                    </a:solidFill>
                  </a:tcPr>
                </a:tc>
              </a:tr>
              <a:tr h="457200">
                <a:tc>
                  <a:txBody>
                    <a:bodyPr wrap="square"/>
                    <a:lstStyle/>
                    <a:p>
                      <a:pPr marL="0" indent="0">
                        <a:buNone/>
                      </a:pP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LED</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D5 (PWM)</a:t>
                      </a:r>
                    </a:p>
                  </a:txBody>
                  <a:tcPr marL="91440" marR="91440" marT="36576" marB="36576" anchor="ctr">
                    <a:solidFill>
                      <a:srgbClr val="FFFFFF"/>
                    </a:solidFill>
                  </a:tcPr>
                </a:tc>
              </a:tr>
              <a:tr h="457200">
                <a:tc>
                  <a:txBody>
                    <a:bodyPr wrap="square"/>
                    <a:lstStyle/>
                    <a:p>
                      <a:pPr marL="0" indent="0">
                        <a:buNone/>
                      </a:pP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Lüfter über Transistor</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D4</a:t>
                      </a:r>
                    </a:p>
                  </a:txBody>
                  <a:tcPr marL="91440" marR="91440" marT="36576" marB="36576" anchor="ctr">
                    <a:solidFill>
                      <a:srgbClr val="FFFFFF"/>
                    </a:solidFill>
                  </a:tcPr>
                </a:tc>
              </a:tr>
              <a:tr h="457200">
                <a:tc>
                  <a:txBody>
                    <a:bodyPr wrap="square"/>
                    <a:lstStyle/>
                    <a:p>
                      <a:pPr marL="0" indent="0">
                        <a:buNone/>
                      </a:pP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Servo / Ventil</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D6</a:t>
                      </a:r>
                    </a:p>
                  </a:txBody>
                  <a:tcPr marL="91440" marR="91440" marT="36576" marB="36576" anchor="ctr">
                    <a:solidFill>
                      <a:srgbClr val="FFFFFF"/>
                    </a:solidFill>
                  </a:tcPr>
                </a:tc>
              </a:tr>
              <a:tr h="457200">
                <a:tc>
                  <a:txBody>
                    <a:bodyPr wrap="square"/>
                    <a:lstStyle/>
                    <a:p>
                      <a:pPr marL="0" indent="0">
                        <a:buNone/>
                      </a:pPr>
                      <a:r>
                        <a:rPr sz="1300">
                          <a:solidFill>
                            <a:srgbClr val="1C1F22"/>
                          </a:solidFill>
                          <a:latin typeface="Calibri"/>
                        </a:rPr>
                        <a:t>Beide</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I2C zum Pi</a:t>
                      </a:r>
                    </a:p>
                  </a:txBody>
                  <a:tcPr marL="91440" marR="91440" marT="36576" marB="36576" anchor="ctr">
                    <a:solidFill>
                      <a:srgbClr val="FFFFFF"/>
                    </a:solidFill>
                  </a:tcPr>
                </a:tc>
                <a:tc>
                  <a:txBody>
                    <a:bodyPr wrap="square"/>
                    <a:lstStyle/>
                    <a:p>
                      <a:pPr marL="0" indent="0">
                        <a:buNone/>
                      </a:pPr>
                      <a:r>
                        <a:rPr sz="1300">
                          <a:solidFill>
                            <a:srgbClr val="1C1F22"/>
                          </a:solidFill>
                          <a:latin typeface="Calibri"/>
                        </a:rPr>
                        <a:t>A4 = SDA, A5 = SCL → Pi GPIO2 / GPIO3</a:t>
                      </a:r>
                    </a:p>
                  </a:txBody>
                  <a:tcPr marL="91440" marR="91440" marT="36576" marB="36576" anchor="ctr">
                    <a:solidFill>
                      <a:srgbClr val="FFFFFF"/>
                    </a:solidFill>
                  </a:tcPr>
                </a:tc>
              </a:tr>
            </a:tbl>
          </a:graphicData>
        </a:graphic>
      </p:graphicFrame>
      <p:sp>
        <p:nvSpPr>
          <p:cNvPr id="12" name="Rounded Rectangle 11"/>
          <p:cNvSpPr/>
          <p:nvPr/>
        </p:nvSpPr>
        <p:spPr>
          <a:xfrm>
            <a:off x="8001000" y="1591056"/>
            <a:ext cx="3502152" cy="3657600"/>
          </a:xfrm>
          <a:prstGeom prst="roundRect">
            <a:avLst>
              <a:gd name="adj" fmla="val 8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73936"/>
            <a:ext cx="3044952" cy="365760"/>
          </a:xfrm>
          <a:prstGeom prst="rect">
            <a:avLst/>
          </a:prstGeom>
          <a:noFill/>
        </p:spPr>
        <p:txBody>
          <a:bodyPr wrap="square" lIns="0" rIns="0" tIns="0" bIns="0" anchor="t">
            <a:spAutoFit/>
          </a:bodyPr>
          <a:lstStyle/>
          <a:p>
            <a:pPr algn="l" marL="0" indent="0">
              <a:buNone/>
            </a:pPr>
            <a:r>
              <a:rPr sz="1500" b="1">
                <a:solidFill>
                  <a:srgbClr val="7A4308"/>
                </a:solidFill>
                <a:latin typeface="Calibri"/>
              </a:rPr>
              <a:t>⚠ Warum 3,3 V?</a:t>
            </a:r>
          </a:p>
        </p:txBody>
      </p:sp>
      <p:sp>
        <p:nvSpPr>
          <p:cNvPr id="14" name="TextBox 13"/>
          <p:cNvSpPr txBox="1"/>
          <p:nvPr/>
        </p:nvSpPr>
        <p:spPr>
          <a:xfrm>
            <a:off x="8229600" y="2212848"/>
            <a:ext cx="3044952" cy="2926080"/>
          </a:xfrm>
          <a:prstGeom prst="rect">
            <a:avLst/>
          </a:prstGeom>
          <a:noFill/>
        </p:spPr>
        <p:txBody>
          <a:bodyPr wrap="square" lIns="0" rIns="0" tIns="0" bIns="0" anchor="t">
            <a:spAutoFit/>
          </a:bodyPr>
          <a:lstStyle/>
          <a:p>
            <a:pPr algn="l" marL="0" indent="0">
              <a:lnSpc>
                <a:spcPct val="115000"/>
              </a:lnSpc>
              <a:buNone/>
            </a:pPr>
            <a:r>
              <a:rPr sz="1300">
                <a:solidFill>
                  <a:srgbClr val="1C1F22"/>
                </a:solidFill>
                <a:latin typeface="Calibri"/>
              </a:rPr>
              <a:t>Arduino arbeitet mit </a:t>
            </a:r>
            <a:r>
              <a:rPr b="1" sz="1300">
                <a:solidFill>
                  <a:srgbClr val="1C1F22"/>
                </a:solidFill>
                <a:latin typeface="Calibri"/>
              </a:rPr>
              <a:t>5 V</a:t>
            </a:r>
            <a:r>
              <a:rPr sz="1300">
                <a:solidFill>
                  <a:srgbClr val="1C1F22"/>
                </a:solidFill>
                <a:latin typeface="Calibri"/>
              </a:rPr>
              <a:t>, der Pi nur mit </a:t>
            </a:r>
            <a:r>
              <a:rPr b="1" sz="1300">
                <a:solidFill>
                  <a:srgbClr val="1C1F22"/>
                </a:solidFill>
                <a:latin typeface="Calibri"/>
              </a:rPr>
              <a:t>3,3 V</a:t>
            </a:r>
            <a:r>
              <a:rPr sz="1300">
                <a:solidFill>
                  <a:srgbClr val="1C1F22"/>
                </a:solidFill>
                <a:latin typeface="Calibri"/>
              </a:rPr>
              <a:t>.</a:t>
            </a:r>
          </a:p>
          <a:p>
            <a:pPr algn="l" marL="0" indent="0">
              <a:lnSpc>
                <a:spcPct val="115000"/>
              </a:lnSpc>
              <a:buNone/>
            </a:pPr>
          </a:p>
          <a:p>
            <a:pPr algn="l" marL="0" indent="0">
              <a:lnSpc>
                <a:spcPct val="115000"/>
              </a:lnSpc>
              <a:buNone/>
            </a:pPr>
            <a:r>
              <a:rPr sz="1300">
                <a:solidFill>
                  <a:srgbClr val="1C1F22"/>
                </a:solidFill>
                <a:latin typeface="Calibri"/>
              </a:rPr>
              <a:t>5 V auf dem Bus könnten die Pi-GPIOs zerstören.</a:t>
            </a:r>
          </a:p>
          <a:p>
            <a:pPr algn="l" marL="0" indent="0">
              <a:lnSpc>
                <a:spcPct val="115000"/>
              </a:lnSpc>
              <a:buNone/>
            </a:pPr>
          </a:p>
          <a:p>
            <a:pPr algn="l" marL="0" indent="0">
              <a:lnSpc>
                <a:spcPct val="115000"/>
              </a:lnSpc>
              <a:buNone/>
            </a:pPr>
            <a:r>
              <a:rPr sz="1300">
                <a:solidFill>
                  <a:srgbClr val="1C1F22"/>
                </a:solidFill>
                <a:latin typeface="Calibri"/>
              </a:rPr>
              <a:t>→ Pull-up-Widerstände auf </a:t>
            </a:r>
            <a:r>
              <a:rPr b="1" sz="1300">
                <a:solidFill>
                  <a:srgbClr val="1C1F22"/>
                </a:solidFill>
                <a:latin typeface="Calibri"/>
              </a:rPr>
              <a:t>3,3 V</a:t>
            </a:r>
          </a:p>
          <a:p>
            <a:pPr algn="l" marL="0" indent="0">
              <a:lnSpc>
                <a:spcPct val="115000"/>
              </a:lnSpc>
              <a:buNone/>
            </a:pPr>
            <a:r>
              <a:rPr sz="1300">
                <a:solidFill>
                  <a:srgbClr val="1C1F22"/>
                </a:solidFill>
                <a:latin typeface="Calibri"/>
              </a:rPr>
              <a:t>→ interne 5-V-Pull-ups der Arduinos </a:t>
            </a:r>
            <a:r>
              <a:rPr b="1" sz="1300">
                <a:solidFill>
                  <a:srgbClr val="1C1F22"/>
                </a:solidFill>
                <a:latin typeface="Calibri"/>
              </a:rPr>
              <a:t>abgeschaltet</a:t>
            </a:r>
          </a:p>
          <a:p>
            <a:pPr algn="l" marL="0" indent="0">
              <a:lnSpc>
                <a:spcPct val="115000"/>
              </a:lnSpc>
              <a:buNone/>
            </a:pPr>
            <a:r>
              <a:rPr sz="1300">
                <a:solidFill>
                  <a:srgbClr val="1C1F22"/>
                </a:solidFill>
                <a:latin typeface="Calibri"/>
              </a:rPr>
              <a:t>→ gemeinsame Masse (GND)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Bewertung: Sensor funktionstüchtig (5 Pkt)</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Der Sensor: KY-028</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04 / 14</a:t>
            </a:r>
          </a:p>
        </p:txBody>
      </p:sp>
      <p:sp>
        <p:nvSpPr>
          <p:cNvPr id="11" name="TextBox 10"/>
          <p:cNvSpPr txBox="1"/>
          <p:nvPr/>
        </p:nvSpPr>
        <p:spPr>
          <a:xfrm>
            <a:off x="685800" y="1591056"/>
            <a:ext cx="6035040" cy="4206240"/>
          </a:xfrm>
          <a:prstGeom prst="rect">
            <a:avLst/>
          </a:prstGeom>
          <a:noFill/>
        </p:spPr>
        <p:txBody>
          <a:bodyPr wrap="square" lIns="0" rIns="0" tIns="0" bIns="0">
            <a:spAutoFit/>
          </a:bodyPr>
          <a:lstStyle/>
          <a:p>
            <a:pPr marL="201168" indent="-201168">
              <a:lnSpc>
                <a:spcPct val="112000"/>
              </a:lnSpc>
              <a:spcAft>
                <a:spcPts val="800"/>
              </a:spcAft>
              <a:buClr>
                <a:srgbClr val="C2650A"/>
              </a:buClr>
              <a:buFont typeface="Arial"/>
              <a:buChar char="●"/>
            </a:pPr>
            <a:r>
              <a:rPr sz="1500">
                <a:solidFill>
                  <a:srgbClr val="1C1F22"/>
                </a:solidFill>
                <a:latin typeface="Calibri"/>
              </a:rPr>
              <a:t>Modul mit </a:t>
            </a:r>
            <a:r>
              <a:rPr b="1" sz="1500">
                <a:solidFill>
                  <a:srgbClr val="1C1F22"/>
                </a:solidFill>
                <a:latin typeface="Calibri"/>
              </a:rPr>
              <a:t>NTC-Thermistor</a:t>
            </a:r>
            <a:r>
              <a:rPr sz="1500">
                <a:solidFill>
                  <a:srgbClr val="1C1F22"/>
                </a:solidFill>
                <a:latin typeface="Calibri"/>
              </a:rPr>
              <a:t> – ein Widerstand, der sich mit der Temperatur ändert</a:t>
            </a:r>
          </a:p>
          <a:p>
            <a:pPr marL="201168" indent="-201168">
              <a:lnSpc>
                <a:spcPct val="112000"/>
              </a:lnSpc>
              <a:spcAft>
                <a:spcPts val="800"/>
              </a:spcAft>
              <a:buClr>
                <a:srgbClr val="C2650A"/>
              </a:buClr>
              <a:buFont typeface="Arial"/>
              <a:buChar char="●"/>
            </a:pPr>
            <a:r>
              <a:rPr sz="1500">
                <a:solidFill>
                  <a:srgbClr val="1C1F22"/>
                </a:solidFill>
                <a:latin typeface="Calibri"/>
              </a:rPr>
              <a:t>Wir nutzen den </a:t>
            </a:r>
            <a:r>
              <a:rPr b="1" sz="1500">
                <a:solidFill>
                  <a:srgbClr val="1C1F22"/>
                </a:solidFill>
                <a:latin typeface="Calibri"/>
              </a:rPr>
              <a:t>analogen Ausgang</a:t>
            </a:r>
            <a:r>
              <a:rPr sz="1500">
                <a:solidFill>
                  <a:srgbClr val="1C1F22"/>
                </a:solidFill>
                <a:latin typeface="Calibri"/>
              </a:rPr>
              <a:t> (Pin A0)</a:t>
            </a:r>
          </a:p>
          <a:p>
            <a:pPr marL="201168" indent="-201168">
              <a:lnSpc>
                <a:spcPct val="112000"/>
              </a:lnSpc>
              <a:spcAft>
                <a:spcPts val="800"/>
              </a:spcAft>
              <a:buClr>
                <a:srgbClr val="C2650A"/>
              </a:buClr>
              <a:buFont typeface="Arial"/>
              <a:buChar char="●"/>
            </a:pPr>
            <a:r>
              <a:rPr sz="1500">
                <a:solidFill>
                  <a:srgbClr val="1C1F22"/>
                </a:solidFill>
                <a:latin typeface="Calibri"/>
              </a:rPr>
              <a:t>Der ADC des Arduino macht daraus eine Zahl </a:t>
            </a:r>
            <a:r>
              <a:rPr b="1" sz="1500">
                <a:solidFill>
                  <a:srgbClr val="1C1F22"/>
                </a:solidFill>
                <a:latin typeface="Calibri"/>
              </a:rPr>
              <a:t>0–1023</a:t>
            </a:r>
            <a:r>
              <a:rPr sz="1500">
                <a:solidFill>
                  <a:srgbClr val="1C1F22"/>
                </a:solidFill>
                <a:latin typeface="Calibri"/>
              </a:rPr>
              <a:t> (10 Bit) = </a:t>
            </a:r>
            <a:r>
              <a:rPr b="1" sz="1500">
                <a:solidFill>
                  <a:srgbClr val="1C1F22"/>
                </a:solidFill>
                <a:latin typeface="Calibri"/>
              </a:rPr>
              <a:t>Rohwert</a:t>
            </a:r>
          </a:p>
          <a:p>
            <a:pPr marL="201168" indent="-201168">
              <a:lnSpc>
                <a:spcPct val="112000"/>
              </a:lnSpc>
              <a:spcAft>
                <a:spcPts val="800"/>
              </a:spcAft>
              <a:buClr>
                <a:srgbClr val="C2650A"/>
              </a:buClr>
              <a:buFont typeface="Arial"/>
              <a:buChar char="●"/>
            </a:pPr>
            <a:r>
              <a:rPr sz="1500">
                <a:solidFill>
                  <a:srgbClr val="1C1F22"/>
                </a:solidFill>
                <a:latin typeface="Calibri"/>
              </a:rPr>
              <a:t>NTC = „Negative Temperature Coefficient“: </a:t>
            </a:r>
            <a:r>
              <a:rPr b="1" sz="1500">
                <a:solidFill>
                  <a:srgbClr val="1C1F22"/>
                </a:solidFill>
                <a:latin typeface="Calibri"/>
              </a:rPr>
              <a:t>wärmer → Rohwert kleiner</a:t>
            </a:r>
          </a:p>
          <a:p>
            <a:pPr marL="201168" indent="-201168">
              <a:lnSpc>
                <a:spcPct val="112000"/>
              </a:lnSpc>
              <a:spcAft>
                <a:spcPts val="800"/>
              </a:spcAft>
              <a:buClr>
                <a:srgbClr val="C2650A"/>
              </a:buClr>
              <a:buFont typeface="Arial"/>
              <a:buChar char="●"/>
            </a:pPr>
            <a:r>
              <a:rPr sz="1500">
                <a:solidFill>
                  <a:srgbClr val="1C1F22"/>
                </a:solidFill>
                <a:latin typeface="Calibri"/>
              </a:rPr>
              <a:t>Messung alle </a:t>
            </a:r>
            <a:r>
              <a:rPr b="1" sz="1500">
                <a:solidFill>
                  <a:srgbClr val="1C1F22"/>
                </a:solidFill>
                <a:latin typeface="Calibri"/>
              </a:rPr>
              <a:t>200 ms</a:t>
            </a:r>
          </a:p>
          <a:p>
            <a:pPr marL="201168" indent="-201168">
              <a:lnSpc>
                <a:spcPct val="112000"/>
              </a:lnSpc>
              <a:spcAft>
                <a:spcPts val="800"/>
              </a:spcAft>
              <a:buClr>
                <a:srgbClr val="C2650A"/>
              </a:buClr>
              <a:buFont typeface="Arial"/>
              <a:buChar char="●"/>
            </a:pPr>
            <a:r>
              <a:rPr sz="1500">
                <a:solidFill>
                  <a:srgbClr val="1C1F22"/>
                </a:solidFill>
                <a:latin typeface="Calibri"/>
              </a:rPr>
              <a:t>An den Pi: </a:t>
            </a:r>
            <a:r>
              <a:rPr b="1" sz="1500">
                <a:solidFill>
                  <a:srgbClr val="1C1F22"/>
                </a:solidFill>
                <a:latin typeface="Calibri"/>
              </a:rPr>
              <a:t>2 Bytes</a:t>
            </a:r>
            <a:r>
              <a:rPr sz="1500">
                <a:solidFill>
                  <a:srgbClr val="1C1F22"/>
                </a:solidFill>
                <a:latin typeface="Calibri"/>
              </a:rPr>
              <a:t> (High- + Low-Byte), weil 1023 nicht in ein Byte (max. 255) passt</a:t>
            </a:r>
          </a:p>
        </p:txBody>
      </p:sp>
      <p:sp>
        <p:nvSpPr>
          <p:cNvPr id="12" name="Rounded Rectangle 11"/>
          <p:cNvSpPr/>
          <p:nvPr/>
        </p:nvSpPr>
        <p:spPr>
          <a:xfrm>
            <a:off x="7086600" y="1591056"/>
            <a:ext cx="4416552" cy="4023360"/>
          </a:xfrm>
          <a:prstGeom prst="roundRect">
            <a:avLst>
              <a:gd name="adj" fmla="val 6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86600" y="1819656"/>
            <a:ext cx="4416552" cy="320040"/>
          </a:xfrm>
          <a:prstGeom prst="rect">
            <a:avLst/>
          </a:prstGeom>
          <a:noFill/>
        </p:spPr>
        <p:txBody>
          <a:bodyPr wrap="square" lIns="0" rIns="0" tIns="0" bIns="0" anchor="t">
            <a:spAutoFit/>
          </a:bodyPr>
          <a:lstStyle/>
          <a:p>
            <a:pPr algn="ctr" marL="0" indent="0">
              <a:buNone/>
            </a:pPr>
            <a:r>
              <a:rPr sz="1300" b="1">
                <a:solidFill>
                  <a:srgbClr val="7A4308"/>
                </a:solidFill>
                <a:latin typeface="Calibri"/>
              </a:rPr>
              <a:t>Gemessen am Sensor-Board</a:t>
            </a:r>
          </a:p>
        </p:txBody>
      </p:sp>
      <p:sp>
        <p:nvSpPr>
          <p:cNvPr id="14" name="TextBox 13"/>
          <p:cNvSpPr txBox="1"/>
          <p:nvPr/>
        </p:nvSpPr>
        <p:spPr>
          <a:xfrm>
            <a:off x="7269480" y="2322576"/>
            <a:ext cx="1920240" cy="457200"/>
          </a:xfrm>
          <a:prstGeom prst="rect">
            <a:avLst/>
          </a:prstGeom>
          <a:noFill/>
        </p:spPr>
        <p:txBody>
          <a:bodyPr wrap="square" lIns="0" rIns="0" tIns="0" bIns="0" anchor="t">
            <a:spAutoFit/>
          </a:bodyPr>
          <a:lstStyle/>
          <a:p>
            <a:pPr algn="ctr" marL="0" indent="0">
              <a:buNone/>
            </a:pPr>
            <a:r>
              <a:rPr sz="2200" b="1">
                <a:solidFill>
                  <a:srgbClr val="6B6F73"/>
                </a:solidFill>
                <a:latin typeface="Century Schoolbook"/>
              </a:rPr>
              <a:t>23 °C</a:t>
            </a:r>
          </a:p>
        </p:txBody>
      </p:sp>
      <p:sp>
        <p:nvSpPr>
          <p:cNvPr id="15" name="TextBox 14"/>
          <p:cNvSpPr txBox="1"/>
          <p:nvPr/>
        </p:nvSpPr>
        <p:spPr>
          <a:xfrm>
            <a:off x="9400032" y="2322576"/>
            <a:ext cx="1920240" cy="457200"/>
          </a:xfrm>
          <a:prstGeom prst="rect">
            <a:avLst/>
          </a:prstGeom>
          <a:noFill/>
        </p:spPr>
        <p:txBody>
          <a:bodyPr wrap="square" lIns="0" rIns="0" tIns="0" bIns="0" anchor="t">
            <a:spAutoFit/>
          </a:bodyPr>
          <a:lstStyle/>
          <a:p>
            <a:pPr algn="ctr" marL="0" indent="0">
              <a:buNone/>
            </a:pPr>
            <a:r>
              <a:rPr sz="2200" b="1">
                <a:solidFill>
                  <a:srgbClr val="6B6F73"/>
                </a:solidFill>
                <a:latin typeface="Century Schoolbook"/>
              </a:rPr>
              <a:t>30 °C</a:t>
            </a:r>
          </a:p>
        </p:txBody>
      </p:sp>
      <p:sp>
        <p:nvSpPr>
          <p:cNvPr id="16" name="TextBox 15"/>
          <p:cNvSpPr txBox="1"/>
          <p:nvPr/>
        </p:nvSpPr>
        <p:spPr>
          <a:xfrm>
            <a:off x="7269480" y="2825496"/>
            <a:ext cx="1920240" cy="914400"/>
          </a:xfrm>
          <a:prstGeom prst="rect">
            <a:avLst/>
          </a:prstGeom>
          <a:noFill/>
        </p:spPr>
        <p:txBody>
          <a:bodyPr wrap="square" lIns="0" rIns="0" tIns="0" bIns="0" anchor="t">
            <a:spAutoFit/>
          </a:bodyPr>
          <a:lstStyle/>
          <a:p>
            <a:pPr algn="ctr" marL="0" indent="0">
              <a:buNone/>
            </a:pPr>
            <a:r>
              <a:rPr sz="5400" b="1">
                <a:solidFill>
                  <a:srgbClr val="C2650A"/>
                </a:solidFill>
                <a:latin typeface="Century Schoolbook"/>
              </a:rPr>
              <a:t>212</a:t>
            </a:r>
          </a:p>
        </p:txBody>
      </p:sp>
      <p:sp>
        <p:nvSpPr>
          <p:cNvPr id="17" name="TextBox 16"/>
          <p:cNvSpPr txBox="1"/>
          <p:nvPr/>
        </p:nvSpPr>
        <p:spPr>
          <a:xfrm>
            <a:off x="9400032" y="2825496"/>
            <a:ext cx="1920240" cy="914400"/>
          </a:xfrm>
          <a:prstGeom prst="rect">
            <a:avLst/>
          </a:prstGeom>
          <a:noFill/>
        </p:spPr>
        <p:txBody>
          <a:bodyPr wrap="square" lIns="0" rIns="0" tIns="0" bIns="0" anchor="t">
            <a:spAutoFit/>
          </a:bodyPr>
          <a:lstStyle/>
          <a:p>
            <a:pPr algn="ctr" marL="0" indent="0">
              <a:buNone/>
            </a:pPr>
            <a:r>
              <a:rPr sz="5400" b="1">
                <a:solidFill>
                  <a:srgbClr val="C2650A"/>
                </a:solidFill>
                <a:latin typeface="Century Schoolbook"/>
              </a:rPr>
              <a:t>160</a:t>
            </a:r>
          </a:p>
        </p:txBody>
      </p:sp>
      <p:sp>
        <p:nvSpPr>
          <p:cNvPr id="18" name="TextBox 17"/>
          <p:cNvSpPr txBox="1"/>
          <p:nvPr/>
        </p:nvSpPr>
        <p:spPr>
          <a:xfrm>
            <a:off x="8869680" y="3054096"/>
            <a:ext cx="822960" cy="548640"/>
          </a:xfrm>
          <a:prstGeom prst="rect">
            <a:avLst/>
          </a:prstGeom>
          <a:noFill/>
        </p:spPr>
        <p:txBody>
          <a:bodyPr wrap="square" lIns="0" rIns="0" tIns="0" bIns="0" anchor="t">
            <a:spAutoFit/>
          </a:bodyPr>
          <a:lstStyle/>
          <a:p>
            <a:pPr algn="ctr" marL="0" indent="0">
              <a:buNone/>
            </a:pPr>
            <a:r>
              <a:rPr sz="3200">
                <a:solidFill>
                  <a:srgbClr val="7A4308"/>
                </a:solidFill>
                <a:latin typeface="Calibri"/>
              </a:rPr>
              <a:t>→</a:t>
            </a:r>
          </a:p>
        </p:txBody>
      </p:sp>
      <p:sp>
        <p:nvSpPr>
          <p:cNvPr id="19" name="TextBox 18"/>
          <p:cNvSpPr txBox="1"/>
          <p:nvPr/>
        </p:nvSpPr>
        <p:spPr>
          <a:xfrm>
            <a:off x="7269480" y="3877056"/>
            <a:ext cx="4050791" cy="320040"/>
          </a:xfrm>
          <a:prstGeom prst="rect">
            <a:avLst/>
          </a:prstGeom>
          <a:noFill/>
        </p:spPr>
        <p:txBody>
          <a:bodyPr wrap="square" lIns="0" rIns="0" tIns="0" bIns="0" anchor="t">
            <a:spAutoFit/>
          </a:bodyPr>
          <a:lstStyle/>
          <a:p>
            <a:pPr algn="ctr" marL="0" indent="0">
              <a:buNone/>
            </a:pPr>
            <a:r>
              <a:rPr sz="1200">
                <a:solidFill>
                  <a:srgbClr val="6B6F73"/>
                </a:solidFill>
                <a:latin typeface="Calibri"/>
              </a:rPr>
              <a:t>Rohwert</a:t>
            </a:r>
          </a:p>
        </p:txBody>
      </p:sp>
      <p:sp>
        <p:nvSpPr>
          <p:cNvPr id="20" name="TextBox 19"/>
          <p:cNvSpPr txBox="1"/>
          <p:nvPr/>
        </p:nvSpPr>
        <p:spPr>
          <a:xfrm>
            <a:off x="7269480" y="4517136"/>
            <a:ext cx="4050791" cy="822960"/>
          </a:xfrm>
          <a:prstGeom prst="rect">
            <a:avLst/>
          </a:prstGeom>
          <a:noFill/>
        </p:spPr>
        <p:txBody>
          <a:bodyPr wrap="square" lIns="0" rIns="0" tIns="0" bIns="0" anchor="t">
            <a:spAutoFit/>
          </a:bodyPr>
          <a:lstStyle/>
          <a:p>
            <a:pPr algn="ctr" marL="0" indent="0">
              <a:buNone/>
            </a:pPr>
            <a:r>
              <a:rPr sz="1700" b="1" i="1">
                <a:solidFill>
                  <a:srgbClr val="7A4308"/>
                </a:solidFill>
                <a:latin typeface="Century Schoolbook"/>
              </a:rPr>
              <a:t>wärmer  →  kleinerer Rohwert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Technische Entscheidung</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Vom DHT22 zum KY-028</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05 / 14</a:t>
            </a:r>
          </a:p>
        </p:txBody>
      </p:sp>
      <p:sp>
        <p:nvSpPr>
          <p:cNvPr id="11" name="Rounded Rectangle 10"/>
          <p:cNvSpPr/>
          <p:nvPr/>
        </p:nvSpPr>
        <p:spPr>
          <a:xfrm>
            <a:off x="685800" y="1682496"/>
            <a:ext cx="3410712" cy="2926080"/>
          </a:xfrm>
          <a:prstGeom prst="roundRect">
            <a:avLst>
              <a:gd name="adj" fmla="val 8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65376"/>
            <a:ext cx="2953512" cy="365760"/>
          </a:xfrm>
          <a:prstGeom prst="rect">
            <a:avLst/>
          </a:prstGeom>
          <a:noFill/>
        </p:spPr>
        <p:txBody>
          <a:bodyPr wrap="square" lIns="0" rIns="0" tIns="0" bIns="0" anchor="t">
            <a:spAutoFit/>
          </a:bodyPr>
          <a:lstStyle/>
          <a:p>
            <a:pPr algn="l" marL="0" indent="0">
              <a:buNone/>
            </a:pPr>
            <a:r>
              <a:rPr sz="1500" b="1">
                <a:solidFill>
                  <a:srgbClr val="7A4308"/>
                </a:solidFill>
                <a:latin typeface="Calibri"/>
              </a:rPr>
              <a:t>1 · Plan</a:t>
            </a:r>
          </a:p>
        </p:txBody>
      </p:sp>
      <p:sp>
        <p:nvSpPr>
          <p:cNvPr id="13" name="TextBox 12"/>
          <p:cNvSpPr txBox="1"/>
          <p:nvPr/>
        </p:nvSpPr>
        <p:spPr>
          <a:xfrm>
            <a:off x="914400" y="2304288"/>
            <a:ext cx="2953512" cy="2194560"/>
          </a:xfrm>
          <a:prstGeom prst="rect">
            <a:avLst/>
          </a:prstGeom>
          <a:noFill/>
        </p:spPr>
        <p:txBody>
          <a:bodyPr wrap="square" lIns="0" rIns="0" tIns="0" bIns="0" anchor="t">
            <a:spAutoFit/>
          </a:bodyPr>
          <a:lstStyle/>
          <a:p>
            <a:pPr algn="l" marL="0" indent="0">
              <a:lnSpc>
                <a:spcPct val="115000"/>
              </a:lnSpc>
              <a:buNone/>
            </a:pPr>
            <a:r>
              <a:rPr b="1" sz="1300">
                <a:solidFill>
                  <a:srgbClr val="1C1F22"/>
                </a:solidFill>
                <a:latin typeface="Calibri"/>
              </a:rPr>
              <a:t>DHT22</a:t>
            </a:r>
            <a:r>
              <a:rPr sz="1300">
                <a:solidFill>
                  <a:srgbClr val="1C1F22"/>
                </a:solidFill>
                <a:latin typeface="Calibri"/>
              </a:rPr>
              <a:t> auf dem Aktor-Board</a:t>
            </a:r>
          </a:p>
          <a:p>
            <a:pPr algn="l" marL="0" indent="0">
              <a:lnSpc>
                <a:spcPct val="115000"/>
              </a:lnSpc>
              <a:buNone/>
            </a:pPr>
          </a:p>
          <a:p>
            <a:pPr algn="l" marL="0" indent="0">
              <a:lnSpc>
                <a:spcPct val="115000"/>
              </a:lnSpc>
              <a:buNone/>
            </a:pPr>
            <a:r>
              <a:rPr sz="1300">
                <a:solidFill>
                  <a:srgbClr val="1C1F22"/>
                </a:solidFill>
                <a:latin typeface="Calibri"/>
              </a:rPr>
              <a:t>Digitaler Sensor für Temperatur </a:t>
            </a:r>
            <a:r>
              <a:rPr b="1" sz="1300">
                <a:solidFill>
                  <a:srgbClr val="1C1F22"/>
                </a:solidFill>
                <a:latin typeface="Calibri"/>
              </a:rPr>
              <a:t>und</a:t>
            </a:r>
            <a:r>
              <a:rPr sz="1300">
                <a:solidFill>
                  <a:srgbClr val="1C1F22"/>
                </a:solidFill>
                <a:latin typeface="Calibri"/>
              </a:rPr>
              <a:t> Luftfeuchte</a:t>
            </a:r>
          </a:p>
        </p:txBody>
      </p:sp>
      <p:sp>
        <p:nvSpPr>
          <p:cNvPr id="14" name="Rounded Rectangle 13"/>
          <p:cNvSpPr/>
          <p:nvPr/>
        </p:nvSpPr>
        <p:spPr>
          <a:xfrm>
            <a:off x="4370832" y="1682496"/>
            <a:ext cx="3410712" cy="2926080"/>
          </a:xfrm>
          <a:prstGeom prst="roundRect">
            <a:avLst>
              <a:gd name="adj" fmla="val 8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1865376"/>
            <a:ext cx="2953512" cy="365760"/>
          </a:xfrm>
          <a:prstGeom prst="rect">
            <a:avLst/>
          </a:prstGeom>
          <a:noFill/>
        </p:spPr>
        <p:txBody>
          <a:bodyPr wrap="square" lIns="0" rIns="0" tIns="0" bIns="0" anchor="t">
            <a:spAutoFit/>
          </a:bodyPr>
          <a:lstStyle/>
          <a:p>
            <a:pPr algn="l" marL="0" indent="0">
              <a:buNone/>
            </a:pPr>
            <a:r>
              <a:rPr sz="1500" b="1">
                <a:solidFill>
                  <a:srgbClr val="7A4308"/>
                </a:solidFill>
                <a:latin typeface="Calibri"/>
              </a:rPr>
              <a:t>2 · Problem</a:t>
            </a:r>
          </a:p>
        </p:txBody>
      </p:sp>
      <p:sp>
        <p:nvSpPr>
          <p:cNvPr id="16" name="TextBox 15"/>
          <p:cNvSpPr txBox="1"/>
          <p:nvPr/>
        </p:nvSpPr>
        <p:spPr>
          <a:xfrm>
            <a:off x="4599432" y="2304288"/>
            <a:ext cx="2953512" cy="2194560"/>
          </a:xfrm>
          <a:prstGeom prst="rect">
            <a:avLst/>
          </a:prstGeom>
          <a:noFill/>
        </p:spPr>
        <p:txBody>
          <a:bodyPr wrap="square" lIns="0" rIns="0" tIns="0" bIns="0" anchor="t">
            <a:spAutoFit/>
          </a:bodyPr>
          <a:lstStyle/>
          <a:p>
            <a:pPr algn="l" marL="0" indent="0">
              <a:lnSpc>
                <a:spcPct val="115000"/>
              </a:lnSpc>
              <a:buNone/>
            </a:pPr>
            <a:r>
              <a:rPr sz="1300">
                <a:solidFill>
                  <a:srgbClr val="1C1F22"/>
                </a:solidFill>
                <a:latin typeface="Calibri"/>
              </a:rPr>
              <a:t>Nach jedem Reset nur </a:t>
            </a:r>
            <a:r>
              <a:rPr b="1" sz="1300">
                <a:solidFill>
                  <a:srgbClr val="1C1F22"/>
                </a:solidFill>
                <a:latin typeface="Calibri"/>
              </a:rPr>
              <a:t>NaN</a:t>
            </a:r>
            <a:r>
              <a:rPr sz="1300">
                <a:solidFill>
                  <a:srgbClr val="1C1F22"/>
                </a:solidFill>
                <a:latin typeface="Calibri"/>
              </a:rPr>
              <a:t> – „Not a Number“, also kein gültiger Wert</a:t>
            </a:r>
          </a:p>
          <a:p>
            <a:pPr algn="l" marL="0" indent="0">
              <a:lnSpc>
                <a:spcPct val="115000"/>
              </a:lnSpc>
              <a:buNone/>
            </a:pPr>
          </a:p>
          <a:p>
            <a:pPr algn="l" marL="0" indent="0">
              <a:lnSpc>
                <a:spcPct val="115000"/>
              </a:lnSpc>
              <a:buNone/>
            </a:pPr>
            <a:r>
              <a:rPr sz="1300">
                <a:solidFill>
                  <a:srgbClr val="1C1F22"/>
                </a:solidFill>
                <a:latin typeface="Calibri"/>
              </a:rPr>
              <a:t>Geprüft per seriellem Monitor, Verkabelung mehrfach kontrolliert, I2C lief parallel fehlerfrei</a:t>
            </a:r>
          </a:p>
        </p:txBody>
      </p:sp>
      <p:sp>
        <p:nvSpPr>
          <p:cNvPr id="17" name="Rounded Rectangle 16"/>
          <p:cNvSpPr/>
          <p:nvPr/>
        </p:nvSpPr>
        <p:spPr>
          <a:xfrm>
            <a:off x="8055864" y="1682496"/>
            <a:ext cx="3410712" cy="2926080"/>
          </a:xfrm>
          <a:prstGeom prst="roundRect">
            <a:avLst>
              <a:gd name="adj" fmla="val 8000"/>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1865376"/>
            <a:ext cx="2953512" cy="365760"/>
          </a:xfrm>
          <a:prstGeom prst="rect">
            <a:avLst/>
          </a:prstGeom>
          <a:noFill/>
        </p:spPr>
        <p:txBody>
          <a:bodyPr wrap="square" lIns="0" rIns="0" tIns="0" bIns="0" anchor="t">
            <a:spAutoFit/>
          </a:bodyPr>
          <a:lstStyle/>
          <a:p>
            <a:pPr algn="l" marL="0" indent="0">
              <a:buNone/>
            </a:pPr>
            <a:r>
              <a:rPr sz="1500" b="1">
                <a:solidFill>
                  <a:srgbClr val="FFFFFF"/>
                </a:solidFill>
                <a:latin typeface="Calibri"/>
              </a:rPr>
              <a:t>3 · Entscheidung</a:t>
            </a:r>
          </a:p>
        </p:txBody>
      </p:sp>
      <p:sp>
        <p:nvSpPr>
          <p:cNvPr id="19" name="TextBox 18"/>
          <p:cNvSpPr txBox="1"/>
          <p:nvPr/>
        </p:nvSpPr>
        <p:spPr>
          <a:xfrm>
            <a:off x="8284464" y="2304288"/>
            <a:ext cx="2953512" cy="2194560"/>
          </a:xfrm>
          <a:prstGeom prst="rect">
            <a:avLst/>
          </a:prstGeom>
          <a:noFill/>
        </p:spPr>
        <p:txBody>
          <a:bodyPr wrap="square" lIns="0" rIns="0" tIns="0" bIns="0" anchor="t">
            <a:spAutoFit/>
          </a:bodyPr>
          <a:lstStyle/>
          <a:p>
            <a:pPr algn="l" marL="0" indent="0">
              <a:lnSpc>
                <a:spcPct val="115000"/>
              </a:lnSpc>
              <a:buNone/>
            </a:pPr>
            <a:r>
              <a:rPr sz="1300">
                <a:solidFill>
                  <a:srgbClr val="FFFFFF"/>
                </a:solidFill>
                <a:latin typeface="Calibri"/>
              </a:rPr>
              <a:t>DHT22 raus, </a:t>
            </a:r>
            <a:r>
              <a:rPr b="1" sz="1300">
                <a:solidFill>
                  <a:srgbClr val="FFFFFF"/>
                </a:solidFill>
                <a:latin typeface="Calibri"/>
              </a:rPr>
              <a:t>zweites KY-028</a:t>
            </a:r>
            <a:r>
              <a:rPr sz="1300">
                <a:solidFill>
                  <a:srgbClr val="FFFFFF"/>
                </a:solidFill>
                <a:latin typeface="Calibri"/>
              </a:rPr>
              <a:t> rein</a:t>
            </a:r>
          </a:p>
          <a:p>
            <a:pPr algn="l" marL="0" indent="0">
              <a:lnSpc>
                <a:spcPct val="115000"/>
              </a:lnSpc>
              <a:buNone/>
            </a:pPr>
          </a:p>
          <a:p>
            <a:pPr algn="l" marL="0" indent="0">
              <a:lnSpc>
                <a:spcPct val="115000"/>
              </a:lnSpc>
              <a:buNone/>
            </a:pPr>
            <a:r>
              <a:rPr sz="1300">
                <a:solidFill>
                  <a:srgbClr val="FFFFFF"/>
                </a:solidFill>
                <a:latin typeface="Calibri"/>
              </a:rPr>
              <a:t>Sensor war vermutlich defekt – nicht weiter raten, sondern ersetzen</a:t>
            </a:r>
          </a:p>
        </p:txBody>
      </p:sp>
      <p:sp>
        <p:nvSpPr>
          <p:cNvPr id="20" name="TextBox 19"/>
          <p:cNvSpPr txBox="1"/>
          <p:nvPr/>
        </p:nvSpPr>
        <p:spPr>
          <a:xfrm>
            <a:off x="685800" y="4928616"/>
            <a:ext cx="10817352" cy="457200"/>
          </a:xfrm>
          <a:prstGeom prst="rect">
            <a:avLst/>
          </a:prstGeom>
          <a:noFill/>
        </p:spPr>
        <p:txBody>
          <a:bodyPr wrap="square" lIns="0" rIns="0" tIns="0" bIns="0" anchor="t">
            <a:spAutoFit/>
          </a:bodyPr>
          <a:lstStyle/>
          <a:p>
            <a:pPr algn="l" marL="0" indent="0">
              <a:buNone/>
            </a:pPr>
            <a:r>
              <a:rPr sz="1600">
                <a:solidFill>
                  <a:srgbClr val="1C1F22"/>
                </a:solidFill>
                <a:latin typeface="Calibri"/>
              </a:rPr>
              <a:t>Vorteil: Beide Boards messen jetzt nach </a:t>
            </a:r>
            <a:r>
              <a:rPr b="1" sz="1600">
                <a:solidFill>
                  <a:srgbClr val="1C1F22"/>
                </a:solidFill>
                <a:latin typeface="Calibri"/>
              </a:rPr>
              <a:t>demselben Prinzip</a:t>
            </a:r>
            <a:r>
              <a:rPr sz="1600">
                <a:solidFill>
                  <a:srgbClr val="1C1F22"/>
                </a:solidFill>
                <a:latin typeface="Calibri"/>
              </a:rPr>
              <a:t> – einheitlicher Code, vergleichbare Werte.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Bewertung: Formate der Sensordaten (5 Pkt)</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Kalibrierung: Rohwert → °C</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06 / 14</a:t>
            </a:r>
          </a:p>
        </p:txBody>
      </p:sp>
      <p:sp>
        <p:nvSpPr>
          <p:cNvPr id="11" name="TextBox 10"/>
          <p:cNvSpPr txBox="1"/>
          <p:nvPr/>
        </p:nvSpPr>
        <p:spPr>
          <a:xfrm>
            <a:off x="685800" y="1591056"/>
            <a:ext cx="10789920" cy="365760"/>
          </a:xfrm>
          <a:prstGeom prst="rect">
            <a:avLst/>
          </a:prstGeom>
          <a:noFill/>
        </p:spPr>
        <p:txBody>
          <a:bodyPr wrap="square" lIns="0" rIns="0" tIns="0" bIns="0" anchor="t">
            <a:spAutoFit/>
          </a:bodyPr>
          <a:lstStyle/>
          <a:p>
            <a:pPr algn="l" marL="0" indent="0">
              <a:buNone/>
            </a:pPr>
            <a:r>
              <a:rPr sz="1600">
                <a:solidFill>
                  <a:srgbClr val="1C1F22"/>
                </a:solidFill>
                <a:latin typeface="Calibri"/>
              </a:rPr>
              <a:t>2-Punkt-Kalibrierung mit einem echten </a:t>
            </a:r>
            <a:r>
              <a:rPr b="1" sz="1600">
                <a:solidFill>
                  <a:srgbClr val="1C1F22"/>
                </a:solidFill>
                <a:latin typeface="Calibri"/>
              </a:rPr>
              <a:t>Referenzthermometer</a:t>
            </a:r>
            <a:r>
              <a:rPr sz="1600">
                <a:solidFill>
                  <a:srgbClr val="1C1F22"/>
                </a:solidFill>
                <a:latin typeface="Calibri"/>
              </a:rPr>
              <a:t>:</a:t>
            </a:r>
          </a:p>
        </p:txBody>
      </p:sp>
      <p:graphicFrame>
        <p:nvGraphicFramePr>
          <p:cNvPr id="12" name="Table 11"/>
          <p:cNvGraphicFramePr>
            <a:graphicFrameLocks noGrp="1"/>
          </p:cNvGraphicFramePr>
          <p:nvPr/>
        </p:nvGraphicFramePr>
        <p:xfrm>
          <a:off x="685800" y="2093976"/>
          <a:ext cx="6583680" cy="1508760"/>
        </p:xfrm>
        <a:graphic>
          <a:graphicData uri="http://schemas.openxmlformats.org/drawingml/2006/table">
            <a:tbl>
              <a:tblPr firstRow="1" bandRow="1">
                <a:tableStyleId>{5C22544A-7EE6-4342-B048-85BDC9FD1C3A}</a:tableStyleId>
              </a:tblPr>
              <a:tblGrid>
                <a:gridCol w="2011680"/>
                <a:gridCol w="2286000"/>
                <a:gridCol w="2286000"/>
              </a:tblGrid>
              <a:tr h="502920">
                <a:tc>
                  <a:txBody>
                    <a:bodyPr wrap="square"/>
                    <a:lstStyle/>
                    <a:p>
                      <a:pPr marL="0" indent="0">
                        <a:buNone/>
                      </a:pPr>
                    </a:p>
                  </a:txBody>
                  <a:tcPr marL="91440" marR="91440" marT="36576" marB="36576" anchor="ctr">
                    <a:solidFill>
                      <a:srgbClr val="FDF1E3"/>
                    </a:solidFill>
                  </a:tcPr>
                </a:tc>
                <a:tc>
                  <a:txBody>
                    <a:bodyPr wrap="square"/>
                    <a:lstStyle/>
                    <a:p>
                      <a:pPr marL="0" indent="0">
                        <a:buNone/>
                      </a:pPr>
                      <a:r>
                        <a:rPr sz="1400" b="1">
                          <a:solidFill>
                            <a:srgbClr val="7A4308"/>
                          </a:solidFill>
                          <a:latin typeface="Calibri"/>
                        </a:rPr>
                        <a:t>Punkt 1</a:t>
                      </a:r>
                    </a:p>
                  </a:txBody>
                  <a:tcPr marL="91440" marR="91440" marT="36576" marB="36576" anchor="ctr">
                    <a:solidFill>
                      <a:srgbClr val="FDF1E3"/>
                    </a:solidFill>
                  </a:tcPr>
                </a:tc>
                <a:tc>
                  <a:txBody>
                    <a:bodyPr wrap="square"/>
                    <a:lstStyle/>
                    <a:p>
                      <a:pPr marL="0" indent="0">
                        <a:buNone/>
                      </a:pPr>
                      <a:r>
                        <a:rPr sz="1400" b="1">
                          <a:solidFill>
                            <a:srgbClr val="7A4308"/>
                          </a:solidFill>
                          <a:latin typeface="Calibri"/>
                        </a:rPr>
                        <a:t>Punkt 2</a:t>
                      </a:r>
                    </a:p>
                  </a:txBody>
                  <a:tcPr marL="91440" marR="91440" marT="36576" marB="36576" anchor="ctr">
                    <a:solidFill>
                      <a:srgbClr val="FDF1E3"/>
                    </a:solidFill>
                  </a:tcPr>
                </a:tc>
              </a:tr>
              <a:tr h="502920">
                <a:tc>
                  <a:txBody>
                    <a:bodyPr wrap="square"/>
                    <a:lstStyle/>
                    <a:p>
                      <a:pPr marL="0" indent="0">
                        <a:buNone/>
                      </a:pPr>
                      <a:r>
                        <a:rPr sz="1400">
                          <a:solidFill>
                            <a:srgbClr val="1C1F22"/>
                          </a:solidFill>
                          <a:latin typeface="Calibri"/>
                        </a:rPr>
                        <a:t>Sensor-Board</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23,0 °C → 212</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30,0 °C → 160</a:t>
                      </a:r>
                    </a:p>
                  </a:txBody>
                  <a:tcPr marL="91440" marR="91440" marT="36576" marB="36576" anchor="ctr">
                    <a:solidFill>
                      <a:srgbClr val="FFFFFF"/>
                    </a:solidFill>
                  </a:tcPr>
                </a:tc>
              </a:tr>
              <a:tr h="502920">
                <a:tc>
                  <a:txBody>
                    <a:bodyPr wrap="square"/>
                    <a:lstStyle/>
                    <a:p>
                      <a:pPr marL="0" indent="0">
                        <a:buNone/>
                      </a:pPr>
                      <a:r>
                        <a:rPr sz="1400">
                          <a:solidFill>
                            <a:srgbClr val="1C1F22"/>
                          </a:solidFill>
                          <a:latin typeface="Calibri"/>
                        </a:rPr>
                        <a:t>Aktor-Board</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23,0 °C → 174</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30,5 °C → 126</a:t>
                      </a:r>
                    </a:p>
                  </a:txBody>
                  <a:tcPr marL="91440" marR="91440" marT="36576" marB="36576" anchor="ctr">
                    <a:solidFill>
                      <a:srgbClr val="FFFFFF"/>
                    </a:solidFill>
                  </a:tcPr>
                </a:tc>
              </a:tr>
            </a:tbl>
          </a:graphicData>
        </a:graphic>
      </p:graphicFrame>
      <p:sp>
        <p:nvSpPr>
          <p:cNvPr id="13" name="TextBox 12"/>
          <p:cNvSpPr txBox="1"/>
          <p:nvPr/>
        </p:nvSpPr>
        <p:spPr>
          <a:xfrm>
            <a:off x="685800" y="3877056"/>
            <a:ext cx="6583680" cy="2286000"/>
          </a:xfrm>
          <a:prstGeom prst="rect">
            <a:avLst/>
          </a:prstGeom>
          <a:noFill/>
        </p:spPr>
        <p:txBody>
          <a:bodyPr wrap="square" lIns="0" rIns="0" tIns="0" bIns="0">
            <a:spAutoFit/>
          </a:bodyPr>
          <a:lstStyle/>
          <a:p>
            <a:pPr marL="201168" indent="-201168">
              <a:lnSpc>
                <a:spcPct val="112000"/>
              </a:lnSpc>
              <a:spcAft>
                <a:spcPts val="800"/>
              </a:spcAft>
              <a:buClr>
                <a:srgbClr val="C2650A"/>
              </a:buClr>
              <a:buFont typeface="Arial"/>
              <a:buChar char="●"/>
            </a:pPr>
            <a:r>
              <a:rPr sz="1500">
                <a:solidFill>
                  <a:srgbClr val="1C1F22"/>
                </a:solidFill>
                <a:latin typeface="Calibri"/>
              </a:rPr>
              <a:t>Dazwischen </a:t>
            </a:r>
            <a:r>
              <a:rPr b="1" sz="1500">
                <a:solidFill>
                  <a:srgbClr val="1C1F22"/>
                </a:solidFill>
                <a:latin typeface="Calibri"/>
              </a:rPr>
              <a:t>lineare Interpolation</a:t>
            </a:r>
            <a:r>
              <a:rPr sz="1500">
                <a:solidFill>
                  <a:srgbClr val="1C1F22"/>
                </a:solidFill>
                <a:latin typeface="Calibri"/>
              </a:rPr>
              <a:t> – eine Gerade durch beide Punkte</a:t>
            </a:r>
          </a:p>
          <a:p>
            <a:pPr marL="201168" indent="-201168">
              <a:lnSpc>
                <a:spcPct val="112000"/>
              </a:lnSpc>
              <a:spcAft>
                <a:spcPts val="800"/>
              </a:spcAft>
              <a:buClr>
                <a:srgbClr val="C2650A"/>
              </a:buClr>
              <a:buFont typeface="Arial"/>
              <a:buChar char="●"/>
            </a:pPr>
            <a:r>
              <a:rPr sz="1500">
                <a:solidFill>
                  <a:srgbClr val="1C1F22"/>
                </a:solidFill>
                <a:latin typeface="Calibri"/>
              </a:rPr>
              <a:t>Jedes Board hat </a:t>
            </a:r>
            <a:r>
              <a:rPr b="1" sz="1500">
                <a:solidFill>
                  <a:srgbClr val="1C1F22"/>
                </a:solidFill>
                <a:latin typeface="Calibri"/>
              </a:rPr>
              <a:t>eine eigene Kurve</a:t>
            </a:r>
            <a:r>
              <a:rPr sz="1500">
                <a:solidFill>
                  <a:srgbClr val="1C1F22"/>
                </a:solidFill>
                <a:latin typeface="Calibri"/>
              </a:rPr>
              <a:t> – Bauteile streuen (212 vs. 174 bei gleicher Temperatur!)</a:t>
            </a:r>
          </a:p>
          <a:p>
            <a:pPr marL="201168" indent="-201168">
              <a:lnSpc>
                <a:spcPct val="112000"/>
              </a:lnSpc>
              <a:spcAft>
                <a:spcPts val="800"/>
              </a:spcAft>
              <a:buClr>
                <a:srgbClr val="C2650A"/>
              </a:buClr>
              <a:buFont typeface="Arial"/>
              <a:buChar char="●"/>
            </a:pPr>
            <a:r>
              <a:rPr sz="1500">
                <a:solidFill>
                  <a:srgbClr val="1C1F22"/>
                </a:solidFill>
                <a:latin typeface="Calibri"/>
              </a:rPr>
              <a:t>Umrechnung macht der </a:t>
            </a:r>
            <a:r>
              <a:rPr b="1" sz="1500">
                <a:solidFill>
                  <a:srgbClr val="1C1F22"/>
                </a:solidFill>
                <a:latin typeface="Calibri"/>
              </a:rPr>
              <a:t>Pi</a:t>
            </a:r>
            <a:r>
              <a:rPr sz="1500">
                <a:solidFill>
                  <a:srgbClr val="1C1F22"/>
                </a:solidFill>
                <a:latin typeface="Calibri"/>
              </a:rPr>
              <a:t> (</a:t>
            </a:r>
            <a:r>
              <a:rPr sz="1500">
                <a:solidFill>
                  <a:srgbClr val="124A5E"/>
                </a:solidFill>
                <a:latin typeface="Consolas"/>
              </a:rPr>
              <a:t>calibration.py</a:t>
            </a:r>
            <a:r>
              <a:rPr sz="1500">
                <a:solidFill>
                  <a:srgbClr val="1C1F22"/>
                </a:solidFill>
                <a:latin typeface="Calibri"/>
              </a:rPr>
              <a:t>), die Arduinos schicken nur den Rohwert</a:t>
            </a:r>
          </a:p>
        </p:txBody>
      </p:sp>
      <p:sp>
        <p:nvSpPr>
          <p:cNvPr id="14" name="Rounded Rectangle 13"/>
          <p:cNvSpPr/>
          <p:nvPr/>
        </p:nvSpPr>
        <p:spPr>
          <a:xfrm>
            <a:off x="7635240" y="2093976"/>
            <a:ext cx="3867912" cy="3931920"/>
          </a:xfrm>
          <a:prstGeom prst="roundRect">
            <a:avLst>
              <a:gd name="adj" fmla="val 6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2249424"/>
            <a:ext cx="3474720" cy="320040"/>
          </a:xfrm>
          <a:prstGeom prst="rect">
            <a:avLst/>
          </a:prstGeom>
          <a:noFill/>
        </p:spPr>
        <p:txBody>
          <a:bodyPr wrap="square" lIns="0" rIns="0" tIns="0" bIns="0" anchor="t">
            <a:spAutoFit/>
          </a:bodyPr>
          <a:lstStyle/>
          <a:p>
            <a:pPr algn="l" marL="0" indent="0">
              <a:buNone/>
            </a:pPr>
            <a:r>
              <a:rPr sz="1300" b="1">
                <a:solidFill>
                  <a:srgbClr val="7A4308"/>
                </a:solidFill>
                <a:latin typeface="Calibri"/>
              </a:rPr>
              <a:t>Datenformat entlang der Kette</a:t>
            </a:r>
          </a:p>
        </p:txBody>
      </p:sp>
      <p:sp>
        <p:nvSpPr>
          <p:cNvPr id="16" name="TextBox 15"/>
          <p:cNvSpPr txBox="1"/>
          <p:nvPr/>
        </p:nvSpPr>
        <p:spPr>
          <a:xfrm>
            <a:off x="7863840" y="2688336"/>
            <a:ext cx="1097280" cy="274320"/>
          </a:xfrm>
          <a:prstGeom prst="rect">
            <a:avLst/>
          </a:prstGeom>
          <a:noFill/>
        </p:spPr>
        <p:txBody>
          <a:bodyPr wrap="square" lIns="0" rIns="0" tIns="0" bIns="0" anchor="t">
            <a:spAutoFit/>
          </a:bodyPr>
          <a:lstStyle/>
          <a:p>
            <a:pPr algn="l" marL="0" indent="0">
              <a:buNone/>
            </a:pPr>
            <a:r>
              <a:rPr sz="1300" b="1">
                <a:solidFill>
                  <a:srgbClr val="C2650A"/>
                </a:solidFill>
                <a:latin typeface="Calibri"/>
              </a:rPr>
              <a:t>Sensor</a:t>
            </a:r>
          </a:p>
        </p:txBody>
      </p:sp>
      <p:sp>
        <p:nvSpPr>
          <p:cNvPr id="17" name="TextBox 16"/>
          <p:cNvSpPr txBox="1"/>
          <p:nvPr/>
        </p:nvSpPr>
        <p:spPr>
          <a:xfrm>
            <a:off x="8961120" y="2688336"/>
            <a:ext cx="246888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Spannung (analog)</a:t>
            </a:r>
          </a:p>
        </p:txBody>
      </p:sp>
      <p:sp>
        <p:nvSpPr>
          <p:cNvPr id="18" name="TextBox 17"/>
          <p:cNvSpPr txBox="1"/>
          <p:nvPr/>
        </p:nvSpPr>
        <p:spPr>
          <a:xfrm>
            <a:off x="7863840" y="2990088"/>
            <a:ext cx="914400" cy="274320"/>
          </a:xfrm>
          <a:prstGeom prst="rect">
            <a:avLst/>
          </a:prstGeom>
          <a:noFill/>
        </p:spPr>
        <p:txBody>
          <a:bodyPr wrap="square" lIns="0" rIns="0" tIns="0" bIns="0" anchor="t">
            <a:spAutoFit/>
          </a:bodyPr>
          <a:lstStyle/>
          <a:p>
            <a:pPr algn="l" marL="0" indent="0">
              <a:buNone/>
            </a:pPr>
            <a:r>
              <a:rPr sz="1300">
                <a:solidFill>
                  <a:srgbClr val="C2650A"/>
                </a:solidFill>
                <a:latin typeface="Calibri"/>
              </a:rPr>
              <a:t>↓</a:t>
            </a:r>
          </a:p>
        </p:txBody>
      </p:sp>
      <p:sp>
        <p:nvSpPr>
          <p:cNvPr id="19" name="TextBox 18"/>
          <p:cNvSpPr txBox="1"/>
          <p:nvPr/>
        </p:nvSpPr>
        <p:spPr>
          <a:xfrm>
            <a:off x="7863840" y="3346704"/>
            <a:ext cx="1097280" cy="274320"/>
          </a:xfrm>
          <a:prstGeom prst="rect">
            <a:avLst/>
          </a:prstGeom>
          <a:noFill/>
        </p:spPr>
        <p:txBody>
          <a:bodyPr wrap="square" lIns="0" rIns="0" tIns="0" bIns="0" anchor="t">
            <a:spAutoFit/>
          </a:bodyPr>
          <a:lstStyle/>
          <a:p>
            <a:pPr algn="l" marL="0" indent="0">
              <a:buNone/>
            </a:pPr>
            <a:r>
              <a:rPr sz="1300" b="1">
                <a:solidFill>
                  <a:srgbClr val="C2650A"/>
                </a:solidFill>
                <a:latin typeface="Calibri"/>
              </a:rPr>
              <a:t>Arduino</a:t>
            </a:r>
          </a:p>
        </p:txBody>
      </p:sp>
      <p:sp>
        <p:nvSpPr>
          <p:cNvPr id="20" name="TextBox 19"/>
          <p:cNvSpPr txBox="1"/>
          <p:nvPr/>
        </p:nvSpPr>
        <p:spPr>
          <a:xfrm>
            <a:off x="8961120" y="3346704"/>
            <a:ext cx="246888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Rohwert 0–1023</a:t>
            </a:r>
          </a:p>
        </p:txBody>
      </p:sp>
      <p:sp>
        <p:nvSpPr>
          <p:cNvPr id="21" name="TextBox 20"/>
          <p:cNvSpPr txBox="1"/>
          <p:nvPr/>
        </p:nvSpPr>
        <p:spPr>
          <a:xfrm>
            <a:off x="7863840" y="3648456"/>
            <a:ext cx="914400" cy="274320"/>
          </a:xfrm>
          <a:prstGeom prst="rect">
            <a:avLst/>
          </a:prstGeom>
          <a:noFill/>
        </p:spPr>
        <p:txBody>
          <a:bodyPr wrap="square" lIns="0" rIns="0" tIns="0" bIns="0" anchor="t">
            <a:spAutoFit/>
          </a:bodyPr>
          <a:lstStyle/>
          <a:p>
            <a:pPr algn="l" marL="0" indent="0">
              <a:buNone/>
            </a:pPr>
            <a:r>
              <a:rPr sz="1300">
                <a:solidFill>
                  <a:srgbClr val="C2650A"/>
                </a:solidFill>
                <a:latin typeface="Calibri"/>
              </a:rPr>
              <a:t>↓</a:t>
            </a:r>
          </a:p>
        </p:txBody>
      </p:sp>
      <p:sp>
        <p:nvSpPr>
          <p:cNvPr id="22" name="TextBox 21"/>
          <p:cNvSpPr txBox="1"/>
          <p:nvPr/>
        </p:nvSpPr>
        <p:spPr>
          <a:xfrm>
            <a:off x="7863840" y="4005072"/>
            <a:ext cx="1097280" cy="274320"/>
          </a:xfrm>
          <a:prstGeom prst="rect">
            <a:avLst/>
          </a:prstGeom>
          <a:noFill/>
        </p:spPr>
        <p:txBody>
          <a:bodyPr wrap="square" lIns="0" rIns="0" tIns="0" bIns="0" anchor="t">
            <a:spAutoFit/>
          </a:bodyPr>
          <a:lstStyle/>
          <a:p>
            <a:pPr algn="l" marL="0" indent="0">
              <a:buNone/>
            </a:pPr>
            <a:r>
              <a:rPr sz="1300" b="1">
                <a:solidFill>
                  <a:srgbClr val="C2650A"/>
                </a:solidFill>
                <a:latin typeface="Calibri"/>
              </a:rPr>
              <a:t>I2C</a:t>
            </a:r>
          </a:p>
        </p:txBody>
      </p:sp>
      <p:sp>
        <p:nvSpPr>
          <p:cNvPr id="23" name="TextBox 22"/>
          <p:cNvSpPr txBox="1"/>
          <p:nvPr/>
        </p:nvSpPr>
        <p:spPr>
          <a:xfrm>
            <a:off x="8961120" y="4005072"/>
            <a:ext cx="246888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2 Bytes</a:t>
            </a:r>
          </a:p>
        </p:txBody>
      </p:sp>
      <p:sp>
        <p:nvSpPr>
          <p:cNvPr id="24" name="TextBox 23"/>
          <p:cNvSpPr txBox="1"/>
          <p:nvPr/>
        </p:nvSpPr>
        <p:spPr>
          <a:xfrm>
            <a:off x="7863840" y="4306824"/>
            <a:ext cx="914400" cy="274320"/>
          </a:xfrm>
          <a:prstGeom prst="rect">
            <a:avLst/>
          </a:prstGeom>
          <a:noFill/>
        </p:spPr>
        <p:txBody>
          <a:bodyPr wrap="square" lIns="0" rIns="0" tIns="0" bIns="0" anchor="t">
            <a:spAutoFit/>
          </a:bodyPr>
          <a:lstStyle/>
          <a:p>
            <a:pPr algn="l" marL="0" indent="0">
              <a:buNone/>
            </a:pPr>
            <a:r>
              <a:rPr sz="1300">
                <a:solidFill>
                  <a:srgbClr val="C2650A"/>
                </a:solidFill>
                <a:latin typeface="Calibri"/>
              </a:rPr>
              <a:t>↓</a:t>
            </a:r>
          </a:p>
        </p:txBody>
      </p:sp>
      <p:sp>
        <p:nvSpPr>
          <p:cNvPr id="25" name="TextBox 24"/>
          <p:cNvSpPr txBox="1"/>
          <p:nvPr/>
        </p:nvSpPr>
        <p:spPr>
          <a:xfrm>
            <a:off x="7863840" y="4663440"/>
            <a:ext cx="1097280" cy="274320"/>
          </a:xfrm>
          <a:prstGeom prst="rect">
            <a:avLst/>
          </a:prstGeom>
          <a:noFill/>
        </p:spPr>
        <p:txBody>
          <a:bodyPr wrap="square" lIns="0" rIns="0" tIns="0" bIns="0" anchor="t">
            <a:spAutoFit/>
          </a:bodyPr>
          <a:lstStyle/>
          <a:p>
            <a:pPr algn="l" marL="0" indent="0">
              <a:buNone/>
            </a:pPr>
            <a:r>
              <a:rPr sz="1300" b="1">
                <a:solidFill>
                  <a:srgbClr val="C2650A"/>
                </a:solidFill>
                <a:latin typeface="Calibri"/>
              </a:rPr>
              <a:t>Pi</a:t>
            </a:r>
          </a:p>
        </p:txBody>
      </p:sp>
      <p:sp>
        <p:nvSpPr>
          <p:cNvPr id="26" name="TextBox 25"/>
          <p:cNvSpPr txBox="1"/>
          <p:nvPr/>
        </p:nvSpPr>
        <p:spPr>
          <a:xfrm>
            <a:off x="8961120" y="4663440"/>
            <a:ext cx="246888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°C (Kommazahl)</a:t>
            </a:r>
          </a:p>
        </p:txBody>
      </p:sp>
      <p:sp>
        <p:nvSpPr>
          <p:cNvPr id="27" name="TextBox 26"/>
          <p:cNvSpPr txBox="1"/>
          <p:nvPr/>
        </p:nvSpPr>
        <p:spPr>
          <a:xfrm>
            <a:off x="7863840" y="4965192"/>
            <a:ext cx="914400" cy="274320"/>
          </a:xfrm>
          <a:prstGeom prst="rect">
            <a:avLst/>
          </a:prstGeom>
          <a:noFill/>
        </p:spPr>
        <p:txBody>
          <a:bodyPr wrap="square" lIns="0" rIns="0" tIns="0" bIns="0" anchor="t">
            <a:spAutoFit/>
          </a:bodyPr>
          <a:lstStyle/>
          <a:p>
            <a:pPr algn="l" marL="0" indent="0">
              <a:buNone/>
            </a:pPr>
            <a:r>
              <a:rPr sz="1300">
                <a:solidFill>
                  <a:srgbClr val="C2650A"/>
                </a:solidFill>
                <a:latin typeface="Calibri"/>
              </a:rPr>
              <a:t>↓</a:t>
            </a:r>
          </a:p>
        </p:txBody>
      </p:sp>
      <p:sp>
        <p:nvSpPr>
          <p:cNvPr id="28" name="TextBox 27"/>
          <p:cNvSpPr txBox="1"/>
          <p:nvPr/>
        </p:nvSpPr>
        <p:spPr>
          <a:xfrm>
            <a:off x="7863840" y="5321808"/>
            <a:ext cx="1097280" cy="274320"/>
          </a:xfrm>
          <a:prstGeom prst="rect">
            <a:avLst/>
          </a:prstGeom>
          <a:noFill/>
        </p:spPr>
        <p:txBody>
          <a:bodyPr wrap="square" lIns="0" rIns="0" tIns="0" bIns="0" anchor="t">
            <a:spAutoFit/>
          </a:bodyPr>
          <a:lstStyle/>
          <a:p>
            <a:pPr algn="l" marL="0" indent="0">
              <a:buNone/>
            </a:pPr>
            <a:r>
              <a:rPr sz="1300" b="1">
                <a:solidFill>
                  <a:srgbClr val="C2650A"/>
                </a:solidFill>
                <a:latin typeface="Calibri"/>
              </a:rPr>
              <a:t>SQLite</a:t>
            </a:r>
          </a:p>
        </p:txBody>
      </p:sp>
      <p:sp>
        <p:nvSpPr>
          <p:cNvPr id="29" name="TextBox 28"/>
          <p:cNvSpPr txBox="1"/>
          <p:nvPr/>
        </p:nvSpPr>
        <p:spPr>
          <a:xfrm>
            <a:off x="8961120" y="5321808"/>
            <a:ext cx="246888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Zeile mit Zeitstempel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81844" y="384048"/>
            <a:ext cx="1476756"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Bewertung: LED + Helligkeit folgt Sensor (4 + 6 Pkt)</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LED zeigt den Messwert</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07 / 14</a:t>
            </a:r>
          </a:p>
        </p:txBody>
      </p:sp>
      <p:sp>
        <p:nvSpPr>
          <p:cNvPr id="11" name="Rounded Rectangle 10"/>
          <p:cNvSpPr/>
          <p:nvPr/>
        </p:nvSpPr>
        <p:spPr>
          <a:xfrm>
            <a:off x="685800" y="1591056"/>
            <a:ext cx="1417320" cy="310896"/>
          </a:xfrm>
          <a:prstGeom prst="roundRect">
            <a:avLst>
              <a:gd name="adj" fmla="val 50000"/>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tIns="0" bIns="0"/>
          <a:lstStyle/>
          <a:p>
            <a:pPr algn="ctr"/>
            <a:r>
              <a:rPr sz="1200" b="1">
                <a:solidFill>
                  <a:srgbClr val="5C4400"/>
                </a:solidFill>
                <a:latin typeface="Calibri"/>
              </a:rPr>
              <a:t>👉 Live-Demo</a:t>
            </a:r>
          </a:p>
        </p:txBody>
      </p:sp>
      <p:sp>
        <p:nvSpPr>
          <p:cNvPr id="12" name="TextBox 11"/>
          <p:cNvSpPr txBox="1"/>
          <p:nvPr/>
        </p:nvSpPr>
        <p:spPr>
          <a:xfrm>
            <a:off x="685800" y="2048256"/>
            <a:ext cx="5852160" cy="2377440"/>
          </a:xfrm>
          <a:prstGeom prst="rect">
            <a:avLst/>
          </a:prstGeom>
          <a:noFill/>
        </p:spPr>
        <p:txBody>
          <a:bodyPr wrap="square" lIns="0" rIns="0" tIns="0" bIns="0">
            <a:spAutoFit/>
          </a:bodyPr>
          <a:lstStyle/>
          <a:p>
            <a:pPr marL="201168" indent="-201168">
              <a:lnSpc>
                <a:spcPct val="112000"/>
              </a:lnSpc>
              <a:spcAft>
                <a:spcPts val="800"/>
              </a:spcAft>
              <a:buClr>
                <a:srgbClr val="C2650A"/>
              </a:buClr>
              <a:buFont typeface="Arial"/>
              <a:buChar char="●"/>
            </a:pPr>
            <a:r>
              <a:rPr b="1" sz="1500">
                <a:solidFill>
                  <a:srgbClr val="1C1F22"/>
                </a:solidFill>
                <a:latin typeface="Calibri"/>
              </a:rPr>
              <a:t>PWM</a:t>
            </a:r>
            <a:r>
              <a:rPr sz="1500">
                <a:solidFill>
                  <a:srgbClr val="1C1F22"/>
                </a:solidFill>
                <a:latin typeface="Calibri"/>
              </a:rPr>
              <a:t> (Pulsweitenmodulation): LED wird sehr schnell an/aus geschaltet</a:t>
            </a:r>
          </a:p>
          <a:p>
            <a:pPr marL="201168" indent="-201168">
              <a:lnSpc>
                <a:spcPct val="112000"/>
              </a:lnSpc>
              <a:spcAft>
                <a:spcPts val="800"/>
              </a:spcAft>
              <a:buClr>
                <a:srgbClr val="C2650A"/>
              </a:buClr>
              <a:buFont typeface="Arial"/>
              <a:buChar char="●"/>
            </a:pPr>
            <a:r>
              <a:rPr sz="1500">
                <a:solidFill>
                  <a:srgbClr val="1C1F22"/>
                </a:solidFill>
                <a:latin typeface="Calibri"/>
              </a:rPr>
              <a:t>Anteil „an“ pro Takt = Helligkeit → Wert </a:t>
            </a:r>
            <a:r>
              <a:rPr b="1" sz="1500">
                <a:solidFill>
                  <a:srgbClr val="1C1F22"/>
                </a:solidFill>
                <a:latin typeface="Calibri"/>
              </a:rPr>
              <a:t>0 (aus) bis 255 (voll)</a:t>
            </a:r>
          </a:p>
          <a:p>
            <a:pPr marL="201168" indent="-201168">
              <a:lnSpc>
                <a:spcPct val="112000"/>
              </a:lnSpc>
              <a:spcAft>
                <a:spcPts val="800"/>
              </a:spcAft>
              <a:buClr>
                <a:srgbClr val="C2650A"/>
              </a:buClr>
              <a:buFont typeface="Arial"/>
              <a:buChar char="●"/>
            </a:pPr>
            <a:r>
              <a:rPr sz="1500">
                <a:solidFill>
                  <a:srgbClr val="1C1F22"/>
                </a:solidFill>
                <a:latin typeface="Calibri"/>
              </a:rPr>
              <a:t>Rechnung </a:t>
            </a:r>
            <a:r>
              <a:rPr b="1" sz="1500">
                <a:solidFill>
                  <a:srgbClr val="1C1F22"/>
                </a:solidFill>
                <a:latin typeface="Calibri"/>
              </a:rPr>
              <a:t>direkt auf dem Arduino</a:t>
            </a:r>
            <a:r>
              <a:rPr sz="1500">
                <a:solidFill>
                  <a:srgbClr val="1C1F22"/>
                </a:solidFill>
                <a:latin typeface="Calibri"/>
              </a:rPr>
              <a:t> – kein Umweg über den Pi</a:t>
            </a:r>
          </a:p>
          <a:p>
            <a:pPr marL="201168" indent="-201168">
              <a:lnSpc>
                <a:spcPct val="112000"/>
              </a:lnSpc>
              <a:spcAft>
                <a:spcPts val="800"/>
              </a:spcAft>
              <a:buClr>
                <a:srgbClr val="C2650A"/>
              </a:buClr>
              <a:buFont typeface="Arial"/>
              <a:buChar char="●"/>
            </a:pPr>
            <a:r>
              <a:rPr sz="1500">
                <a:solidFill>
                  <a:srgbClr val="1C1F22"/>
                </a:solidFill>
                <a:latin typeface="Calibri"/>
              </a:rPr>
              <a:t>→ reagiert sofort und funktioniert auch ohne Pi</a:t>
            </a:r>
          </a:p>
        </p:txBody>
      </p:sp>
      <p:sp>
        <p:nvSpPr>
          <p:cNvPr id="13" name="Rounded Rectangle 12"/>
          <p:cNvSpPr/>
          <p:nvPr/>
        </p:nvSpPr>
        <p:spPr>
          <a:xfrm>
            <a:off x="685800" y="4608576"/>
            <a:ext cx="5852160" cy="1188720"/>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718304"/>
            <a:ext cx="5394960" cy="969264"/>
          </a:xfrm>
          <a:prstGeom prst="rect">
            <a:avLst/>
          </a:prstGeom>
          <a:noFill/>
        </p:spPr>
        <p:txBody>
          <a:bodyPr wrap="none" lIns="0" rIns="0" tIns="0" bIns="0">
            <a:spAutoFit/>
          </a:bodyPr>
          <a:lstStyle/>
          <a:p>
            <a:pPr marL="0" indent="0">
              <a:buNone/>
            </a:pPr>
            <a:r>
              <a:rPr sz="1250">
                <a:solidFill>
                  <a:srgbClr val="1C1F22"/>
                </a:solidFill>
                <a:latin typeface="Consolas"/>
              </a:rPr>
              <a:t>hell = map(rohwert, ..., 255, 0);</a:t>
            </a:r>
          </a:p>
          <a:p>
            <a:pPr marL="0" indent="0">
              <a:buNone/>
            </a:pPr>
            <a:r>
              <a:rPr sz="1250">
                <a:solidFill>
                  <a:srgbClr val="1C1F22"/>
                </a:solidFill>
                <a:latin typeface="Consolas"/>
              </a:rPr>
              <a:t>hell = constrain(hell, 0, 255);</a:t>
            </a:r>
          </a:p>
          <a:p>
            <a:pPr marL="0" indent="0">
              <a:buNone/>
            </a:pPr>
            <a:r>
              <a:rPr sz="1250">
                <a:solidFill>
                  <a:srgbClr val="1C1F22"/>
                </a:solidFill>
                <a:latin typeface="Consolas"/>
              </a:rPr>
              <a:t>analogWrite(PIN_LED, hell);</a:t>
            </a:r>
          </a:p>
        </p:txBody>
      </p:sp>
      <p:sp>
        <p:nvSpPr>
          <p:cNvPr id="15" name="Rounded Rectangle 14"/>
          <p:cNvSpPr/>
          <p:nvPr/>
        </p:nvSpPr>
        <p:spPr>
          <a:xfrm>
            <a:off x="7086600" y="1591056"/>
            <a:ext cx="4416552" cy="4206240"/>
          </a:xfrm>
          <a:prstGeom prst="roundRect">
            <a:avLst>
              <a:gd name="adj" fmla="val 5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1773936"/>
            <a:ext cx="3867912" cy="320040"/>
          </a:xfrm>
          <a:prstGeom prst="rect">
            <a:avLst/>
          </a:prstGeom>
          <a:noFill/>
        </p:spPr>
        <p:txBody>
          <a:bodyPr wrap="square" lIns="0" rIns="0" tIns="0" bIns="0" anchor="t">
            <a:spAutoFit/>
          </a:bodyPr>
          <a:lstStyle/>
          <a:p>
            <a:pPr algn="l" marL="0" indent="0">
              <a:buNone/>
            </a:pPr>
            <a:r>
              <a:rPr sz="1300" b="1">
                <a:solidFill>
                  <a:srgbClr val="7A4308"/>
                </a:solidFill>
                <a:latin typeface="Calibri"/>
              </a:rPr>
              <a:t>PWM: gleicher Takt, andere Einschaltdauer</a:t>
            </a:r>
          </a:p>
        </p:txBody>
      </p:sp>
      <p:sp>
        <p:nvSpPr>
          <p:cNvPr id="17" name="TextBox 16"/>
          <p:cNvSpPr txBox="1"/>
          <p:nvPr/>
        </p:nvSpPr>
        <p:spPr>
          <a:xfrm>
            <a:off x="7360920" y="2459736"/>
            <a:ext cx="1828800" cy="274320"/>
          </a:xfrm>
          <a:prstGeom prst="rect">
            <a:avLst/>
          </a:prstGeom>
          <a:noFill/>
        </p:spPr>
        <p:txBody>
          <a:bodyPr wrap="square" lIns="0" rIns="0" tIns="0" bIns="0" anchor="t">
            <a:spAutoFit/>
          </a:bodyPr>
          <a:lstStyle/>
          <a:p>
            <a:pPr algn="l" marL="0" indent="0">
              <a:buNone/>
            </a:pPr>
            <a:r>
              <a:rPr sz="1200" b="1">
                <a:solidFill>
                  <a:srgbClr val="1C1F22"/>
                </a:solidFill>
                <a:latin typeface="Calibri"/>
              </a:rPr>
              <a:t>kalt → dunkel</a:t>
            </a:r>
          </a:p>
        </p:txBody>
      </p:sp>
      <p:sp>
        <p:nvSpPr>
          <p:cNvPr id="18" name="Rectangle 17"/>
          <p:cNvSpPr/>
          <p:nvPr/>
        </p:nvSpPr>
        <p:spPr>
          <a:xfrm>
            <a:off x="7360920" y="2779776"/>
            <a:ext cx="17830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7539228" y="3191256"/>
            <a:ext cx="101041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549640" y="2779776"/>
            <a:ext cx="17830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727948" y="3191256"/>
            <a:ext cx="101041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738360" y="2779776"/>
            <a:ext cx="17830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916668" y="3191256"/>
            <a:ext cx="101041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0920" y="3557016"/>
            <a:ext cx="1828800" cy="274320"/>
          </a:xfrm>
          <a:prstGeom prst="rect">
            <a:avLst/>
          </a:prstGeom>
          <a:noFill/>
        </p:spPr>
        <p:txBody>
          <a:bodyPr wrap="square" lIns="0" rIns="0" tIns="0" bIns="0" anchor="t">
            <a:spAutoFit/>
          </a:bodyPr>
          <a:lstStyle/>
          <a:p>
            <a:pPr algn="l" marL="0" indent="0">
              <a:buNone/>
            </a:pPr>
            <a:r>
              <a:rPr sz="1200" b="1">
                <a:solidFill>
                  <a:srgbClr val="1C1F22"/>
                </a:solidFill>
                <a:latin typeface="Calibri"/>
              </a:rPr>
              <a:t>mittel</a:t>
            </a:r>
          </a:p>
        </p:txBody>
      </p:sp>
      <p:sp>
        <p:nvSpPr>
          <p:cNvPr id="25" name="Rectangle 24"/>
          <p:cNvSpPr/>
          <p:nvPr/>
        </p:nvSpPr>
        <p:spPr>
          <a:xfrm>
            <a:off x="7360920" y="3877056"/>
            <a:ext cx="594360"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7955280" y="4288536"/>
            <a:ext cx="594360"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549640" y="3877056"/>
            <a:ext cx="594360"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9144000" y="4288536"/>
            <a:ext cx="594360"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738360" y="3877056"/>
            <a:ext cx="594360"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332720" y="4288536"/>
            <a:ext cx="594360"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60920" y="4654296"/>
            <a:ext cx="1828800" cy="274320"/>
          </a:xfrm>
          <a:prstGeom prst="rect">
            <a:avLst/>
          </a:prstGeom>
          <a:noFill/>
        </p:spPr>
        <p:txBody>
          <a:bodyPr wrap="square" lIns="0" rIns="0" tIns="0" bIns="0" anchor="t">
            <a:spAutoFit/>
          </a:bodyPr>
          <a:lstStyle/>
          <a:p>
            <a:pPr algn="l" marL="0" indent="0">
              <a:buNone/>
            </a:pPr>
            <a:r>
              <a:rPr sz="1200" b="1">
                <a:solidFill>
                  <a:srgbClr val="1C1F22"/>
                </a:solidFill>
                <a:latin typeface="Calibri"/>
              </a:rPr>
              <a:t>warm → hell</a:t>
            </a:r>
          </a:p>
        </p:txBody>
      </p:sp>
      <p:sp>
        <p:nvSpPr>
          <p:cNvPr id="32" name="Rectangle 31"/>
          <p:cNvSpPr/>
          <p:nvPr/>
        </p:nvSpPr>
        <p:spPr>
          <a:xfrm>
            <a:off x="7360920" y="4974336"/>
            <a:ext cx="106984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8430768" y="5385816"/>
            <a:ext cx="11887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549640" y="4974336"/>
            <a:ext cx="106984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9619488" y="5385816"/>
            <a:ext cx="11887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738360" y="4974336"/>
            <a:ext cx="1069848" cy="411480"/>
          </a:xfrm>
          <a:prstGeom prst="rect">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0808208" y="5385816"/>
            <a:ext cx="118872" cy="0"/>
          </a:xfrm>
          <a:prstGeom prst="line">
            <a:avLst/>
          </a:prstGeom>
          <a:ln w="25400">
            <a:solidFill>
              <a:srgbClr val="C2650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1E3"/>
        </a:solidFill>
        <a:effectLst/>
      </p:bgPr>
    </p:bg>
    <p:spTree>
      <p:nvGrpSpPr>
        <p:cNvPr id="1" name=""/>
        <p:cNvGrpSpPr/>
        <p:nvPr/>
      </p:nvGrpSpPr>
      <p:grpSpPr/>
      <p:sp>
        <p:nvSpPr>
          <p:cNvPr id="2" name="Oval 1"/>
          <p:cNvSpPr/>
          <p:nvPr/>
        </p:nvSpPr>
        <p:spPr>
          <a:xfrm>
            <a:off x="5593384" y="1645920"/>
            <a:ext cx="1005840" cy="1005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784494" y="1977344"/>
            <a:ext cx="193322" cy="193322"/>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77816" y="2033470"/>
            <a:ext cx="118487" cy="130960"/>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7612" y="2217438"/>
            <a:ext cx="81070" cy="81070"/>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018352" y="2217438"/>
            <a:ext cx="81070" cy="81070"/>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2880360"/>
            <a:ext cx="12191695" cy="365760"/>
          </a:xfrm>
          <a:prstGeom prst="rect">
            <a:avLst/>
          </a:prstGeom>
          <a:noFill/>
        </p:spPr>
        <p:txBody>
          <a:bodyPr wrap="square" lIns="0" rIns="0" tIns="0" bIns="0" anchor="t">
            <a:spAutoFit/>
          </a:bodyPr>
          <a:lstStyle/>
          <a:p>
            <a:pPr algn="ctr" marL="0" indent="0">
              <a:buNone/>
            </a:pPr>
            <a:r>
              <a:rPr sz="1500" b="1" i="1">
                <a:solidFill>
                  <a:srgbClr val="C2650A"/>
                </a:solidFill>
                <a:latin typeface="Century Schoolbook"/>
              </a:rPr>
              <a:t>Challenge II</a:t>
            </a:r>
          </a:p>
        </p:txBody>
      </p:sp>
      <p:sp>
        <p:nvSpPr>
          <p:cNvPr id="8" name="TextBox 7"/>
          <p:cNvSpPr txBox="1"/>
          <p:nvPr/>
        </p:nvSpPr>
        <p:spPr>
          <a:xfrm>
            <a:off x="1097280" y="3246120"/>
            <a:ext cx="9997135" cy="1005840"/>
          </a:xfrm>
          <a:prstGeom prst="rect">
            <a:avLst/>
          </a:prstGeom>
          <a:noFill/>
        </p:spPr>
        <p:txBody>
          <a:bodyPr wrap="square" lIns="0" rIns="0" tIns="0" bIns="0" anchor="t">
            <a:spAutoFit/>
          </a:bodyPr>
          <a:lstStyle/>
          <a:p>
            <a:pPr algn="ctr" marL="0" indent="0">
              <a:buNone/>
            </a:pPr>
            <a:r>
              <a:rPr sz="3400" b="1">
                <a:solidFill>
                  <a:srgbClr val="1C1F22"/>
                </a:solidFill>
                <a:latin typeface="Century Schoolbook"/>
              </a:rPr>
              <a:t>Block 5: Node-RED &amp; Fernsteuerung</a:t>
            </a:r>
          </a:p>
        </p:txBody>
      </p:sp>
      <p:sp>
        <p:nvSpPr>
          <p:cNvPr id="9" name="TextBox 8"/>
          <p:cNvSpPr txBox="1"/>
          <p:nvPr/>
        </p:nvSpPr>
        <p:spPr>
          <a:xfrm>
            <a:off x="1097280" y="4160520"/>
            <a:ext cx="9997135" cy="548640"/>
          </a:xfrm>
          <a:prstGeom prst="rect">
            <a:avLst/>
          </a:prstGeom>
          <a:noFill/>
        </p:spPr>
        <p:txBody>
          <a:bodyPr wrap="square" lIns="0" rIns="0" tIns="0" bIns="0" anchor="t">
            <a:spAutoFit/>
          </a:bodyPr>
          <a:lstStyle/>
          <a:p>
            <a:pPr algn="ctr" marL="0" indent="0">
              <a:buNone/>
            </a:pPr>
            <a:r>
              <a:rPr sz="2000" b="1" i="1">
                <a:solidFill>
                  <a:srgbClr val="C2650A"/>
                </a:solidFill>
                <a:latin typeface="Century Schoolbook"/>
              </a:rPr>
              <a:t>Anton</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Entwicklungswerkzeug</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Was ist Node-RED?</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09 / 14</a:t>
            </a:r>
          </a:p>
        </p:txBody>
      </p:sp>
      <p:sp>
        <p:nvSpPr>
          <p:cNvPr id="11" name="TextBox 10"/>
          <p:cNvSpPr txBox="1"/>
          <p:nvPr/>
        </p:nvSpPr>
        <p:spPr>
          <a:xfrm>
            <a:off x="685800" y="1591056"/>
            <a:ext cx="6035040" cy="4206240"/>
          </a:xfrm>
          <a:prstGeom prst="rect">
            <a:avLst/>
          </a:prstGeom>
          <a:noFill/>
        </p:spPr>
        <p:txBody>
          <a:bodyPr wrap="square" lIns="0" rIns="0" tIns="0" bIns="0">
            <a:spAutoFit/>
          </a:bodyPr>
          <a:lstStyle/>
          <a:p>
            <a:pPr marL="201168" indent="-201168">
              <a:lnSpc>
                <a:spcPct val="112000"/>
              </a:lnSpc>
              <a:spcAft>
                <a:spcPts val="800"/>
              </a:spcAft>
              <a:buClr>
                <a:srgbClr val="C2650A"/>
              </a:buClr>
              <a:buFont typeface="Arial"/>
              <a:buChar char="●"/>
            </a:pPr>
            <a:r>
              <a:rPr sz="1500">
                <a:solidFill>
                  <a:srgbClr val="1C1F22"/>
                </a:solidFill>
                <a:latin typeface="Calibri"/>
              </a:rPr>
              <a:t>Werkzeug zur </a:t>
            </a:r>
            <a:r>
              <a:rPr b="1" sz="1500">
                <a:solidFill>
                  <a:srgbClr val="1C1F22"/>
                </a:solidFill>
                <a:latin typeface="Calibri"/>
              </a:rPr>
              <a:t>visuellen Programmierung</a:t>
            </a:r>
            <a:r>
              <a:rPr sz="1500">
                <a:solidFill>
                  <a:srgbClr val="1C1F22"/>
                </a:solidFill>
                <a:latin typeface="Calibri"/>
              </a:rPr>
              <a:t>, läuft auf dem Pi (Port 1880)</a:t>
            </a:r>
          </a:p>
          <a:p>
            <a:pPr marL="201168" indent="-201168">
              <a:lnSpc>
                <a:spcPct val="112000"/>
              </a:lnSpc>
              <a:spcAft>
                <a:spcPts val="800"/>
              </a:spcAft>
              <a:buClr>
                <a:srgbClr val="C2650A"/>
              </a:buClr>
              <a:buFont typeface="Arial"/>
              <a:buChar char="●"/>
            </a:pPr>
            <a:r>
              <a:rPr sz="1500">
                <a:solidFill>
                  <a:srgbClr val="1C1F22"/>
                </a:solidFill>
                <a:latin typeface="Calibri"/>
              </a:rPr>
              <a:t>Programme = </a:t>
            </a:r>
            <a:r>
              <a:rPr b="1" sz="1500">
                <a:solidFill>
                  <a:srgbClr val="1C1F22"/>
                </a:solidFill>
                <a:latin typeface="Calibri"/>
              </a:rPr>
              <a:t>Flows</a:t>
            </a:r>
            <a:r>
              <a:rPr sz="1500">
                <a:solidFill>
                  <a:srgbClr val="1C1F22"/>
                </a:solidFill>
                <a:latin typeface="Calibri"/>
              </a:rPr>
              <a:t>, gebaut aus </a:t>
            </a:r>
            <a:r>
              <a:rPr b="1" sz="1500">
                <a:solidFill>
                  <a:srgbClr val="1C1F22"/>
                </a:solidFill>
                <a:latin typeface="Calibri"/>
              </a:rPr>
              <a:t>Nodes</a:t>
            </a:r>
            <a:r>
              <a:rPr sz="1500">
                <a:solidFill>
                  <a:srgbClr val="1C1F22"/>
                </a:solidFill>
                <a:latin typeface="Calibri"/>
              </a:rPr>
              <a:t> (Bausteinen) und Verbindungen</a:t>
            </a:r>
          </a:p>
          <a:p>
            <a:pPr marL="201168" indent="-201168">
              <a:lnSpc>
                <a:spcPct val="112000"/>
              </a:lnSpc>
              <a:spcAft>
                <a:spcPts val="800"/>
              </a:spcAft>
              <a:buClr>
                <a:srgbClr val="C2650A"/>
              </a:buClr>
              <a:buFont typeface="Arial"/>
              <a:buChar char="●"/>
            </a:pPr>
            <a:r>
              <a:rPr sz="1500">
                <a:solidFill>
                  <a:srgbClr val="1C1F22"/>
                </a:solidFill>
                <a:latin typeface="Calibri"/>
              </a:rPr>
              <a:t>Nachrichten (</a:t>
            </a:r>
            <a:r>
              <a:rPr sz="1500">
                <a:solidFill>
                  <a:srgbClr val="124A5E"/>
                </a:solidFill>
                <a:latin typeface="Consolas"/>
              </a:rPr>
              <a:t>msg</a:t>
            </a:r>
            <a:r>
              <a:rPr sz="1500">
                <a:solidFill>
                  <a:srgbClr val="1C1F22"/>
                </a:solidFill>
                <a:latin typeface="Calibri"/>
              </a:rPr>
              <a:t>) wandern von Node zu Node</a:t>
            </a:r>
          </a:p>
          <a:p>
            <a:pPr marL="201168" indent="-201168">
              <a:lnSpc>
                <a:spcPct val="112000"/>
              </a:lnSpc>
              <a:spcAft>
                <a:spcPts val="800"/>
              </a:spcAft>
              <a:buClr>
                <a:srgbClr val="C2650A"/>
              </a:buClr>
              <a:buFont typeface="Arial"/>
              <a:buChar char="●"/>
            </a:pPr>
            <a:r>
              <a:rPr sz="1500">
                <a:solidFill>
                  <a:srgbClr val="1C1F22"/>
                </a:solidFill>
                <a:latin typeface="Calibri"/>
              </a:rPr>
              <a:t>Fertige Nodes für </a:t>
            </a:r>
            <a:r>
              <a:rPr b="1" sz="1500">
                <a:solidFill>
                  <a:srgbClr val="1C1F22"/>
                </a:solidFill>
                <a:latin typeface="Calibri"/>
              </a:rPr>
              <a:t>MQTT, SQLite, Dateien, Skriptaufrufe</a:t>
            </a:r>
          </a:p>
          <a:p>
            <a:pPr marL="201168" indent="-201168">
              <a:lnSpc>
                <a:spcPct val="112000"/>
              </a:lnSpc>
              <a:spcAft>
                <a:spcPts val="800"/>
              </a:spcAft>
              <a:buClr>
                <a:srgbClr val="C2650A"/>
              </a:buClr>
              <a:buFont typeface="Arial"/>
              <a:buChar char="●"/>
            </a:pPr>
            <a:r>
              <a:rPr sz="1500">
                <a:solidFill>
                  <a:srgbClr val="1C1F22"/>
                </a:solidFill>
                <a:latin typeface="Calibri"/>
              </a:rPr>
              <a:t>Eigene Logik in </a:t>
            </a:r>
            <a:r>
              <a:rPr b="1" sz="1500">
                <a:solidFill>
                  <a:srgbClr val="1C1F22"/>
                </a:solidFill>
                <a:latin typeface="Calibri"/>
              </a:rPr>
              <a:t>Function-Nodes</a:t>
            </a:r>
            <a:r>
              <a:rPr sz="1500">
                <a:solidFill>
                  <a:srgbClr val="1C1F22"/>
                </a:solidFill>
                <a:latin typeface="Calibri"/>
              </a:rPr>
              <a:t> (JavaScript)</a:t>
            </a:r>
          </a:p>
          <a:p>
            <a:pPr marL="201168" indent="-201168">
              <a:lnSpc>
                <a:spcPct val="112000"/>
              </a:lnSpc>
              <a:spcAft>
                <a:spcPts val="800"/>
              </a:spcAft>
              <a:buClr>
                <a:srgbClr val="C2650A"/>
              </a:buClr>
              <a:buFont typeface="Arial"/>
              <a:buChar char="●"/>
            </a:pPr>
            <a:r>
              <a:rPr sz="1500">
                <a:solidFill>
                  <a:srgbClr val="1C1F22"/>
                </a:solidFill>
                <a:latin typeface="Calibri"/>
              </a:rPr>
              <a:t>Bei uns: </a:t>
            </a:r>
            <a:r>
              <a:rPr b="1" sz="1500">
                <a:solidFill>
                  <a:srgbClr val="1C1F22"/>
                </a:solidFill>
                <a:latin typeface="Calibri"/>
              </a:rPr>
              <a:t>die Brücke zwischen Pi-Backend und MQTT – in beide Richtungen</a:t>
            </a:r>
          </a:p>
        </p:txBody>
      </p:sp>
      <p:sp>
        <p:nvSpPr>
          <p:cNvPr id="12" name="Rounded Rectangle 11"/>
          <p:cNvSpPr/>
          <p:nvPr/>
        </p:nvSpPr>
        <p:spPr>
          <a:xfrm>
            <a:off x="7406640" y="1773936"/>
            <a:ext cx="3566160" cy="777240"/>
          </a:xfrm>
          <a:prstGeom prst="roundRect">
            <a:avLst>
              <a:gd name="adj" fmla="val 30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1901952"/>
            <a:ext cx="301752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Inject</a:t>
            </a:r>
          </a:p>
        </p:txBody>
      </p:sp>
      <p:sp>
        <p:nvSpPr>
          <p:cNvPr id="14" name="TextBox 13"/>
          <p:cNvSpPr txBox="1"/>
          <p:nvPr/>
        </p:nvSpPr>
        <p:spPr>
          <a:xfrm>
            <a:off x="7680960" y="2194560"/>
            <a:ext cx="3017520" cy="274320"/>
          </a:xfrm>
          <a:prstGeom prst="rect">
            <a:avLst/>
          </a:prstGeom>
          <a:noFill/>
        </p:spPr>
        <p:txBody>
          <a:bodyPr wrap="square" lIns="0" rIns="0" tIns="0" bIns="0" anchor="t">
            <a:spAutoFit/>
          </a:bodyPr>
          <a:lstStyle/>
          <a:p>
            <a:pPr algn="l" marL="0" indent="0">
              <a:buNone/>
            </a:pPr>
            <a:r>
              <a:rPr sz="1200">
                <a:solidFill>
                  <a:srgbClr val="6B6F73"/>
                </a:solidFill>
                <a:latin typeface="Calibri"/>
              </a:rPr>
              <a:t>Auslöser</a:t>
            </a:r>
          </a:p>
        </p:txBody>
      </p:sp>
      <p:cxnSp>
        <p:nvCxnSpPr>
          <p:cNvPr id="15" name="Connector 14"/>
          <p:cNvCxnSpPr/>
          <p:nvPr/>
        </p:nvCxnSpPr>
        <p:spPr>
          <a:xfrm>
            <a:off x="9189719" y="2551176"/>
            <a:ext cx="0" cy="54864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79992" y="2916936"/>
            <a:ext cx="219456" cy="182880"/>
          </a:xfrm>
          <a:prstGeom prst="rect">
            <a:avLst/>
          </a:prstGeom>
          <a:noFill/>
        </p:spPr>
        <p:txBody>
          <a:bodyPr wrap="square" lIns="0" rIns="0" tIns="0" bIns="0" anchor="t">
            <a:spAutoFit/>
          </a:bodyPr>
          <a:lstStyle/>
          <a:p>
            <a:pPr algn="ctr" marL="0" indent="0">
              <a:buNone/>
            </a:pPr>
            <a:r>
              <a:rPr sz="1000">
                <a:solidFill>
                  <a:srgbClr val="C2650A"/>
                </a:solidFill>
                <a:latin typeface="Calibri"/>
              </a:rPr>
              <a:t>▼</a:t>
            </a:r>
          </a:p>
        </p:txBody>
      </p:sp>
      <p:sp>
        <p:nvSpPr>
          <p:cNvPr id="17" name="TextBox 16"/>
          <p:cNvSpPr txBox="1"/>
          <p:nvPr/>
        </p:nvSpPr>
        <p:spPr>
          <a:xfrm>
            <a:off x="9326880" y="2706624"/>
            <a:ext cx="2606040" cy="237744"/>
          </a:xfrm>
          <a:prstGeom prst="rect">
            <a:avLst/>
          </a:prstGeom>
          <a:noFill/>
        </p:spPr>
        <p:txBody>
          <a:bodyPr wrap="square" lIns="0" rIns="0" tIns="0" bIns="0" anchor="t">
            <a:spAutoFit/>
          </a:bodyPr>
          <a:lstStyle/>
          <a:p>
            <a:pPr algn="l" marL="0" indent="0">
              <a:buNone/>
            </a:pPr>
            <a:r>
              <a:rPr sz="1000">
                <a:solidFill>
                  <a:srgbClr val="C2650A"/>
                </a:solidFill>
                <a:latin typeface="Calibri"/>
              </a:rPr>
              <a:t>msg</a:t>
            </a:r>
          </a:p>
        </p:txBody>
      </p:sp>
      <p:sp>
        <p:nvSpPr>
          <p:cNvPr id="18" name="Rounded Rectangle 17"/>
          <p:cNvSpPr/>
          <p:nvPr/>
        </p:nvSpPr>
        <p:spPr>
          <a:xfrm>
            <a:off x="7406640" y="3099816"/>
            <a:ext cx="3566160" cy="777240"/>
          </a:xfrm>
          <a:prstGeom prst="roundRect">
            <a:avLst>
              <a:gd name="adj" fmla="val 30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3227832"/>
            <a:ext cx="301752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Function</a:t>
            </a:r>
          </a:p>
        </p:txBody>
      </p:sp>
      <p:sp>
        <p:nvSpPr>
          <p:cNvPr id="20" name="TextBox 19"/>
          <p:cNvSpPr txBox="1"/>
          <p:nvPr/>
        </p:nvSpPr>
        <p:spPr>
          <a:xfrm>
            <a:off x="7680960" y="3520440"/>
            <a:ext cx="3017520" cy="274320"/>
          </a:xfrm>
          <a:prstGeom prst="rect">
            <a:avLst/>
          </a:prstGeom>
          <a:noFill/>
        </p:spPr>
        <p:txBody>
          <a:bodyPr wrap="square" lIns="0" rIns="0" tIns="0" bIns="0" anchor="t">
            <a:spAutoFit/>
          </a:bodyPr>
          <a:lstStyle/>
          <a:p>
            <a:pPr algn="l" marL="0" indent="0">
              <a:buNone/>
            </a:pPr>
            <a:r>
              <a:rPr sz="1200">
                <a:solidFill>
                  <a:srgbClr val="6B6F73"/>
                </a:solidFill>
                <a:latin typeface="Calibri"/>
              </a:rPr>
              <a:t>eigene Logik</a:t>
            </a:r>
          </a:p>
        </p:txBody>
      </p:sp>
      <p:cxnSp>
        <p:nvCxnSpPr>
          <p:cNvPr id="21" name="Connector 20"/>
          <p:cNvCxnSpPr/>
          <p:nvPr/>
        </p:nvCxnSpPr>
        <p:spPr>
          <a:xfrm>
            <a:off x="9189719" y="3877056"/>
            <a:ext cx="0" cy="54864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79992" y="4242816"/>
            <a:ext cx="219456" cy="182880"/>
          </a:xfrm>
          <a:prstGeom prst="rect">
            <a:avLst/>
          </a:prstGeom>
          <a:noFill/>
        </p:spPr>
        <p:txBody>
          <a:bodyPr wrap="square" lIns="0" rIns="0" tIns="0" bIns="0" anchor="t">
            <a:spAutoFit/>
          </a:bodyPr>
          <a:lstStyle/>
          <a:p>
            <a:pPr algn="ctr" marL="0" indent="0">
              <a:buNone/>
            </a:pPr>
            <a:r>
              <a:rPr sz="1000">
                <a:solidFill>
                  <a:srgbClr val="C2650A"/>
                </a:solidFill>
                <a:latin typeface="Calibri"/>
              </a:rPr>
              <a:t>▼</a:t>
            </a:r>
          </a:p>
        </p:txBody>
      </p:sp>
      <p:sp>
        <p:nvSpPr>
          <p:cNvPr id="23" name="TextBox 22"/>
          <p:cNvSpPr txBox="1"/>
          <p:nvPr/>
        </p:nvSpPr>
        <p:spPr>
          <a:xfrm>
            <a:off x="9326880" y="4032504"/>
            <a:ext cx="2606040" cy="237744"/>
          </a:xfrm>
          <a:prstGeom prst="rect">
            <a:avLst/>
          </a:prstGeom>
          <a:noFill/>
        </p:spPr>
        <p:txBody>
          <a:bodyPr wrap="square" lIns="0" rIns="0" tIns="0" bIns="0" anchor="t">
            <a:spAutoFit/>
          </a:bodyPr>
          <a:lstStyle/>
          <a:p>
            <a:pPr algn="l" marL="0" indent="0">
              <a:buNone/>
            </a:pPr>
            <a:r>
              <a:rPr sz="1000">
                <a:solidFill>
                  <a:srgbClr val="C2650A"/>
                </a:solidFill>
                <a:latin typeface="Calibri"/>
              </a:rPr>
              <a:t>msg</a:t>
            </a:r>
          </a:p>
        </p:txBody>
      </p:sp>
      <p:sp>
        <p:nvSpPr>
          <p:cNvPr id="24" name="Rounded Rectangle 23"/>
          <p:cNvSpPr/>
          <p:nvPr/>
        </p:nvSpPr>
        <p:spPr>
          <a:xfrm>
            <a:off x="7406640" y="4425696"/>
            <a:ext cx="3566160" cy="777240"/>
          </a:xfrm>
          <a:prstGeom prst="roundRect">
            <a:avLst>
              <a:gd name="adj" fmla="val 30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4553712"/>
            <a:ext cx="301752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MQTT out</a:t>
            </a:r>
          </a:p>
        </p:txBody>
      </p:sp>
      <p:sp>
        <p:nvSpPr>
          <p:cNvPr id="26" name="TextBox 25"/>
          <p:cNvSpPr txBox="1"/>
          <p:nvPr/>
        </p:nvSpPr>
        <p:spPr>
          <a:xfrm>
            <a:off x="7680960" y="4846320"/>
            <a:ext cx="3017520" cy="274320"/>
          </a:xfrm>
          <a:prstGeom prst="rect">
            <a:avLst/>
          </a:prstGeom>
          <a:noFill/>
        </p:spPr>
        <p:txBody>
          <a:bodyPr wrap="square" lIns="0" rIns="0" tIns="0" bIns="0" anchor="t">
            <a:spAutoFit/>
          </a:bodyPr>
          <a:lstStyle/>
          <a:p>
            <a:pPr algn="l" marL="0" indent="0">
              <a:buNone/>
            </a:pPr>
            <a:r>
              <a:rPr sz="1200">
                <a:solidFill>
                  <a:srgbClr val="6B6F73"/>
                </a:solidFill>
                <a:latin typeface="Calibri"/>
              </a:rPr>
              <a:t>senden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Bewertung: Steuerung über Node-RED realisiert (9 Pkt)</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Unser Flow: zwei Richtungen</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10 / 14</a:t>
            </a:r>
          </a:p>
        </p:txBody>
      </p:sp>
      <p:sp>
        <p:nvSpPr>
          <p:cNvPr id="11" name="TextBox 10"/>
          <p:cNvSpPr txBox="1"/>
          <p:nvPr/>
        </p:nvSpPr>
        <p:spPr>
          <a:xfrm>
            <a:off x="685800" y="1591056"/>
            <a:ext cx="10789920" cy="320040"/>
          </a:xfrm>
          <a:prstGeom prst="rect">
            <a:avLst/>
          </a:prstGeom>
          <a:noFill/>
        </p:spPr>
        <p:txBody>
          <a:bodyPr wrap="square" lIns="0" rIns="0" tIns="0" bIns="0" anchor="t">
            <a:spAutoFit/>
          </a:bodyPr>
          <a:lstStyle/>
          <a:p>
            <a:pPr algn="l" marL="0" indent="0">
              <a:buNone/>
            </a:pPr>
            <a:r>
              <a:rPr sz="1500" b="1">
                <a:solidFill>
                  <a:srgbClr val="7A4308"/>
                </a:solidFill>
                <a:latin typeface="Calibri"/>
              </a:rPr>
              <a:t>① Pi → Handy: Messwerte veröffentlichen</a:t>
            </a:r>
          </a:p>
        </p:txBody>
      </p:sp>
      <p:sp>
        <p:nvSpPr>
          <p:cNvPr id="12" name="Rounded Rectangle 11"/>
          <p:cNvSpPr/>
          <p:nvPr/>
        </p:nvSpPr>
        <p:spPr>
          <a:xfrm>
            <a:off x="685800" y="2048256"/>
            <a:ext cx="2331720" cy="91440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139696"/>
            <a:ext cx="200253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Inject</a:t>
            </a:r>
          </a:p>
        </p:txBody>
      </p:sp>
      <p:sp>
        <p:nvSpPr>
          <p:cNvPr id="14" name="TextBox 13"/>
          <p:cNvSpPr txBox="1"/>
          <p:nvPr/>
        </p:nvSpPr>
        <p:spPr>
          <a:xfrm>
            <a:off x="850392" y="2432304"/>
            <a:ext cx="2002536" cy="45720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alle 5 s</a:t>
            </a:r>
          </a:p>
        </p:txBody>
      </p:sp>
      <p:cxnSp>
        <p:nvCxnSpPr>
          <p:cNvPr id="15" name="Connector 14"/>
          <p:cNvCxnSpPr/>
          <p:nvPr/>
        </p:nvCxnSpPr>
        <p:spPr>
          <a:xfrm>
            <a:off x="3054096" y="2505456"/>
            <a:ext cx="40233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54096" y="2212848"/>
            <a:ext cx="402335"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17" name="Rounded Rectangle 16"/>
          <p:cNvSpPr/>
          <p:nvPr/>
        </p:nvSpPr>
        <p:spPr>
          <a:xfrm>
            <a:off x="3493008" y="2048256"/>
            <a:ext cx="2331720" cy="91440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2139696"/>
            <a:ext cx="200253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SQLite</a:t>
            </a:r>
          </a:p>
        </p:txBody>
      </p:sp>
      <p:sp>
        <p:nvSpPr>
          <p:cNvPr id="19" name="TextBox 18"/>
          <p:cNvSpPr txBox="1"/>
          <p:nvPr/>
        </p:nvSpPr>
        <p:spPr>
          <a:xfrm>
            <a:off x="3657600" y="2432304"/>
            <a:ext cx="2002536" cy="45720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letzte Messung</a:t>
            </a:r>
          </a:p>
        </p:txBody>
      </p:sp>
      <p:cxnSp>
        <p:nvCxnSpPr>
          <p:cNvPr id="20" name="Connector 19"/>
          <p:cNvCxnSpPr/>
          <p:nvPr/>
        </p:nvCxnSpPr>
        <p:spPr>
          <a:xfrm>
            <a:off x="5861303" y="2505456"/>
            <a:ext cx="40233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861303" y="2212848"/>
            <a:ext cx="402335"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22" name="Rounded Rectangle 21"/>
          <p:cNvSpPr/>
          <p:nvPr/>
        </p:nvSpPr>
        <p:spPr>
          <a:xfrm>
            <a:off x="6300216" y="2048256"/>
            <a:ext cx="2331720" cy="91440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139696"/>
            <a:ext cx="200253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Function</a:t>
            </a:r>
          </a:p>
        </p:txBody>
      </p:sp>
      <p:sp>
        <p:nvSpPr>
          <p:cNvPr id="24" name="TextBox 23"/>
          <p:cNvSpPr txBox="1"/>
          <p:nvPr/>
        </p:nvSpPr>
        <p:spPr>
          <a:xfrm>
            <a:off x="6464807" y="2432304"/>
            <a:ext cx="2002536" cy="45720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Zeile → 8 Topics</a:t>
            </a:r>
          </a:p>
        </p:txBody>
      </p:sp>
      <p:cxnSp>
        <p:nvCxnSpPr>
          <p:cNvPr id="25" name="Connector 24"/>
          <p:cNvCxnSpPr/>
          <p:nvPr/>
        </p:nvCxnSpPr>
        <p:spPr>
          <a:xfrm>
            <a:off x="8668511" y="2505456"/>
            <a:ext cx="402337"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668511" y="2212848"/>
            <a:ext cx="402336"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27" name="Rounded Rectangle 26"/>
          <p:cNvSpPr/>
          <p:nvPr/>
        </p:nvSpPr>
        <p:spPr>
          <a:xfrm>
            <a:off x="9107424" y="2048256"/>
            <a:ext cx="2331720" cy="91440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72015" y="2139696"/>
            <a:ext cx="200253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MQTT out</a:t>
            </a:r>
          </a:p>
        </p:txBody>
      </p:sp>
      <p:sp>
        <p:nvSpPr>
          <p:cNvPr id="29" name="TextBox 28"/>
          <p:cNvSpPr txBox="1"/>
          <p:nvPr/>
        </p:nvSpPr>
        <p:spPr>
          <a:xfrm>
            <a:off x="9272015" y="2432304"/>
            <a:ext cx="2002536" cy="45720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retained</a:t>
            </a:r>
          </a:p>
        </p:txBody>
      </p:sp>
      <p:sp>
        <p:nvSpPr>
          <p:cNvPr id="30" name="TextBox 29"/>
          <p:cNvSpPr txBox="1"/>
          <p:nvPr/>
        </p:nvSpPr>
        <p:spPr>
          <a:xfrm>
            <a:off x="685800" y="3374136"/>
            <a:ext cx="10789920" cy="320040"/>
          </a:xfrm>
          <a:prstGeom prst="rect">
            <a:avLst/>
          </a:prstGeom>
          <a:noFill/>
        </p:spPr>
        <p:txBody>
          <a:bodyPr wrap="square" lIns="0" rIns="0" tIns="0" bIns="0" anchor="t">
            <a:spAutoFit/>
          </a:bodyPr>
          <a:lstStyle/>
          <a:p>
            <a:pPr algn="l" marL="0" indent="0">
              <a:buNone/>
            </a:pPr>
            <a:r>
              <a:rPr sz="1500" b="1">
                <a:solidFill>
                  <a:srgbClr val="7A4308"/>
                </a:solidFill>
                <a:latin typeface="Calibri"/>
              </a:rPr>
              <a:t>② Handy → Pi: Befehle empfangen</a:t>
            </a:r>
          </a:p>
        </p:txBody>
      </p:sp>
      <p:sp>
        <p:nvSpPr>
          <p:cNvPr id="31" name="Rounded Rectangle 30"/>
          <p:cNvSpPr/>
          <p:nvPr/>
        </p:nvSpPr>
        <p:spPr>
          <a:xfrm>
            <a:off x="685800" y="3968496"/>
            <a:ext cx="2331720" cy="91440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 y="4059935"/>
            <a:ext cx="200253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MQTT in</a:t>
            </a:r>
          </a:p>
        </p:txBody>
      </p:sp>
      <p:sp>
        <p:nvSpPr>
          <p:cNvPr id="33" name="TextBox 32"/>
          <p:cNvSpPr txBox="1"/>
          <p:nvPr/>
        </p:nvSpPr>
        <p:spPr>
          <a:xfrm>
            <a:off x="850392" y="4352544"/>
            <a:ext cx="2002536" cy="457200"/>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control/#</a:t>
            </a:r>
          </a:p>
        </p:txBody>
      </p:sp>
      <p:cxnSp>
        <p:nvCxnSpPr>
          <p:cNvPr id="34" name="Connector 33"/>
          <p:cNvCxnSpPr/>
          <p:nvPr/>
        </p:nvCxnSpPr>
        <p:spPr>
          <a:xfrm>
            <a:off x="3054096" y="4425696"/>
            <a:ext cx="40233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54096" y="4133087"/>
            <a:ext cx="402335"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36" name="Rounded Rectangle 35"/>
          <p:cNvSpPr/>
          <p:nvPr/>
        </p:nvSpPr>
        <p:spPr>
          <a:xfrm>
            <a:off x="3493008" y="3694176"/>
            <a:ext cx="2331720" cy="1463040"/>
          </a:xfrm>
          <a:prstGeom prst="roundRect">
            <a:avLst>
              <a:gd name="adj" fmla="val 12000"/>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0" y="3785615"/>
            <a:ext cx="2002536" cy="274320"/>
          </a:xfrm>
          <a:prstGeom prst="rect">
            <a:avLst/>
          </a:prstGeom>
          <a:noFill/>
        </p:spPr>
        <p:txBody>
          <a:bodyPr wrap="square" lIns="0" rIns="0" tIns="0" bIns="0" anchor="t">
            <a:spAutoFit/>
          </a:bodyPr>
          <a:lstStyle/>
          <a:p>
            <a:pPr algn="l" marL="0" indent="0">
              <a:buNone/>
            </a:pPr>
            <a:r>
              <a:rPr sz="1300" b="1">
                <a:solidFill>
                  <a:srgbClr val="FFFFFF"/>
                </a:solidFill>
                <a:latin typeface="Calibri"/>
              </a:rPr>
              <a:t>Function</a:t>
            </a:r>
          </a:p>
        </p:txBody>
      </p:sp>
      <p:sp>
        <p:nvSpPr>
          <p:cNvPr id="38" name="TextBox 37"/>
          <p:cNvSpPr txBox="1"/>
          <p:nvPr/>
        </p:nvSpPr>
        <p:spPr>
          <a:xfrm>
            <a:off x="3657600" y="4078224"/>
            <a:ext cx="2002536" cy="1005840"/>
          </a:xfrm>
          <a:prstGeom prst="rect">
            <a:avLst/>
          </a:prstGeom>
          <a:noFill/>
        </p:spPr>
        <p:txBody>
          <a:bodyPr wrap="square" lIns="0" rIns="0" tIns="0" bIns="0" anchor="t">
            <a:spAutoFit/>
          </a:bodyPr>
          <a:lstStyle/>
          <a:p>
            <a:pPr algn="l" marL="0" indent="0">
              <a:lnSpc>
                <a:spcPct val="115000"/>
              </a:lnSpc>
              <a:buNone/>
            </a:pPr>
            <a:r>
              <a:rPr sz="1050">
                <a:solidFill>
                  <a:srgbClr val="FDF1E3"/>
                </a:solidFill>
                <a:latin typeface="Calibri"/>
              </a:rPr>
              <a:t>validieren</a:t>
            </a:r>
          </a:p>
          <a:p>
            <a:pPr algn="l" marL="0" indent="0">
              <a:lnSpc>
                <a:spcPct val="115000"/>
              </a:lnSpc>
              <a:buNone/>
            </a:pPr>
            <a:r>
              <a:rPr sz="1050">
                <a:solidFill>
                  <a:srgbClr val="FDF1E3"/>
                </a:solidFill>
                <a:latin typeface="Calibri"/>
              </a:rPr>
              <a:t>(prüfen + begrenzen)</a:t>
            </a:r>
          </a:p>
        </p:txBody>
      </p:sp>
      <p:sp>
        <p:nvSpPr>
          <p:cNvPr id="39" name="Rounded Rectangle 38"/>
          <p:cNvSpPr/>
          <p:nvPr/>
        </p:nvSpPr>
        <p:spPr>
          <a:xfrm>
            <a:off x="6300216" y="3602736"/>
            <a:ext cx="5138928" cy="475488"/>
          </a:xfrm>
          <a:prstGeom prst="roundRect">
            <a:avLst>
              <a:gd name="adj" fmla="val 2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83096" y="3712464"/>
            <a:ext cx="1097280"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Debug</a:t>
            </a:r>
          </a:p>
        </p:txBody>
      </p:sp>
      <p:sp>
        <p:nvSpPr>
          <p:cNvPr id="41" name="TextBox 40"/>
          <p:cNvSpPr txBox="1"/>
          <p:nvPr/>
        </p:nvSpPr>
        <p:spPr>
          <a:xfrm>
            <a:off x="7580375" y="3712464"/>
            <a:ext cx="365760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Anzeige im Editor</a:t>
            </a:r>
          </a:p>
        </p:txBody>
      </p:sp>
      <p:cxnSp>
        <p:nvCxnSpPr>
          <p:cNvPr id="42" name="Connector 41"/>
          <p:cNvCxnSpPr/>
          <p:nvPr/>
        </p:nvCxnSpPr>
        <p:spPr>
          <a:xfrm flipV="1">
            <a:off x="5861303" y="3840480"/>
            <a:ext cx="420625" cy="585216"/>
          </a:xfrm>
          <a:prstGeom prst="line">
            <a:avLst/>
          </a:prstGeom>
          <a:ln w="19050">
            <a:solidFill>
              <a:srgbClr val="C2650A"/>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300216" y="4169664"/>
            <a:ext cx="5138928" cy="475488"/>
          </a:xfrm>
          <a:prstGeom prst="roundRect">
            <a:avLst>
              <a:gd name="adj" fmla="val 2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83096" y="4279392"/>
            <a:ext cx="1097280"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Datei</a:t>
            </a:r>
          </a:p>
        </p:txBody>
      </p:sp>
      <p:sp>
        <p:nvSpPr>
          <p:cNvPr id="45" name="TextBox 44"/>
          <p:cNvSpPr txBox="1"/>
          <p:nvPr/>
        </p:nvSpPr>
        <p:spPr>
          <a:xfrm>
            <a:off x="7580375" y="4279392"/>
            <a:ext cx="365760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control_log.ndjson</a:t>
            </a:r>
          </a:p>
        </p:txBody>
      </p:sp>
      <p:cxnSp>
        <p:nvCxnSpPr>
          <p:cNvPr id="46" name="Connector 45"/>
          <p:cNvCxnSpPr/>
          <p:nvPr/>
        </p:nvCxnSpPr>
        <p:spPr>
          <a:xfrm flipV="1">
            <a:off x="5861303" y="4407408"/>
            <a:ext cx="420625" cy="18288"/>
          </a:xfrm>
          <a:prstGeom prst="line">
            <a:avLst/>
          </a:prstGeom>
          <a:ln w="19050">
            <a:solidFill>
              <a:srgbClr val="C2650A"/>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300216" y="4736592"/>
            <a:ext cx="5138928" cy="475488"/>
          </a:xfrm>
          <a:prstGeom prst="roundRect">
            <a:avLst>
              <a:gd name="adj" fmla="val 2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3096" y="4846320"/>
            <a:ext cx="1097280"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Exec</a:t>
            </a:r>
          </a:p>
        </p:txBody>
      </p:sp>
      <p:sp>
        <p:nvSpPr>
          <p:cNvPr id="49" name="TextBox 48"/>
          <p:cNvSpPr txBox="1"/>
          <p:nvPr/>
        </p:nvSpPr>
        <p:spPr>
          <a:xfrm>
            <a:off x="7580375" y="4846320"/>
            <a:ext cx="3657600" cy="274320"/>
          </a:xfrm>
          <a:prstGeom prst="rect">
            <a:avLst/>
          </a:prstGeom>
          <a:noFill/>
        </p:spPr>
        <p:txBody>
          <a:bodyPr wrap="square" lIns="0" rIns="0" tIns="0" bIns="0" anchor="t">
            <a:spAutoFit/>
          </a:bodyPr>
          <a:lstStyle/>
          <a:p>
            <a:pPr algn="l" marL="0" indent="0">
              <a:buNone/>
            </a:pPr>
            <a:r>
              <a:rPr sz="1300">
                <a:solidFill>
                  <a:srgbClr val="1C1F22"/>
                </a:solidFill>
                <a:latin typeface="Calibri"/>
              </a:rPr>
              <a:t>set_control.py</a:t>
            </a:r>
          </a:p>
        </p:txBody>
      </p:sp>
      <p:cxnSp>
        <p:nvCxnSpPr>
          <p:cNvPr id="50" name="Connector 49"/>
          <p:cNvCxnSpPr/>
          <p:nvPr/>
        </p:nvCxnSpPr>
        <p:spPr>
          <a:xfrm>
            <a:off x="5861303" y="4425696"/>
            <a:ext cx="420625" cy="548640"/>
          </a:xfrm>
          <a:prstGeom prst="line">
            <a:avLst/>
          </a:prstGeom>
          <a:ln w="19050">
            <a:solidFill>
              <a:srgbClr val="C2650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85800" y="5522976"/>
            <a:ext cx="10789920" cy="365760"/>
          </a:xfrm>
          <a:prstGeom prst="rect">
            <a:avLst/>
          </a:prstGeom>
          <a:noFill/>
        </p:spPr>
        <p:txBody>
          <a:bodyPr wrap="square" lIns="0" rIns="0" tIns="0" bIns="0" anchor="t">
            <a:spAutoFit/>
          </a:bodyPr>
          <a:lstStyle/>
          <a:p>
            <a:pPr algn="l" marL="0" indent="0">
              <a:buNone/>
            </a:pPr>
            <a:r>
              <a:rPr sz="1200" i="1">
                <a:solidFill>
                  <a:srgbClr val="6B6F73"/>
                </a:solidFill>
                <a:latin typeface="Calibri"/>
              </a:rPr>
              <a:t>Tipp: Hier ggf. einen Screenshot des echten Flows aus dem Node-RED-Editor einfügen.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Richtung ①  Pi → Handy</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Messwerte veröffentlichen</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11 / 14</a:t>
            </a:r>
          </a:p>
        </p:txBody>
      </p:sp>
      <p:sp>
        <p:nvSpPr>
          <p:cNvPr id="11" name="Oval 10"/>
          <p:cNvSpPr/>
          <p:nvPr/>
        </p:nvSpPr>
        <p:spPr>
          <a:xfrm>
            <a:off x="685800" y="1591056"/>
            <a:ext cx="420624" cy="420624"/>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64208"/>
            <a:ext cx="420624" cy="274320"/>
          </a:xfrm>
          <a:prstGeom prst="rect">
            <a:avLst/>
          </a:prstGeom>
          <a:noFill/>
        </p:spPr>
        <p:txBody>
          <a:bodyPr wrap="square" lIns="0" rIns="0" tIns="0" bIns="0" anchor="t">
            <a:spAutoFit/>
          </a:bodyPr>
          <a:lstStyle/>
          <a:p>
            <a:pPr algn="ctr" marL="0" indent="0">
              <a:buNone/>
            </a:pPr>
            <a:r>
              <a:rPr sz="1400" b="1">
                <a:solidFill>
                  <a:srgbClr val="FFFFFF"/>
                </a:solidFill>
                <a:latin typeface="Calibri"/>
              </a:rPr>
              <a:t>1</a:t>
            </a:r>
          </a:p>
        </p:txBody>
      </p:sp>
      <p:sp>
        <p:nvSpPr>
          <p:cNvPr id="13" name="TextBox 12"/>
          <p:cNvSpPr txBox="1"/>
          <p:nvPr/>
        </p:nvSpPr>
        <p:spPr>
          <a:xfrm>
            <a:off x="1280160" y="1609344"/>
            <a:ext cx="502920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Inject-Node</a:t>
            </a:r>
          </a:p>
        </p:txBody>
      </p:sp>
      <p:sp>
        <p:nvSpPr>
          <p:cNvPr id="14" name="TextBox 13"/>
          <p:cNvSpPr txBox="1"/>
          <p:nvPr/>
        </p:nvSpPr>
        <p:spPr>
          <a:xfrm>
            <a:off x="1280160" y="1938528"/>
            <a:ext cx="5120640" cy="457200"/>
          </a:xfrm>
          <a:prstGeom prst="rect">
            <a:avLst/>
          </a:prstGeom>
          <a:noFill/>
        </p:spPr>
        <p:txBody>
          <a:bodyPr wrap="square" lIns="0" rIns="0" tIns="0" bIns="0" anchor="t">
            <a:spAutoFit/>
          </a:bodyPr>
          <a:lstStyle/>
          <a:p>
            <a:pPr algn="l" marL="0" indent="0">
              <a:buNone/>
            </a:pPr>
            <a:r>
              <a:rPr sz="1350">
                <a:solidFill>
                  <a:srgbClr val="1C1F22"/>
                </a:solidFill>
                <a:latin typeface="Calibri"/>
              </a:rPr>
              <a:t>löst </a:t>
            </a:r>
            <a:r>
              <a:rPr b="1" sz="1350">
                <a:solidFill>
                  <a:srgbClr val="1C1F22"/>
                </a:solidFill>
                <a:latin typeface="Calibri"/>
              </a:rPr>
              <a:t>alle 5 Sekunden</a:t>
            </a:r>
            <a:r>
              <a:rPr sz="1350">
                <a:solidFill>
                  <a:srgbClr val="1C1F22"/>
                </a:solidFill>
                <a:latin typeface="Calibri"/>
              </a:rPr>
              <a:t> aus</a:t>
            </a:r>
          </a:p>
        </p:txBody>
      </p:sp>
      <p:sp>
        <p:nvSpPr>
          <p:cNvPr id="15" name="Oval 14"/>
          <p:cNvSpPr/>
          <p:nvPr/>
        </p:nvSpPr>
        <p:spPr>
          <a:xfrm>
            <a:off x="685800" y="2459736"/>
            <a:ext cx="420624" cy="420624"/>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32888"/>
            <a:ext cx="420624" cy="274320"/>
          </a:xfrm>
          <a:prstGeom prst="rect">
            <a:avLst/>
          </a:prstGeom>
          <a:noFill/>
        </p:spPr>
        <p:txBody>
          <a:bodyPr wrap="square" lIns="0" rIns="0" tIns="0" bIns="0" anchor="t">
            <a:spAutoFit/>
          </a:bodyPr>
          <a:lstStyle/>
          <a:p>
            <a:pPr algn="ctr" marL="0" indent="0">
              <a:buNone/>
            </a:pPr>
            <a:r>
              <a:rPr sz="1400" b="1">
                <a:solidFill>
                  <a:srgbClr val="FFFFFF"/>
                </a:solidFill>
                <a:latin typeface="Calibri"/>
              </a:rPr>
              <a:t>2</a:t>
            </a:r>
          </a:p>
        </p:txBody>
      </p:sp>
      <p:sp>
        <p:nvSpPr>
          <p:cNvPr id="17" name="TextBox 16"/>
          <p:cNvSpPr txBox="1"/>
          <p:nvPr/>
        </p:nvSpPr>
        <p:spPr>
          <a:xfrm>
            <a:off x="1280160" y="2478024"/>
            <a:ext cx="502920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SQLite-Node</a:t>
            </a:r>
          </a:p>
        </p:txBody>
      </p:sp>
      <p:sp>
        <p:nvSpPr>
          <p:cNvPr id="18" name="TextBox 17"/>
          <p:cNvSpPr txBox="1"/>
          <p:nvPr/>
        </p:nvSpPr>
        <p:spPr>
          <a:xfrm>
            <a:off x="1280160" y="2807208"/>
            <a:ext cx="5120640" cy="457200"/>
          </a:xfrm>
          <a:prstGeom prst="rect">
            <a:avLst/>
          </a:prstGeom>
          <a:noFill/>
        </p:spPr>
        <p:txBody>
          <a:bodyPr wrap="square" lIns="0" rIns="0" tIns="0" bIns="0" anchor="t">
            <a:spAutoFit/>
          </a:bodyPr>
          <a:lstStyle/>
          <a:p>
            <a:pPr algn="l" marL="0" indent="0">
              <a:buNone/>
            </a:pPr>
            <a:r>
              <a:rPr sz="1350">
                <a:solidFill>
                  <a:srgbClr val="1C1F22"/>
                </a:solidFill>
                <a:latin typeface="Calibri"/>
              </a:rPr>
              <a:t>holt die </a:t>
            </a:r>
            <a:r>
              <a:rPr b="1" sz="1350">
                <a:solidFill>
                  <a:srgbClr val="1C1F22"/>
                </a:solidFill>
                <a:latin typeface="Calibri"/>
              </a:rPr>
              <a:t>neueste Zeile</a:t>
            </a:r>
            <a:r>
              <a:rPr sz="1350">
                <a:solidFill>
                  <a:srgbClr val="1C1F22"/>
                </a:solidFill>
                <a:latin typeface="Calibri"/>
              </a:rPr>
              <a:t> aus </a:t>
            </a:r>
            <a:r>
              <a:rPr sz="1350">
                <a:solidFill>
                  <a:srgbClr val="124A5E"/>
                </a:solidFill>
                <a:latin typeface="Consolas"/>
              </a:rPr>
              <a:t>challenge_i.db</a:t>
            </a:r>
          </a:p>
        </p:txBody>
      </p:sp>
      <p:sp>
        <p:nvSpPr>
          <p:cNvPr id="19" name="Oval 18"/>
          <p:cNvSpPr/>
          <p:nvPr/>
        </p:nvSpPr>
        <p:spPr>
          <a:xfrm>
            <a:off x="685800" y="3328416"/>
            <a:ext cx="420624" cy="420624"/>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401568"/>
            <a:ext cx="420624" cy="274320"/>
          </a:xfrm>
          <a:prstGeom prst="rect">
            <a:avLst/>
          </a:prstGeom>
          <a:noFill/>
        </p:spPr>
        <p:txBody>
          <a:bodyPr wrap="square" lIns="0" rIns="0" tIns="0" bIns="0" anchor="t">
            <a:spAutoFit/>
          </a:bodyPr>
          <a:lstStyle/>
          <a:p>
            <a:pPr algn="ctr" marL="0" indent="0">
              <a:buNone/>
            </a:pPr>
            <a:r>
              <a:rPr sz="1400" b="1">
                <a:solidFill>
                  <a:srgbClr val="FFFFFF"/>
                </a:solidFill>
                <a:latin typeface="Calibri"/>
              </a:rPr>
              <a:t>3</a:t>
            </a:r>
          </a:p>
        </p:txBody>
      </p:sp>
      <p:sp>
        <p:nvSpPr>
          <p:cNvPr id="21" name="TextBox 20"/>
          <p:cNvSpPr txBox="1"/>
          <p:nvPr/>
        </p:nvSpPr>
        <p:spPr>
          <a:xfrm>
            <a:off x="1280160" y="3346704"/>
            <a:ext cx="502920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Function-Node</a:t>
            </a:r>
          </a:p>
        </p:txBody>
      </p:sp>
      <p:sp>
        <p:nvSpPr>
          <p:cNvPr id="22" name="TextBox 21"/>
          <p:cNvSpPr txBox="1"/>
          <p:nvPr/>
        </p:nvSpPr>
        <p:spPr>
          <a:xfrm>
            <a:off x="1280160" y="3675888"/>
            <a:ext cx="5120640" cy="457200"/>
          </a:xfrm>
          <a:prstGeom prst="rect">
            <a:avLst/>
          </a:prstGeom>
          <a:noFill/>
        </p:spPr>
        <p:txBody>
          <a:bodyPr wrap="square" lIns="0" rIns="0" tIns="0" bIns="0" anchor="t">
            <a:spAutoFit/>
          </a:bodyPr>
          <a:lstStyle/>
          <a:p>
            <a:pPr algn="l" marL="0" indent="0">
              <a:buNone/>
            </a:pPr>
            <a:r>
              <a:rPr sz="1350">
                <a:solidFill>
                  <a:srgbClr val="1C1F22"/>
                </a:solidFill>
                <a:latin typeface="Calibri"/>
              </a:rPr>
              <a:t>verteilt sie auf </a:t>
            </a:r>
            <a:r>
              <a:rPr b="1" sz="1350">
                <a:solidFill>
                  <a:srgbClr val="1C1F22"/>
                </a:solidFill>
                <a:latin typeface="Calibri"/>
              </a:rPr>
              <a:t>8 Topics</a:t>
            </a:r>
            <a:r>
              <a:rPr sz="1350">
                <a:solidFill>
                  <a:srgbClr val="1C1F22"/>
                </a:solidFill>
                <a:latin typeface="Calibri"/>
              </a:rPr>
              <a:t> und berechnet die </a:t>
            </a:r>
            <a:r>
              <a:rPr b="1" sz="1350">
                <a:solidFill>
                  <a:srgbClr val="1C1F22"/>
                </a:solidFill>
                <a:latin typeface="Calibri"/>
              </a:rPr>
              <a:t>Ø-Temperatur</a:t>
            </a:r>
          </a:p>
        </p:txBody>
      </p:sp>
      <p:sp>
        <p:nvSpPr>
          <p:cNvPr id="23" name="Oval 22"/>
          <p:cNvSpPr/>
          <p:nvPr/>
        </p:nvSpPr>
        <p:spPr>
          <a:xfrm>
            <a:off x="685800" y="4197096"/>
            <a:ext cx="420624" cy="420624"/>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270248"/>
            <a:ext cx="420624" cy="274320"/>
          </a:xfrm>
          <a:prstGeom prst="rect">
            <a:avLst/>
          </a:prstGeom>
          <a:noFill/>
        </p:spPr>
        <p:txBody>
          <a:bodyPr wrap="square" lIns="0" rIns="0" tIns="0" bIns="0" anchor="t">
            <a:spAutoFit/>
          </a:bodyPr>
          <a:lstStyle/>
          <a:p>
            <a:pPr algn="ctr" marL="0" indent="0">
              <a:buNone/>
            </a:pPr>
            <a:r>
              <a:rPr sz="1400" b="1">
                <a:solidFill>
                  <a:srgbClr val="FFFFFF"/>
                </a:solidFill>
                <a:latin typeface="Calibri"/>
              </a:rPr>
              <a:t>4</a:t>
            </a:r>
          </a:p>
        </p:txBody>
      </p:sp>
      <p:sp>
        <p:nvSpPr>
          <p:cNvPr id="25" name="TextBox 24"/>
          <p:cNvSpPr txBox="1"/>
          <p:nvPr/>
        </p:nvSpPr>
        <p:spPr>
          <a:xfrm>
            <a:off x="1280160" y="4215383"/>
            <a:ext cx="5029200" cy="274320"/>
          </a:xfrm>
          <a:prstGeom prst="rect">
            <a:avLst/>
          </a:prstGeom>
          <a:noFill/>
        </p:spPr>
        <p:txBody>
          <a:bodyPr wrap="square" lIns="0" rIns="0" tIns="0" bIns="0" anchor="t">
            <a:spAutoFit/>
          </a:bodyPr>
          <a:lstStyle/>
          <a:p>
            <a:pPr algn="l" marL="0" indent="0">
              <a:buNone/>
            </a:pPr>
            <a:r>
              <a:rPr sz="1500" b="1">
                <a:solidFill>
                  <a:srgbClr val="7A4308"/>
                </a:solidFill>
                <a:latin typeface="Calibri"/>
              </a:rPr>
              <a:t>MQTT out</a:t>
            </a:r>
          </a:p>
        </p:txBody>
      </p:sp>
      <p:sp>
        <p:nvSpPr>
          <p:cNvPr id="26" name="TextBox 25"/>
          <p:cNvSpPr txBox="1"/>
          <p:nvPr/>
        </p:nvSpPr>
        <p:spPr>
          <a:xfrm>
            <a:off x="1280160" y="4544568"/>
            <a:ext cx="5120640" cy="457200"/>
          </a:xfrm>
          <a:prstGeom prst="rect">
            <a:avLst/>
          </a:prstGeom>
          <a:noFill/>
        </p:spPr>
        <p:txBody>
          <a:bodyPr wrap="square" lIns="0" rIns="0" tIns="0" bIns="0" anchor="t">
            <a:spAutoFit/>
          </a:bodyPr>
          <a:lstStyle/>
          <a:p>
            <a:pPr algn="l" marL="0" indent="0">
              <a:buNone/>
            </a:pPr>
            <a:r>
              <a:rPr sz="1350">
                <a:solidFill>
                  <a:srgbClr val="1C1F22"/>
                </a:solidFill>
                <a:latin typeface="Calibri"/>
              </a:rPr>
              <a:t>veröffentlicht alles </a:t>
            </a:r>
            <a:r>
              <a:rPr b="1" sz="1350">
                <a:solidFill>
                  <a:srgbClr val="1C1F22"/>
                </a:solidFill>
                <a:latin typeface="Calibri"/>
              </a:rPr>
              <a:t>retained</a:t>
            </a:r>
            <a:r>
              <a:rPr sz="1350">
                <a:solidFill>
                  <a:srgbClr val="1C1F22"/>
                </a:solidFill>
                <a:latin typeface="Calibri"/>
              </a:rPr>
              <a:t> am Mosquitto-Broker</a:t>
            </a:r>
          </a:p>
        </p:txBody>
      </p:sp>
      <p:sp>
        <p:nvSpPr>
          <p:cNvPr id="27" name="Rounded Rectangle 26"/>
          <p:cNvSpPr/>
          <p:nvPr/>
        </p:nvSpPr>
        <p:spPr>
          <a:xfrm>
            <a:off x="685800" y="5202936"/>
            <a:ext cx="5760720" cy="548640"/>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12664"/>
            <a:ext cx="5303520" cy="329184"/>
          </a:xfrm>
          <a:prstGeom prst="rect">
            <a:avLst/>
          </a:prstGeom>
          <a:noFill/>
        </p:spPr>
        <p:txBody>
          <a:bodyPr wrap="none" lIns="0" rIns="0" tIns="0" bIns="0">
            <a:spAutoFit/>
          </a:bodyPr>
          <a:lstStyle/>
          <a:p>
            <a:pPr marL="0" indent="0">
              <a:buNone/>
            </a:pPr>
            <a:r>
              <a:rPr sz="1250">
                <a:solidFill>
                  <a:srgbClr val="1C1F22"/>
                </a:solidFill>
                <a:latin typeface="Consolas"/>
              </a:rPr>
              <a:t>SELECT * FROM readings ORDER BY id DESC LIMIT 1;</a:t>
            </a:r>
          </a:p>
        </p:txBody>
      </p:sp>
      <p:sp>
        <p:nvSpPr>
          <p:cNvPr id="29" name="Rounded Rectangle 28"/>
          <p:cNvSpPr/>
          <p:nvPr/>
        </p:nvSpPr>
        <p:spPr>
          <a:xfrm>
            <a:off x="6812280" y="1591056"/>
            <a:ext cx="4690872" cy="4160520"/>
          </a:xfrm>
          <a:prstGeom prst="roundRect">
            <a:avLst>
              <a:gd name="adj" fmla="val 5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0" y="1755648"/>
            <a:ext cx="4297680" cy="320040"/>
          </a:xfrm>
          <a:prstGeom prst="rect">
            <a:avLst/>
          </a:prstGeom>
          <a:noFill/>
        </p:spPr>
        <p:txBody>
          <a:bodyPr wrap="square" lIns="0" rIns="0" tIns="0" bIns="0" anchor="t">
            <a:spAutoFit/>
          </a:bodyPr>
          <a:lstStyle/>
          <a:p>
            <a:pPr algn="l" marL="0" indent="0">
              <a:buNone/>
            </a:pPr>
            <a:r>
              <a:rPr sz="1400" b="1">
                <a:solidFill>
                  <a:srgbClr val="7A4308"/>
                </a:solidFill>
                <a:latin typeface="Calibri"/>
              </a:rPr>
              <a:t>team13-1/icetruck/ …</a:t>
            </a:r>
          </a:p>
        </p:txBody>
      </p:sp>
      <p:sp>
        <p:nvSpPr>
          <p:cNvPr id="31" name="TextBox 30"/>
          <p:cNvSpPr txBox="1"/>
          <p:nvPr/>
        </p:nvSpPr>
        <p:spPr>
          <a:xfrm>
            <a:off x="7040880" y="2185416"/>
            <a:ext cx="4297680" cy="3474720"/>
          </a:xfrm>
          <a:prstGeom prst="rect">
            <a:avLst/>
          </a:prstGeom>
          <a:noFill/>
        </p:spPr>
        <p:txBody>
          <a:bodyPr wrap="square" lIns="0" rIns="0" tIns="0" bIns="0">
            <a:spAutoFit/>
          </a:bodyPr>
          <a:lstStyle/>
          <a:p>
            <a:pPr marL="201168" indent="-201168">
              <a:lnSpc>
                <a:spcPct val="112000"/>
              </a:lnSpc>
              <a:spcAft>
                <a:spcPts val="400"/>
              </a:spcAft>
              <a:buClr>
                <a:srgbClr val="C2650A"/>
              </a:buClr>
              <a:buFont typeface="Arial"/>
              <a:buChar char="●"/>
            </a:pPr>
            <a:r>
              <a:rPr sz="1300">
                <a:solidFill>
                  <a:srgbClr val="124A5E"/>
                </a:solidFill>
                <a:latin typeface="Consolas"/>
              </a:rPr>
              <a:t>sensors/sensor_board_raw</a:t>
            </a:r>
          </a:p>
          <a:p>
            <a:pPr marL="201168" indent="-201168">
              <a:lnSpc>
                <a:spcPct val="112000"/>
              </a:lnSpc>
              <a:spcAft>
                <a:spcPts val="400"/>
              </a:spcAft>
              <a:buClr>
                <a:srgbClr val="C2650A"/>
              </a:buClr>
              <a:buFont typeface="Arial"/>
              <a:buChar char="●"/>
            </a:pPr>
            <a:r>
              <a:rPr sz="1300">
                <a:solidFill>
                  <a:srgbClr val="124A5E"/>
                </a:solidFill>
                <a:latin typeface="Consolas"/>
              </a:rPr>
              <a:t>sensors/sensor_board_temp_c</a:t>
            </a:r>
          </a:p>
          <a:p>
            <a:pPr marL="201168" indent="-201168">
              <a:lnSpc>
                <a:spcPct val="112000"/>
              </a:lnSpc>
              <a:spcAft>
                <a:spcPts val="400"/>
              </a:spcAft>
              <a:buClr>
                <a:srgbClr val="C2650A"/>
              </a:buClr>
              <a:buFont typeface="Arial"/>
              <a:buChar char="●"/>
            </a:pPr>
            <a:r>
              <a:rPr sz="1300">
                <a:solidFill>
                  <a:srgbClr val="124A5E"/>
                </a:solidFill>
                <a:latin typeface="Consolas"/>
              </a:rPr>
              <a:t>sensors/actor_board_raw</a:t>
            </a:r>
          </a:p>
          <a:p>
            <a:pPr marL="201168" indent="-201168">
              <a:lnSpc>
                <a:spcPct val="112000"/>
              </a:lnSpc>
              <a:spcAft>
                <a:spcPts val="400"/>
              </a:spcAft>
              <a:buClr>
                <a:srgbClr val="C2650A"/>
              </a:buClr>
              <a:buFont typeface="Arial"/>
              <a:buChar char="●"/>
            </a:pPr>
            <a:r>
              <a:rPr sz="1300">
                <a:solidFill>
                  <a:srgbClr val="124A5E"/>
                </a:solidFill>
                <a:latin typeface="Consolas"/>
              </a:rPr>
              <a:t>sensors/actor_board_temp_c</a:t>
            </a:r>
          </a:p>
          <a:p>
            <a:pPr marL="201168" indent="-201168">
              <a:lnSpc>
                <a:spcPct val="112000"/>
              </a:lnSpc>
              <a:spcAft>
                <a:spcPts val="400"/>
              </a:spcAft>
              <a:buClr>
                <a:srgbClr val="C2650A"/>
              </a:buClr>
              <a:buFont typeface="Arial"/>
              <a:buChar char="●"/>
            </a:pPr>
            <a:r>
              <a:rPr sz="1300">
                <a:solidFill>
                  <a:srgbClr val="124A5E"/>
                </a:solidFill>
                <a:latin typeface="Consolas"/>
              </a:rPr>
              <a:t>sensors/avg_temp_c</a:t>
            </a:r>
          </a:p>
          <a:p>
            <a:pPr marL="201168" indent="-201168">
              <a:lnSpc>
                <a:spcPct val="112000"/>
              </a:lnSpc>
              <a:spcAft>
                <a:spcPts val="400"/>
              </a:spcAft>
              <a:buClr>
                <a:srgbClr val="C2650A"/>
              </a:buClr>
              <a:buFont typeface="Arial"/>
              <a:buChar char="●"/>
            </a:pPr>
            <a:r>
              <a:rPr sz="1300">
                <a:solidFill>
                  <a:srgbClr val="124A5E"/>
                </a:solidFill>
                <a:latin typeface="Consolas"/>
              </a:rPr>
              <a:t>actuators/fan_pwm</a:t>
            </a:r>
          </a:p>
          <a:p>
            <a:pPr marL="201168" indent="-201168">
              <a:lnSpc>
                <a:spcPct val="112000"/>
              </a:lnSpc>
              <a:spcAft>
                <a:spcPts val="400"/>
              </a:spcAft>
              <a:buClr>
                <a:srgbClr val="C2650A"/>
              </a:buClr>
              <a:buFont typeface="Arial"/>
              <a:buChar char="●"/>
            </a:pPr>
            <a:r>
              <a:rPr sz="1300">
                <a:solidFill>
                  <a:srgbClr val="124A5E"/>
                </a:solidFill>
                <a:latin typeface="Consolas"/>
              </a:rPr>
              <a:t>actuators/valve_angle</a:t>
            </a:r>
          </a:p>
          <a:p>
            <a:pPr marL="201168" indent="-201168">
              <a:lnSpc>
                <a:spcPct val="112000"/>
              </a:lnSpc>
              <a:spcAft>
                <a:spcPts val="400"/>
              </a:spcAft>
              <a:buClr>
                <a:srgbClr val="C2650A"/>
              </a:buClr>
              <a:buFont typeface="Arial"/>
              <a:buChar char="●"/>
            </a:pPr>
            <a:r>
              <a:rPr sz="1300">
                <a:solidFill>
                  <a:srgbClr val="124A5E"/>
                </a:solidFill>
                <a:latin typeface="Consolas"/>
              </a:rPr>
              <a:t>status</a:t>
            </a:r>
            <a:r>
              <a:rPr sz="1300">
                <a:solidFill>
                  <a:srgbClr val="1C1F22"/>
                </a:solidFill>
                <a:latin typeface="Calibri"/>
              </a:rPr>
              <a:t> (alles als 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Richtung ②  Handy → Pi</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Befehle vom Handy prüfen</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12 / 14</a:t>
            </a:r>
          </a:p>
        </p:txBody>
      </p:sp>
      <p:sp>
        <p:nvSpPr>
          <p:cNvPr id="11" name="TextBox 10"/>
          <p:cNvSpPr txBox="1"/>
          <p:nvPr/>
        </p:nvSpPr>
        <p:spPr>
          <a:xfrm>
            <a:off x="685800" y="1591056"/>
            <a:ext cx="10789920" cy="365760"/>
          </a:xfrm>
          <a:prstGeom prst="rect">
            <a:avLst/>
          </a:prstGeom>
          <a:noFill/>
        </p:spPr>
        <p:txBody>
          <a:bodyPr wrap="square" lIns="0" rIns="0" tIns="0" bIns="0" anchor="t">
            <a:spAutoFit/>
          </a:bodyPr>
          <a:lstStyle/>
          <a:p>
            <a:pPr algn="l" marL="0" indent="0">
              <a:buNone/>
            </a:pPr>
            <a:r>
              <a:rPr sz="1500">
                <a:solidFill>
                  <a:srgbClr val="1C1F22"/>
                </a:solidFill>
                <a:latin typeface="Calibri"/>
              </a:rPr>
              <a:t>MQTT-In abonniert </a:t>
            </a:r>
            <a:r>
              <a:rPr sz="1500">
                <a:solidFill>
                  <a:srgbClr val="124A5E"/>
                </a:solidFill>
                <a:latin typeface="Consolas"/>
              </a:rPr>
              <a:t>team13-1/icetruck/control/#</a:t>
            </a:r>
            <a:r>
              <a:rPr sz="1500">
                <a:solidFill>
                  <a:srgbClr val="1C1F22"/>
                </a:solidFill>
                <a:latin typeface="Calibri"/>
              </a:rPr>
              <a:t>  (# = alle Unter-Topics)</a:t>
            </a:r>
          </a:p>
        </p:txBody>
      </p:sp>
      <p:graphicFrame>
        <p:nvGraphicFramePr>
          <p:cNvPr id="12" name="Table 11"/>
          <p:cNvGraphicFramePr>
            <a:graphicFrameLocks noGrp="1"/>
          </p:cNvGraphicFramePr>
          <p:nvPr/>
        </p:nvGraphicFramePr>
        <p:xfrm>
          <a:off x="685800" y="2139696"/>
          <a:ext cx="10817351" cy="2377440"/>
        </p:xfrm>
        <a:graphic>
          <a:graphicData uri="http://schemas.openxmlformats.org/drawingml/2006/table">
            <a:tbl>
              <a:tblPr firstRow="1" bandRow="1">
                <a:tableStyleId>{5C22544A-7EE6-4342-B048-85BDC9FD1C3A}</a:tableStyleId>
              </a:tblPr>
              <a:tblGrid>
                <a:gridCol w="3840480"/>
                <a:gridCol w="2926080"/>
                <a:gridCol w="4050791"/>
              </a:tblGrid>
              <a:tr h="475488">
                <a:tc>
                  <a:txBody>
                    <a:bodyPr wrap="square"/>
                    <a:lstStyle/>
                    <a:p>
                      <a:pPr marL="0" indent="0">
                        <a:buNone/>
                      </a:pPr>
                      <a:r>
                        <a:rPr sz="1400" b="1">
                          <a:solidFill>
                            <a:srgbClr val="7A4308"/>
                          </a:solidFill>
                          <a:latin typeface="Calibri"/>
                        </a:rPr>
                        <a:t>Topic</a:t>
                      </a:r>
                    </a:p>
                  </a:txBody>
                  <a:tcPr marL="91440" marR="91440" marT="36576" marB="36576" anchor="ctr">
                    <a:solidFill>
                      <a:srgbClr val="FDF1E3"/>
                    </a:solidFill>
                  </a:tcPr>
                </a:tc>
                <a:tc>
                  <a:txBody>
                    <a:bodyPr wrap="square"/>
                    <a:lstStyle/>
                    <a:p>
                      <a:pPr marL="0" indent="0">
                        <a:buNone/>
                      </a:pPr>
                      <a:r>
                        <a:rPr sz="1400" b="1">
                          <a:solidFill>
                            <a:srgbClr val="7A4308"/>
                          </a:solidFill>
                          <a:latin typeface="Calibri"/>
                        </a:rPr>
                        <a:t>Erlaubt</a:t>
                      </a:r>
                    </a:p>
                  </a:txBody>
                  <a:tcPr marL="91440" marR="91440" marT="36576" marB="36576" anchor="ctr">
                    <a:solidFill>
                      <a:srgbClr val="FDF1E3"/>
                    </a:solidFill>
                  </a:tcPr>
                </a:tc>
                <a:tc>
                  <a:txBody>
                    <a:bodyPr wrap="square"/>
                    <a:lstStyle/>
                    <a:p>
                      <a:pPr marL="0" indent="0">
                        <a:buNone/>
                      </a:pPr>
                      <a:r>
                        <a:rPr sz="1400" b="1">
                          <a:solidFill>
                            <a:srgbClr val="7A4308"/>
                          </a:solidFill>
                          <a:latin typeface="Calibri"/>
                        </a:rPr>
                        <a:t>Bei ungültigem Wert</a:t>
                      </a:r>
                    </a:p>
                  </a:txBody>
                  <a:tcPr marL="91440" marR="91440" marT="36576" marB="36576" anchor="ctr">
                    <a:solidFill>
                      <a:srgbClr val="FDF1E3"/>
                    </a:solidFill>
                  </a:tcPr>
                </a:tc>
              </a:tr>
              <a:tr h="475488">
                <a:tc>
                  <a:txBody>
                    <a:bodyPr wrap="square"/>
                    <a:lstStyle/>
                    <a:p>
                      <a:pPr marL="0" indent="0">
                        <a:buNone/>
                      </a:pPr>
                      <a:r>
                        <a:rPr sz="1400">
                          <a:solidFill>
                            <a:srgbClr val="124A5E"/>
                          </a:solidFill>
                          <a:latin typeface="Consolas"/>
                        </a:rPr>
                        <a:t>control/mode/set</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auto  oder  manual</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verworfen + Warnung</a:t>
                      </a:r>
                    </a:p>
                  </a:txBody>
                  <a:tcPr marL="91440" marR="91440" marT="36576" marB="36576" anchor="ctr">
                    <a:solidFill>
                      <a:srgbClr val="FFFFFF"/>
                    </a:solidFill>
                  </a:tcPr>
                </a:tc>
              </a:tr>
              <a:tr h="475488">
                <a:tc>
                  <a:txBody>
                    <a:bodyPr wrap="square"/>
                    <a:lstStyle/>
                    <a:p>
                      <a:pPr marL="0" indent="0">
                        <a:buNone/>
                      </a:pPr>
                      <a:r>
                        <a:rPr sz="1400">
                          <a:solidFill>
                            <a:srgbClr val="124A5E"/>
                          </a:solidFill>
                          <a:latin typeface="Consolas"/>
                        </a:rPr>
                        <a:t>control/fan_pwm/set</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0 – 255</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auf Grenze begrenzt (999 → 255)</a:t>
                      </a:r>
                    </a:p>
                  </a:txBody>
                  <a:tcPr marL="91440" marR="91440" marT="36576" marB="36576" anchor="ctr">
                    <a:solidFill>
                      <a:srgbClr val="FFFFFF"/>
                    </a:solidFill>
                  </a:tcPr>
                </a:tc>
              </a:tr>
              <a:tr h="475488">
                <a:tc>
                  <a:txBody>
                    <a:bodyPr wrap="square"/>
                    <a:lstStyle/>
                    <a:p>
                      <a:pPr marL="0" indent="0">
                        <a:buNone/>
                      </a:pPr>
                      <a:r>
                        <a:rPr sz="1400">
                          <a:solidFill>
                            <a:srgbClr val="124A5E"/>
                          </a:solidFill>
                          <a:latin typeface="Consolas"/>
                        </a:rPr>
                        <a:t>control/valve_angle/set</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0 – 180</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auf Grenze begrenzt</a:t>
                      </a:r>
                    </a:p>
                  </a:txBody>
                  <a:tcPr marL="91440" marR="91440" marT="36576" marB="36576" anchor="ctr">
                    <a:solidFill>
                      <a:srgbClr val="FFFFFF"/>
                    </a:solidFill>
                  </a:tcPr>
                </a:tc>
              </a:tr>
              <a:tr h="475488">
                <a:tc>
                  <a:txBody>
                    <a:bodyPr wrap="square"/>
                    <a:lstStyle/>
                    <a:p>
                      <a:pPr marL="0" indent="0">
                        <a:buNone/>
                      </a:pPr>
                      <a:r>
                        <a:rPr sz="1400">
                          <a:solidFill>
                            <a:srgbClr val="1C1F22"/>
                          </a:solidFill>
                          <a:latin typeface="Calibri"/>
                        </a:rPr>
                        <a:t>unbekanntes Topic</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a:t>
                      </a:r>
                    </a:p>
                  </a:txBody>
                  <a:tcPr marL="91440" marR="91440" marT="36576" marB="36576" anchor="ctr">
                    <a:solidFill>
                      <a:srgbClr val="FFFFFF"/>
                    </a:solidFill>
                  </a:tcPr>
                </a:tc>
                <a:tc>
                  <a:txBody>
                    <a:bodyPr wrap="square"/>
                    <a:lstStyle/>
                    <a:p>
                      <a:pPr marL="0" indent="0">
                        <a:buNone/>
                      </a:pPr>
                      <a:r>
                        <a:rPr sz="1400">
                          <a:solidFill>
                            <a:srgbClr val="1C1F22"/>
                          </a:solidFill>
                          <a:latin typeface="Calibri"/>
                        </a:rPr>
                        <a:t>verworfen + Warnung</a:t>
                      </a:r>
                    </a:p>
                  </a:txBody>
                  <a:tcPr marL="91440" marR="91440" marT="36576" marB="36576" anchor="ctr">
                    <a:solidFill>
                      <a:srgbClr val="FFFFFF"/>
                    </a:solidFill>
                  </a:tcPr>
                </a:tc>
              </a:tr>
            </a:tbl>
          </a:graphicData>
        </a:graphic>
      </p:graphicFrame>
      <p:sp>
        <p:nvSpPr>
          <p:cNvPr id="13" name="TextBox 12"/>
          <p:cNvSpPr txBox="1"/>
          <p:nvPr/>
        </p:nvSpPr>
        <p:spPr>
          <a:xfrm>
            <a:off x="685800" y="4745736"/>
            <a:ext cx="10789920" cy="320040"/>
          </a:xfrm>
          <a:prstGeom prst="rect">
            <a:avLst/>
          </a:prstGeom>
          <a:noFill/>
        </p:spPr>
        <p:txBody>
          <a:bodyPr wrap="square" lIns="0" rIns="0" tIns="0" bIns="0" anchor="t">
            <a:spAutoFit/>
          </a:bodyPr>
          <a:lstStyle/>
          <a:p>
            <a:pPr algn="l" marL="0" indent="0">
              <a:buNone/>
            </a:pPr>
            <a:r>
              <a:rPr sz="1500" b="1">
                <a:solidFill>
                  <a:srgbClr val="7A4308"/>
                </a:solidFill>
                <a:latin typeface="Calibri"/>
              </a:rPr>
              <a:t>Gültiger Befehl geht an drei Ausgänge:</a:t>
            </a:r>
          </a:p>
        </p:txBody>
      </p:sp>
      <p:sp>
        <p:nvSpPr>
          <p:cNvPr id="14" name="Rounded Rectangle 13"/>
          <p:cNvSpPr/>
          <p:nvPr/>
        </p:nvSpPr>
        <p:spPr>
          <a:xfrm>
            <a:off x="685800" y="5157216"/>
            <a:ext cx="3447288" cy="868680"/>
          </a:xfrm>
          <a:prstGeom prst="roundRect">
            <a:avLst>
              <a:gd name="adj" fmla="val 10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230368"/>
            <a:ext cx="3108960" cy="274320"/>
          </a:xfrm>
          <a:prstGeom prst="rect">
            <a:avLst/>
          </a:prstGeom>
          <a:noFill/>
        </p:spPr>
        <p:txBody>
          <a:bodyPr wrap="square" lIns="0" rIns="0" tIns="0" bIns="0" anchor="t">
            <a:spAutoFit/>
          </a:bodyPr>
          <a:lstStyle/>
          <a:p>
            <a:pPr algn="l" marL="0" indent="0">
              <a:buNone/>
            </a:pPr>
            <a:r>
              <a:rPr sz="1400" b="1">
                <a:solidFill>
                  <a:srgbClr val="7A4308"/>
                </a:solidFill>
                <a:latin typeface="Calibri"/>
              </a:rPr>
              <a:t>Debug</a:t>
            </a:r>
          </a:p>
        </p:txBody>
      </p:sp>
      <p:sp>
        <p:nvSpPr>
          <p:cNvPr id="16" name="TextBox 15"/>
          <p:cNvSpPr txBox="1"/>
          <p:nvPr/>
        </p:nvSpPr>
        <p:spPr>
          <a:xfrm>
            <a:off x="868680" y="5541264"/>
            <a:ext cx="3108960" cy="457200"/>
          </a:xfrm>
          <a:prstGeom prst="rect">
            <a:avLst/>
          </a:prstGeom>
          <a:noFill/>
        </p:spPr>
        <p:txBody>
          <a:bodyPr wrap="square" lIns="0" rIns="0" tIns="0" bIns="0" anchor="t">
            <a:spAutoFit/>
          </a:bodyPr>
          <a:lstStyle/>
          <a:p>
            <a:pPr algn="l" marL="0" indent="0">
              <a:buNone/>
            </a:pPr>
            <a:r>
              <a:rPr sz="1200">
                <a:solidFill>
                  <a:srgbClr val="1C1F22"/>
                </a:solidFill>
                <a:latin typeface="Calibri"/>
              </a:rPr>
              <a:t>sofort im Editor sichtbar</a:t>
            </a:r>
          </a:p>
        </p:txBody>
      </p:sp>
      <p:sp>
        <p:nvSpPr>
          <p:cNvPr id="17" name="Rounded Rectangle 16"/>
          <p:cNvSpPr/>
          <p:nvPr/>
        </p:nvSpPr>
        <p:spPr>
          <a:xfrm>
            <a:off x="4370832" y="5157216"/>
            <a:ext cx="3447288" cy="868680"/>
          </a:xfrm>
          <a:prstGeom prst="roundRect">
            <a:avLst>
              <a:gd name="adj" fmla="val 10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5230368"/>
            <a:ext cx="3108960" cy="274320"/>
          </a:xfrm>
          <a:prstGeom prst="rect">
            <a:avLst/>
          </a:prstGeom>
          <a:noFill/>
        </p:spPr>
        <p:txBody>
          <a:bodyPr wrap="square" lIns="0" rIns="0" tIns="0" bIns="0" anchor="t">
            <a:spAutoFit/>
          </a:bodyPr>
          <a:lstStyle/>
          <a:p>
            <a:pPr algn="l" marL="0" indent="0">
              <a:buNone/>
            </a:pPr>
            <a:r>
              <a:rPr sz="1400" b="1">
                <a:solidFill>
                  <a:srgbClr val="7A4308"/>
                </a:solidFill>
                <a:latin typeface="Calibri"/>
              </a:rPr>
              <a:t>Log-Datei</a:t>
            </a:r>
          </a:p>
        </p:txBody>
      </p:sp>
      <p:sp>
        <p:nvSpPr>
          <p:cNvPr id="19" name="TextBox 18"/>
          <p:cNvSpPr txBox="1"/>
          <p:nvPr/>
        </p:nvSpPr>
        <p:spPr>
          <a:xfrm>
            <a:off x="4553712" y="5541264"/>
            <a:ext cx="3108960" cy="457200"/>
          </a:xfrm>
          <a:prstGeom prst="rect">
            <a:avLst/>
          </a:prstGeom>
          <a:noFill/>
        </p:spPr>
        <p:txBody>
          <a:bodyPr wrap="square" lIns="0" rIns="0" tIns="0" bIns="0" anchor="t">
            <a:spAutoFit/>
          </a:bodyPr>
          <a:lstStyle/>
          <a:p>
            <a:pPr algn="l" marL="0" indent="0">
              <a:buNone/>
            </a:pPr>
            <a:r>
              <a:rPr sz="1200">
                <a:solidFill>
                  <a:srgbClr val="1C1F22"/>
                </a:solidFill>
                <a:latin typeface="Calibri"/>
              </a:rPr>
              <a:t>mit Zeitstempel – wer hat wann was geschaltet?</a:t>
            </a:r>
          </a:p>
        </p:txBody>
      </p:sp>
      <p:sp>
        <p:nvSpPr>
          <p:cNvPr id="20" name="Rounded Rectangle 19"/>
          <p:cNvSpPr/>
          <p:nvPr/>
        </p:nvSpPr>
        <p:spPr>
          <a:xfrm>
            <a:off x="8055864" y="5157216"/>
            <a:ext cx="3447288" cy="868680"/>
          </a:xfrm>
          <a:prstGeom prst="roundRect">
            <a:avLst>
              <a:gd name="adj" fmla="val 10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5230368"/>
            <a:ext cx="3108960" cy="274320"/>
          </a:xfrm>
          <a:prstGeom prst="rect">
            <a:avLst/>
          </a:prstGeom>
          <a:noFill/>
        </p:spPr>
        <p:txBody>
          <a:bodyPr wrap="square" lIns="0" rIns="0" tIns="0" bIns="0" anchor="t">
            <a:spAutoFit/>
          </a:bodyPr>
          <a:lstStyle/>
          <a:p>
            <a:pPr algn="l" marL="0" indent="0">
              <a:buNone/>
            </a:pPr>
            <a:r>
              <a:rPr sz="1400" b="1">
                <a:solidFill>
                  <a:srgbClr val="7A4308"/>
                </a:solidFill>
                <a:latin typeface="Calibri"/>
              </a:rPr>
              <a:t>Exec → set_control.py</a:t>
            </a:r>
          </a:p>
        </p:txBody>
      </p:sp>
      <p:sp>
        <p:nvSpPr>
          <p:cNvPr id="22" name="TextBox 21"/>
          <p:cNvSpPr txBox="1"/>
          <p:nvPr/>
        </p:nvSpPr>
        <p:spPr>
          <a:xfrm>
            <a:off x="8238744" y="5541264"/>
            <a:ext cx="3108960" cy="457200"/>
          </a:xfrm>
          <a:prstGeom prst="rect">
            <a:avLst/>
          </a:prstGeom>
          <a:noFill/>
        </p:spPr>
        <p:txBody>
          <a:bodyPr wrap="square" lIns="0" rIns="0" tIns="0" bIns="0" anchor="t">
            <a:spAutoFit/>
          </a:bodyPr>
          <a:lstStyle/>
          <a:p>
            <a:pPr algn="l" marL="0" indent="0">
              <a:buNone/>
            </a:pPr>
            <a:r>
              <a:rPr sz="1200">
                <a:solidFill>
                  <a:srgbClr val="1C1F22"/>
                </a:solidFill>
                <a:latin typeface="Calibri"/>
              </a:rPr>
              <a:t>gibt den Befehl ans Backend weiter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Bewertung: Zusätzliche Funktionen realisiert (8 Pkt)</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Auto / Manuell: unser Zusatz-Feature</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13 / 14</a:t>
            </a:r>
          </a:p>
        </p:txBody>
      </p:sp>
      <p:sp>
        <p:nvSpPr>
          <p:cNvPr id="11" name="Rounded Rectangle 10"/>
          <p:cNvSpPr/>
          <p:nvPr/>
        </p:nvSpPr>
        <p:spPr>
          <a:xfrm>
            <a:off x="685800" y="1682496"/>
            <a:ext cx="2377440" cy="86868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73936"/>
            <a:ext cx="204825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Handy</a:t>
            </a:r>
          </a:p>
        </p:txBody>
      </p:sp>
      <p:sp>
        <p:nvSpPr>
          <p:cNvPr id="13" name="TextBox 12"/>
          <p:cNvSpPr txBox="1"/>
          <p:nvPr/>
        </p:nvSpPr>
        <p:spPr>
          <a:xfrm>
            <a:off x="850392" y="2066544"/>
            <a:ext cx="2048256" cy="411479"/>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MQTT-App</a:t>
            </a:r>
          </a:p>
        </p:txBody>
      </p:sp>
      <p:cxnSp>
        <p:nvCxnSpPr>
          <p:cNvPr id="14" name="Connector 13"/>
          <p:cNvCxnSpPr/>
          <p:nvPr/>
        </p:nvCxnSpPr>
        <p:spPr>
          <a:xfrm>
            <a:off x="3099816" y="2112264"/>
            <a:ext cx="35661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99816" y="1819656"/>
            <a:ext cx="356616"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16" name="Rounded Rectangle 15"/>
          <p:cNvSpPr/>
          <p:nvPr/>
        </p:nvSpPr>
        <p:spPr>
          <a:xfrm>
            <a:off x="3493008" y="1682496"/>
            <a:ext cx="2377440" cy="86868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773936"/>
            <a:ext cx="204825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Node-RED</a:t>
            </a:r>
          </a:p>
        </p:txBody>
      </p:sp>
      <p:sp>
        <p:nvSpPr>
          <p:cNvPr id="18" name="TextBox 17"/>
          <p:cNvSpPr txBox="1"/>
          <p:nvPr/>
        </p:nvSpPr>
        <p:spPr>
          <a:xfrm>
            <a:off x="3657600" y="2066544"/>
            <a:ext cx="2048256" cy="411479"/>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validiert</a:t>
            </a:r>
          </a:p>
        </p:txBody>
      </p:sp>
      <p:cxnSp>
        <p:nvCxnSpPr>
          <p:cNvPr id="19" name="Connector 18"/>
          <p:cNvCxnSpPr/>
          <p:nvPr/>
        </p:nvCxnSpPr>
        <p:spPr>
          <a:xfrm>
            <a:off x="5907024" y="2112264"/>
            <a:ext cx="35661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07024" y="1819656"/>
            <a:ext cx="356615"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21" name="Rounded Rectangle 20"/>
          <p:cNvSpPr/>
          <p:nvPr/>
        </p:nvSpPr>
        <p:spPr>
          <a:xfrm>
            <a:off x="6300216" y="1682496"/>
            <a:ext cx="2377440" cy="86868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1773936"/>
            <a:ext cx="204825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set_control.py</a:t>
            </a:r>
          </a:p>
        </p:txBody>
      </p:sp>
      <p:sp>
        <p:nvSpPr>
          <p:cNvPr id="23" name="TextBox 22"/>
          <p:cNvSpPr txBox="1"/>
          <p:nvPr/>
        </p:nvSpPr>
        <p:spPr>
          <a:xfrm>
            <a:off x="6464808" y="2066544"/>
            <a:ext cx="2048256" cy="411479"/>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schreibt Datei</a:t>
            </a:r>
          </a:p>
        </p:txBody>
      </p:sp>
      <p:cxnSp>
        <p:nvCxnSpPr>
          <p:cNvPr id="24" name="Connector 23"/>
          <p:cNvCxnSpPr/>
          <p:nvPr/>
        </p:nvCxnSpPr>
        <p:spPr>
          <a:xfrm>
            <a:off x="8714232" y="2112264"/>
            <a:ext cx="356616" cy="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714232" y="1819656"/>
            <a:ext cx="356616" cy="237744"/>
          </a:xfrm>
          <a:prstGeom prst="rect">
            <a:avLst/>
          </a:prstGeom>
          <a:noFill/>
        </p:spPr>
        <p:txBody>
          <a:bodyPr wrap="square" lIns="0" rIns="0" tIns="0" bIns="0" anchor="t">
            <a:spAutoFit/>
          </a:bodyPr>
          <a:lstStyle/>
          <a:p>
            <a:pPr algn="r" marL="0" indent="0">
              <a:buNone/>
            </a:pPr>
            <a:r>
              <a:rPr sz="1100">
                <a:solidFill>
                  <a:srgbClr val="C2650A"/>
                </a:solidFill>
                <a:latin typeface="Calibri"/>
              </a:rPr>
              <a:t>▶</a:t>
            </a:r>
          </a:p>
        </p:txBody>
      </p:sp>
      <p:sp>
        <p:nvSpPr>
          <p:cNvPr id="26" name="Rounded Rectangle 25"/>
          <p:cNvSpPr/>
          <p:nvPr/>
        </p:nvSpPr>
        <p:spPr>
          <a:xfrm>
            <a:off x="9107424" y="1682496"/>
            <a:ext cx="2377440" cy="868680"/>
          </a:xfrm>
          <a:prstGeom prst="roundRect">
            <a:avLst>
              <a:gd name="adj" fmla="val 12000"/>
            </a:avLst>
          </a:prstGeom>
          <a:solidFill>
            <a:srgbClr val="FDF1E3"/>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72016" y="1773936"/>
            <a:ext cx="2048256" cy="274320"/>
          </a:xfrm>
          <a:prstGeom prst="rect">
            <a:avLst/>
          </a:prstGeom>
          <a:noFill/>
        </p:spPr>
        <p:txBody>
          <a:bodyPr wrap="square" lIns="0" rIns="0" tIns="0" bIns="0" anchor="t">
            <a:spAutoFit/>
          </a:bodyPr>
          <a:lstStyle/>
          <a:p>
            <a:pPr algn="l" marL="0" indent="0">
              <a:buNone/>
            </a:pPr>
            <a:r>
              <a:rPr sz="1300" b="1">
                <a:solidFill>
                  <a:srgbClr val="7A4308"/>
                </a:solidFill>
                <a:latin typeface="Calibri"/>
              </a:rPr>
              <a:t>control_state.json</a:t>
            </a:r>
          </a:p>
        </p:txBody>
      </p:sp>
      <p:sp>
        <p:nvSpPr>
          <p:cNvPr id="28" name="TextBox 27"/>
          <p:cNvSpPr txBox="1"/>
          <p:nvPr/>
        </p:nvSpPr>
        <p:spPr>
          <a:xfrm>
            <a:off x="9272016" y="2066544"/>
            <a:ext cx="2048256" cy="411479"/>
          </a:xfrm>
          <a:prstGeom prst="rect">
            <a:avLst/>
          </a:prstGeom>
          <a:noFill/>
        </p:spPr>
        <p:txBody>
          <a:bodyPr wrap="square" lIns="0" rIns="0" tIns="0" bIns="0" anchor="t">
            <a:spAutoFit/>
          </a:bodyPr>
          <a:lstStyle/>
          <a:p>
            <a:pPr algn="l" marL="0" indent="0">
              <a:lnSpc>
                <a:spcPct val="115000"/>
              </a:lnSpc>
              <a:buNone/>
            </a:pPr>
            <a:r>
              <a:rPr sz="1050">
                <a:solidFill>
                  <a:srgbClr val="333333"/>
                </a:solidFill>
                <a:latin typeface="Calibri"/>
              </a:rPr>
              <a:t>mode + Werte</a:t>
            </a:r>
          </a:p>
        </p:txBody>
      </p:sp>
      <p:cxnSp>
        <p:nvCxnSpPr>
          <p:cNvPr id="29" name="Connector 28"/>
          <p:cNvCxnSpPr/>
          <p:nvPr/>
        </p:nvCxnSpPr>
        <p:spPr>
          <a:xfrm>
            <a:off x="10296144" y="2551176"/>
            <a:ext cx="0" cy="457200"/>
          </a:xfrm>
          <a:prstGeom prst="line">
            <a:avLst/>
          </a:prstGeom>
          <a:ln w="22225">
            <a:solidFill>
              <a:srgbClr val="C2650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186416" y="2825496"/>
            <a:ext cx="219456" cy="182880"/>
          </a:xfrm>
          <a:prstGeom prst="rect">
            <a:avLst/>
          </a:prstGeom>
          <a:noFill/>
        </p:spPr>
        <p:txBody>
          <a:bodyPr wrap="square" lIns="0" rIns="0" tIns="0" bIns="0" anchor="t">
            <a:spAutoFit/>
          </a:bodyPr>
          <a:lstStyle/>
          <a:p>
            <a:pPr algn="ctr" marL="0" indent="0">
              <a:buNone/>
            </a:pPr>
            <a:r>
              <a:rPr sz="1000">
                <a:solidFill>
                  <a:srgbClr val="C2650A"/>
                </a:solidFill>
                <a:latin typeface="Calibri"/>
              </a:rPr>
              <a:t>▼</a:t>
            </a:r>
          </a:p>
        </p:txBody>
      </p:sp>
      <p:sp>
        <p:nvSpPr>
          <p:cNvPr id="31" name="TextBox 30"/>
          <p:cNvSpPr txBox="1"/>
          <p:nvPr/>
        </p:nvSpPr>
        <p:spPr>
          <a:xfrm>
            <a:off x="7552944" y="2660904"/>
            <a:ext cx="2606040" cy="237744"/>
          </a:xfrm>
          <a:prstGeom prst="rect">
            <a:avLst/>
          </a:prstGeom>
          <a:noFill/>
        </p:spPr>
        <p:txBody>
          <a:bodyPr wrap="square" lIns="0" rIns="0" tIns="0" bIns="0" anchor="t">
            <a:spAutoFit/>
          </a:bodyPr>
          <a:lstStyle/>
          <a:p>
            <a:pPr algn="r" marL="0" indent="0">
              <a:buNone/>
            </a:pPr>
            <a:r>
              <a:rPr sz="1000">
                <a:solidFill>
                  <a:srgbClr val="C2650A"/>
                </a:solidFill>
                <a:latin typeface="Calibri"/>
              </a:rPr>
              <a:t>alle 5 s gelesen</a:t>
            </a:r>
          </a:p>
        </p:txBody>
      </p:sp>
      <p:sp>
        <p:nvSpPr>
          <p:cNvPr id="32" name="Rounded Rectangle 31"/>
          <p:cNvSpPr/>
          <p:nvPr/>
        </p:nvSpPr>
        <p:spPr>
          <a:xfrm>
            <a:off x="5943600" y="3054096"/>
            <a:ext cx="5559552" cy="868680"/>
          </a:xfrm>
          <a:prstGeom prst="roundRect">
            <a:avLst>
              <a:gd name="adj" fmla="val 12000"/>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3145536"/>
            <a:ext cx="5230368" cy="274320"/>
          </a:xfrm>
          <a:prstGeom prst="rect">
            <a:avLst/>
          </a:prstGeom>
          <a:noFill/>
        </p:spPr>
        <p:txBody>
          <a:bodyPr wrap="square" lIns="0" rIns="0" tIns="0" bIns="0" anchor="t">
            <a:spAutoFit/>
          </a:bodyPr>
          <a:lstStyle/>
          <a:p>
            <a:pPr algn="l" marL="0" indent="0">
              <a:buNone/>
            </a:pPr>
            <a:r>
              <a:rPr sz="1300" b="1">
                <a:solidFill>
                  <a:srgbClr val="FFFFFF"/>
                </a:solidFill>
                <a:latin typeface="Calibri"/>
              </a:rPr>
              <a:t>app.py (Backend aus Challenge I)</a:t>
            </a:r>
          </a:p>
        </p:txBody>
      </p:sp>
      <p:sp>
        <p:nvSpPr>
          <p:cNvPr id="34" name="TextBox 33"/>
          <p:cNvSpPr txBox="1"/>
          <p:nvPr/>
        </p:nvSpPr>
        <p:spPr>
          <a:xfrm>
            <a:off x="6108192" y="3438144"/>
            <a:ext cx="5230368" cy="411479"/>
          </a:xfrm>
          <a:prstGeom prst="rect">
            <a:avLst/>
          </a:prstGeom>
          <a:noFill/>
        </p:spPr>
        <p:txBody>
          <a:bodyPr wrap="square" lIns="0" rIns="0" tIns="0" bIns="0" anchor="t">
            <a:spAutoFit/>
          </a:bodyPr>
          <a:lstStyle/>
          <a:p>
            <a:pPr algn="l" marL="0" indent="0">
              <a:lnSpc>
                <a:spcPct val="115000"/>
              </a:lnSpc>
              <a:buNone/>
            </a:pPr>
            <a:r>
              <a:rPr sz="1050">
                <a:solidFill>
                  <a:srgbClr val="FDF1E3"/>
                </a:solidFill>
                <a:latin typeface="Calibri"/>
              </a:rPr>
              <a:t>prüft bei jedem Messzyklus den Modus</a:t>
            </a:r>
          </a:p>
        </p:txBody>
      </p:sp>
      <p:sp>
        <p:nvSpPr>
          <p:cNvPr id="35" name="Rounded Rectangle 34"/>
          <p:cNvSpPr/>
          <p:nvPr/>
        </p:nvSpPr>
        <p:spPr>
          <a:xfrm>
            <a:off x="685800" y="4197096"/>
            <a:ext cx="5257800" cy="1600200"/>
          </a:xfrm>
          <a:prstGeom prst="roundRect">
            <a:avLst>
              <a:gd name="adj" fmla="val 8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379976"/>
            <a:ext cx="4800600" cy="365760"/>
          </a:xfrm>
          <a:prstGeom prst="rect">
            <a:avLst/>
          </a:prstGeom>
          <a:noFill/>
        </p:spPr>
        <p:txBody>
          <a:bodyPr wrap="square" lIns="0" rIns="0" tIns="0" bIns="0" anchor="t">
            <a:spAutoFit/>
          </a:bodyPr>
          <a:lstStyle/>
          <a:p>
            <a:pPr algn="l" marL="0" indent="0">
              <a:buNone/>
            </a:pPr>
            <a:r>
              <a:rPr sz="1500" b="1">
                <a:solidFill>
                  <a:srgbClr val="7A4308"/>
                </a:solidFill>
                <a:latin typeface="Calibri"/>
              </a:rPr>
              <a:t>auto</a:t>
            </a:r>
          </a:p>
        </p:txBody>
      </p:sp>
      <p:sp>
        <p:nvSpPr>
          <p:cNvPr id="37" name="TextBox 36"/>
          <p:cNvSpPr txBox="1"/>
          <p:nvPr/>
        </p:nvSpPr>
        <p:spPr>
          <a:xfrm>
            <a:off x="914400" y="4818888"/>
            <a:ext cx="4800600" cy="868680"/>
          </a:xfrm>
          <a:prstGeom prst="rect">
            <a:avLst/>
          </a:prstGeom>
          <a:noFill/>
        </p:spPr>
        <p:txBody>
          <a:bodyPr wrap="square" lIns="0" rIns="0" tIns="0" bIns="0" anchor="t">
            <a:spAutoFit/>
          </a:bodyPr>
          <a:lstStyle/>
          <a:p>
            <a:pPr algn="l" marL="0" indent="0">
              <a:lnSpc>
                <a:spcPct val="115000"/>
              </a:lnSpc>
              <a:buNone/>
            </a:pPr>
            <a:r>
              <a:rPr sz="1300">
                <a:solidFill>
                  <a:srgbClr val="1C1F22"/>
                </a:solidFill>
                <a:latin typeface="Calibri"/>
              </a:rPr>
              <a:t>Regellogik (</a:t>
            </a:r>
            <a:r>
              <a:rPr sz="1300">
                <a:solidFill>
                  <a:srgbClr val="124A5E"/>
                </a:solidFill>
                <a:latin typeface="Consolas"/>
              </a:rPr>
              <a:t>rules.py</a:t>
            </a:r>
            <a:r>
              <a:rPr sz="1300">
                <a:solidFill>
                  <a:srgbClr val="1C1F22"/>
                </a:solidFill>
                <a:latin typeface="Calibri"/>
              </a:rPr>
              <a:t>) entscheidet anhand der </a:t>
            </a:r>
            <a:r>
              <a:rPr b="1" sz="1300">
                <a:solidFill>
                  <a:srgbClr val="1C1F22"/>
                </a:solidFill>
                <a:latin typeface="Calibri"/>
              </a:rPr>
              <a:t>Temperatur</a:t>
            </a:r>
            <a:r>
              <a:rPr sz="1300">
                <a:solidFill>
                  <a:srgbClr val="1C1F22"/>
                </a:solidFill>
                <a:latin typeface="Calibri"/>
              </a:rPr>
              <a:t>, wie stark Lüfter und Ventil laufen</a:t>
            </a:r>
          </a:p>
        </p:txBody>
      </p:sp>
      <p:sp>
        <p:nvSpPr>
          <p:cNvPr id="38" name="Rounded Rectangle 37"/>
          <p:cNvSpPr/>
          <p:nvPr/>
        </p:nvSpPr>
        <p:spPr>
          <a:xfrm>
            <a:off x="6245352" y="4197096"/>
            <a:ext cx="5257800" cy="1600200"/>
          </a:xfrm>
          <a:prstGeom prst="roundRect">
            <a:avLst>
              <a:gd name="adj" fmla="val 8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379976"/>
            <a:ext cx="4800600" cy="365760"/>
          </a:xfrm>
          <a:prstGeom prst="rect">
            <a:avLst/>
          </a:prstGeom>
          <a:noFill/>
        </p:spPr>
        <p:txBody>
          <a:bodyPr wrap="square" lIns="0" rIns="0" tIns="0" bIns="0" anchor="t">
            <a:spAutoFit/>
          </a:bodyPr>
          <a:lstStyle/>
          <a:p>
            <a:pPr algn="l" marL="0" indent="0">
              <a:buNone/>
            </a:pPr>
            <a:r>
              <a:rPr sz="1500" b="1">
                <a:solidFill>
                  <a:srgbClr val="7A4308"/>
                </a:solidFill>
                <a:latin typeface="Calibri"/>
              </a:rPr>
              <a:t>manual  (Override)</a:t>
            </a:r>
          </a:p>
        </p:txBody>
      </p:sp>
      <p:sp>
        <p:nvSpPr>
          <p:cNvPr id="40" name="TextBox 39"/>
          <p:cNvSpPr txBox="1"/>
          <p:nvPr/>
        </p:nvSpPr>
        <p:spPr>
          <a:xfrm>
            <a:off x="6473952" y="4818888"/>
            <a:ext cx="4800600" cy="868680"/>
          </a:xfrm>
          <a:prstGeom prst="rect">
            <a:avLst/>
          </a:prstGeom>
          <a:noFill/>
        </p:spPr>
        <p:txBody>
          <a:bodyPr wrap="square" lIns="0" rIns="0" tIns="0" bIns="0" anchor="t">
            <a:spAutoFit/>
          </a:bodyPr>
          <a:lstStyle/>
          <a:p>
            <a:pPr algn="l" marL="0" indent="0">
              <a:lnSpc>
                <a:spcPct val="115000"/>
              </a:lnSpc>
              <a:buNone/>
            </a:pPr>
            <a:r>
              <a:rPr sz="1300">
                <a:solidFill>
                  <a:srgbClr val="1C1F22"/>
                </a:solidFill>
                <a:latin typeface="Calibri"/>
              </a:rPr>
              <a:t>Pi nimmt die </a:t>
            </a:r>
            <a:r>
              <a:rPr b="1" sz="1300">
                <a:solidFill>
                  <a:srgbClr val="1C1F22"/>
                </a:solidFill>
                <a:latin typeface="Calibri"/>
              </a:rPr>
              <a:t>Werte vom Handy</a:t>
            </a:r>
            <a:r>
              <a:rPr sz="1300">
                <a:solidFill>
                  <a:srgbClr val="1C1F22"/>
                </a:solidFill>
                <a:latin typeface="Calibri"/>
              </a:rPr>
              <a:t> und schickt sie per I2C an den Aktor-Arduino</a:t>
            </a:r>
          </a:p>
        </p:txBody>
      </p:sp>
      <p:sp>
        <p:nvSpPr>
          <p:cNvPr id="41" name="TextBox 40"/>
          <p:cNvSpPr txBox="1"/>
          <p:nvPr/>
        </p:nvSpPr>
        <p:spPr>
          <a:xfrm>
            <a:off x="685800" y="5888736"/>
            <a:ext cx="10789920" cy="320040"/>
          </a:xfrm>
          <a:prstGeom prst="rect">
            <a:avLst/>
          </a:prstGeom>
          <a:noFill/>
        </p:spPr>
        <p:txBody>
          <a:bodyPr wrap="square" lIns="0" rIns="0" tIns="0" bIns="0" anchor="t">
            <a:spAutoFit/>
          </a:bodyPr>
          <a:lstStyle/>
          <a:p>
            <a:pPr algn="l" marL="0" indent="0">
              <a:buNone/>
            </a:pPr>
            <a:r>
              <a:rPr sz="1300" i="1">
                <a:solidFill>
                  <a:srgbClr val="6B6F73"/>
                </a:solidFill>
                <a:latin typeface="Calibri"/>
              </a:rPr>
              <a:t>Die automatische Regelung bleibt erhalten – wir haben nur einen zweiten Weg ergänzt.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393192" y="365759"/>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4383" y="558588"/>
            <a:ext cx="112478" cy="112478"/>
          </a:xfrm>
          <a:prstGeom prst="roundRect">
            <a:avLst>
              <a:gd name="adj" fmla="val 25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6861" y="591243"/>
            <a:ext cx="68938" cy="76195"/>
          </a:xfrm>
          <a:prstGeom prst="roundRect">
            <a:avLst>
              <a:gd name="adj" fmla="val 30000"/>
            </a:avLst>
          </a:prstGeom>
          <a:no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6197"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445" y="698279"/>
            <a:ext cx="47168" cy="47168"/>
          </a:xfrm>
          <a:prstGeom prst="ellipse">
            <a:avLst/>
          </a:prstGeom>
          <a:solidFill>
            <a:srgbClr val="FFFFFF"/>
          </a:solidFill>
          <a:ln w="2032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76688" y="384048"/>
            <a:ext cx="1581912" cy="310896"/>
          </a:xfrm>
          <a:prstGeom prst="roundRect">
            <a:avLst>
              <a:gd name="adj" fmla="val 50000"/>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100" b="1">
                <a:solidFill>
                  <a:srgbClr val="7A4308"/>
                </a:solidFill>
                <a:latin typeface="Calibri"/>
              </a:rPr>
              <a:t>Challenge II</a:t>
            </a:r>
          </a:p>
        </p:txBody>
      </p:sp>
      <p:sp>
        <p:nvSpPr>
          <p:cNvPr id="8" name="TextBox 7"/>
          <p:cNvSpPr txBox="1"/>
          <p:nvPr/>
        </p:nvSpPr>
        <p:spPr>
          <a:xfrm>
            <a:off x="1143000" y="384048"/>
            <a:ext cx="9601200" cy="292608"/>
          </a:xfrm>
          <a:prstGeom prst="rect">
            <a:avLst/>
          </a:prstGeom>
          <a:noFill/>
        </p:spPr>
        <p:txBody>
          <a:bodyPr wrap="square" lIns="0" rIns="0" tIns="0" bIns="0" anchor="t">
            <a:spAutoFit/>
          </a:bodyPr>
          <a:lstStyle/>
          <a:p>
            <a:pPr algn="l" marL="0" indent="0">
              <a:buNone/>
            </a:pPr>
            <a:r>
              <a:rPr sz="1200" b="1" i="1">
                <a:solidFill>
                  <a:srgbClr val="C2650A"/>
                </a:solidFill>
                <a:latin typeface="Century Schoolbook"/>
              </a:rPr>
              <a:t>Stand</a:t>
            </a:r>
          </a:p>
        </p:txBody>
      </p:sp>
      <p:sp>
        <p:nvSpPr>
          <p:cNvPr id="9" name="TextBox 8"/>
          <p:cNvSpPr txBox="1"/>
          <p:nvPr/>
        </p:nvSpPr>
        <p:spPr>
          <a:xfrm>
            <a:off x="1143000" y="658368"/>
            <a:ext cx="9966960" cy="640080"/>
          </a:xfrm>
          <a:prstGeom prst="rect">
            <a:avLst/>
          </a:prstGeom>
          <a:noFill/>
        </p:spPr>
        <p:txBody>
          <a:bodyPr wrap="square" lIns="0" rIns="0" tIns="0" bIns="0" anchor="t">
            <a:spAutoFit/>
          </a:bodyPr>
          <a:lstStyle/>
          <a:p>
            <a:pPr algn="l" marL="0" indent="0">
              <a:buNone/>
            </a:pPr>
            <a:r>
              <a:rPr sz="2800" b="1">
                <a:solidFill>
                  <a:srgbClr val="1C1F22"/>
                </a:solidFill>
                <a:latin typeface="Century Schoolbook"/>
              </a:rPr>
              <a:t>Getestet &amp; Stand</a:t>
            </a:r>
          </a:p>
        </p:txBody>
      </p:sp>
      <p:sp>
        <p:nvSpPr>
          <p:cNvPr id="10" name="TextBox 9"/>
          <p:cNvSpPr txBox="1"/>
          <p:nvPr/>
        </p:nvSpPr>
        <p:spPr>
          <a:xfrm>
            <a:off x="10972800" y="6473952"/>
            <a:ext cx="1005840" cy="274320"/>
          </a:xfrm>
          <a:prstGeom prst="rect">
            <a:avLst/>
          </a:prstGeom>
          <a:noFill/>
        </p:spPr>
        <p:txBody>
          <a:bodyPr wrap="square" lIns="0" rIns="0" tIns="0" bIns="0" anchor="t">
            <a:spAutoFit/>
          </a:bodyPr>
          <a:lstStyle/>
          <a:p>
            <a:pPr algn="r" marL="0" indent="0">
              <a:buNone/>
            </a:pPr>
            <a:r>
              <a:rPr sz="1100" b="1">
                <a:solidFill>
                  <a:srgbClr val="C2650A"/>
                </a:solidFill>
                <a:latin typeface="Calibri"/>
              </a:rPr>
              <a:t>14 / 14</a:t>
            </a:r>
          </a:p>
        </p:txBody>
      </p:sp>
      <p:sp>
        <p:nvSpPr>
          <p:cNvPr id="11" name="Oval 10"/>
          <p:cNvSpPr/>
          <p:nvPr/>
        </p:nvSpPr>
        <p:spPr>
          <a:xfrm>
            <a:off x="685800" y="1591056"/>
            <a:ext cx="566928" cy="566928"/>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82496"/>
            <a:ext cx="566928" cy="384048"/>
          </a:xfrm>
          <a:prstGeom prst="rect">
            <a:avLst/>
          </a:prstGeom>
          <a:noFill/>
        </p:spPr>
        <p:txBody>
          <a:bodyPr wrap="square" lIns="0" rIns="0" tIns="0" bIns="0" anchor="t">
            <a:spAutoFit/>
          </a:bodyPr>
          <a:lstStyle/>
          <a:p>
            <a:pPr algn="ctr" marL="0" indent="0">
              <a:buNone/>
            </a:pPr>
            <a:r>
              <a:rPr sz="2000" b="1">
                <a:solidFill>
                  <a:srgbClr val="FFFFFF"/>
                </a:solidFill>
                <a:latin typeface="Calibri"/>
              </a:rPr>
              <a:t>✓</a:t>
            </a:r>
          </a:p>
        </p:txBody>
      </p:sp>
      <p:sp>
        <p:nvSpPr>
          <p:cNvPr id="13" name="TextBox 12"/>
          <p:cNvSpPr txBox="1"/>
          <p:nvPr/>
        </p:nvSpPr>
        <p:spPr>
          <a:xfrm>
            <a:off x="1463040" y="1591056"/>
            <a:ext cx="9966960" cy="320040"/>
          </a:xfrm>
          <a:prstGeom prst="rect">
            <a:avLst/>
          </a:prstGeom>
          <a:noFill/>
        </p:spPr>
        <p:txBody>
          <a:bodyPr wrap="square" lIns="0" rIns="0" tIns="0" bIns="0" anchor="t">
            <a:spAutoFit/>
          </a:bodyPr>
          <a:lstStyle/>
          <a:p>
            <a:pPr algn="l" marL="0" indent="0">
              <a:buNone/>
            </a:pPr>
            <a:r>
              <a:rPr sz="1700" b="1">
                <a:solidFill>
                  <a:srgbClr val="1C1F22"/>
                </a:solidFill>
                <a:latin typeface="Calibri"/>
              </a:rPr>
              <a:t>Flow läuft auf dem Pi</a:t>
            </a:r>
          </a:p>
        </p:txBody>
      </p:sp>
      <p:sp>
        <p:nvSpPr>
          <p:cNvPr id="14" name="TextBox 13"/>
          <p:cNvSpPr txBox="1"/>
          <p:nvPr/>
        </p:nvSpPr>
        <p:spPr>
          <a:xfrm>
            <a:off x="1463040" y="1956816"/>
            <a:ext cx="9966960" cy="320040"/>
          </a:xfrm>
          <a:prstGeom prst="rect">
            <a:avLst/>
          </a:prstGeom>
          <a:noFill/>
        </p:spPr>
        <p:txBody>
          <a:bodyPr wrap="square" lIns="0" rIns="0" tIns="0" bIns="0" anchor="t">
            <a:spAutoFit/>
          </a:bodyPr>
          <a:lstStyle/>
          <a:p>
            <a:pPr algn="l" marL="0" indent="0">
              <a:buNone/>
            </a:pPr>
            <a:r>
              <a:rPr sz="1350">
                <a:solidFill>
                  <a:srgbClr val="6B6F73"/>
                </a:solidFill>
                <a:latin typeface="Calibri"/>
              </a:rPr>
              <a:t>Richtung Pi → Handy mit echten Live-Daten geprüft</a:t>
            </a:r>
          </a:p>
        </p:txBody>
      </p:sp>
      <p:sp>
        <p:nvSpPr>
          <p:cNvPr id="15" name="Oval 14"/>
          <p:cNvSpPr/>
          <p:nvPr/>
        </p:nvSpPr>
        <p:spPr>
          <a:xfrm>
            <a:off x="685800" y="2615184"/>
            <a:ext cx="566928" cy="566928"/>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06624"/>
            <a:ext cx="566928" cy="384048"/>
          </a:xfrm>
          <a:prstGeom prst="rect">
            <a:avLst/>
          </a:prstGeom>
          <a:noFill/>
        </p:spPr>
        <p:txBody>
          <a:bodyPr wrap="square" lIns="0" rIns="0" tIns="0" bIns="0" anchor="t">
            <a:spAutoFit/>
          </a:bodyPr>
          <a:lstStyle/>
          <a:p>
            <a:pPr algn="ctr" marL="0" indent="0">
              <a:buNone/>
            </a:pPr>
            <a:r>
              <a:rPr sz="2000" b="1">
                <a:solidFill>
                  <a:srgbClr val="FFFFFF"/>
                </a:solidFill>
                <a:latin typeface="Calibri"/>
              </a:rPr>
              <a:t>✓</a:t>
            </a:r>
          </a:p>
        </p:txBody>
      </p:sp>
      <p:sp>
        <p:nvSpPr>
          <p:cNvPr id="17" name="TextBox 16"/>
          <p:cNvSpPr txBox="1"/>
          <p:nvPr/>
        </p:nvSpPr>
        <p:spPr>
          <a:xfrm>
            <a:off x="1463040" y="2615184"/>
            <a:ext cx="9966960" cy="320040"/>
          </a:xfrm>
          <a:prstGeom prst="rect">
            <a:avLst/>
          </a:prstGeom>
          <a:noFill/>
        </p:spPr>
        <p:txBody>
          <a:bodyPr wrap="square" lIns="0" rIns="0" tIns="0" bIns="0" anchor="t">
            <a:spAutoFit/>
          </a:bodyPr>
          <a:lstStyle/>
          <a:p>
            <a:pPr algn="l" marL="0" indent="0">
              <a:buNone/>
            </a:pPr>
            <a:r>
              <a:rPr sz="1700" b="1">
                <a:solidFill>
                  <a:srgbClr val="1C1F22"/>
                </a:solidFill>
                <a:latin typeface="Calibri"/>
              </a:rPr>
              <a:t>16 / 16 Tests grün</a:t>
            </a:r>
          </a:p>
        </p:txBody>
      </p:sp>
      <p:sp>
        <p:nvSpPr>
          <p:cNvPr id="18" name="TextBox 17"/>
          <p:cNvSpPr txBox="1"/>
          <p:nvPr/>
        </p:nvSpPr>
        <p:spPr>
          <a:xfrm>
            <a:off x="1463040" y="2980944"/>
            <a:ext cx="9966960" cy="320040"/>
          </a:xfrm>
          <a:prstGeom prst="rect">
            <a:avLst/>
          </a:prstGeom>
          <a:noFill/>
        </p:spPr>
        <p:txBody>
          <a:bodyPr wrap="square" lIns="0" rIns="0" tIns="0" bIns="0" anchor="t">
            <a:spAutoFit/>
          </a:bodyPr>
          <a:lstStyle/>
          <a:p>
            <a:pPr algn="l" marL="0" indent="0">
              <a:buNone/>
            </a:pPr>
            <a:r>
              <a:rPr sz="1350">
                <a:solidFill>
                  <a:srgbClr val="6B6F73"/>
                </a:solidFill>
                <a:latin typeface="Calibri"/>
              </a:rPr>
              <a:t>Backend-Logik (Kalibrierung, Regeln, Datenbank, Steuerzustand) mit pytest</a:t>
            </a:r>
          </a:p>
        </p:txBody>
      </p:sp>
      <p:sp>
        <p:nvSpPr>
          <p:cNvPr id="19" name="Oval 18"/>
          <p:cNvSpPr/>
          <p:nvPr/>
        </p:nvSpPr>
        <p:spPr>
          <a:xfrm>
            <a:off x="685800" y="3639312"/>
            <a:ext cx="566928" cy="566928"/>
          </a:xfrm>
          <a:prstGeom prst="ellipse">
            <a:avLst/>
          </a:prstGeom>
          <a:solidFill>
            <a:srgbClr val="C265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730752"/>
            <a:ext cx="566928" cy="384048"/>
          </a:xfrm>
          <a:prstGeom prst="rect">
            <a:avLst/>
          </a:prstGeom>
          <a:noFill/>
        </p:spPr>
        <p:txBody>
          <a:bodyPr wrap="square" lIns="0" rIns="0" tIns="0" bIns="0" anchor="t">
            <a:spAutoFit/>
          </a:bodyPr>
          <a:lstStyle/>
          <a:p>
            <a:pPr algn="ctr" marL="0" indent="0">
              <a:buNone/>
            </a:pPr>
            <a:r>
              <a:rPr sz="2000" b="1">
                <a:solidFill>
                  <a:srgbClr val="FFFFFF"/>
                </a:solidFill>
                <a:latin typeface="Calibri"/>
              </a:rPr>
              <a:t>✓</a:t>
            </a:r>
          </a:p>
        </p:txBody>
      </p:sp>
      <p:sp>
        <p:nvSpPr>
          <p:cNvPr id="21" name="TextBox 20"/>
          <p:cNvSpPr txBox="1"/>
          <p:nvPr/>
        </p:nvSpPr>
        <p:spPr>
          <a:xfrm>
            <a:off x="1463040" y="3639312"/>
            <a:ext cx="9966960" cy="320040"/>
          </a:xfrm>
          <a:prstGeom prst="rect">
            <a:avLst/>
          </a:prstGeom>
          <a:noFill/>
        </p:spPr>
        <p:txBody>
          <a:bodyPr wrap="square" lIns="0" rIns="0" tIns="0" bIns="0" anchor="t">
            <a:spAutoFit/>
          </a:bodyPr>
          <a:lstStyle/>
          <a:p>
            <a:pPr algn="l" marL="0" indent="0">
              <a:buNone/>
            </a:pPr>
            <a:r>
              <a:rPr sz="1700" b="1">
                <a:solidFill>
                  <a:srgbClr val="1C1F22"/>
                </a:solidFill>
                <a:latin typeface="Calibri"/>
              </a:rPr>
              <a:t>Simulierter I2C-Bus</a:t>
            </a:r>
          </a:p>
        </p:txBody>
      </p:sp>
      <p:sp>
        <p:nvSpPr>
          <p:cNvPr id="22" name="TextBox 21"/>
          <p:cNvSpPr txBox="1"/>
          <p:nvPr/>
        </p:nvSpPr>
        <p:spPr>
          <a:xfrm>
            <a:off x="1463040" y="4005072"/>
            <a:ext cx="9966960" cy="320040"/>
          </a:xfrm>
          <a:prstGeom prst="rect">
            <a:avLst/>
          </a:prstGeom>
          <a:noFill/>
        </p:spPr>
        <p:txBody>
          <a:bodyPr wrap="square" lIns="0" rIns="0" tIns="0" bIns="0" anchor="t">
            <a:spAutoFit/>
          </a:bodyPr>
          <a:lstStyle/>
          <a:p>
            <a:pPr algn="l" marL="0" indent="0">
              <a:buNone/>
            </a:pPr>
            <a:r>
              <a:rPr sz="1350">
                <a:solidFill>
                  <a:srgbClr val="6B6F73"/>
                </a:solidFill>
                <a:latin typeface="Calibri"/>
              </a:rPr>
              <a:t>Testen ohne angeschlossene Hardware möglich</a:t>
            </a:r>
          </a:p>
        </p:txBody>
      </p:sp>
      <p:sp>
        <p:nvSpPr>
          <p:cNvPr id="23" name="Oval 22"/>
          <p:cNvSpPr/>
          <p:nvPr/>
        </p:nvSpPr>
        <p:spPr>
          <a:xfrm>
            <a:off x="685800" y="4663440"/>
            <a:ext cx="566928" cy="566928"/>
          </a:xfrm>
          <a:prstGeom prst="ellipse">
            <a:avLst/>
          </a:prstGeom>
          <a:solidFill>
            <a:srgbClr val="FDF1E3"/>
          </a:solidFill>
          <a:ln w="12700">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754880"/>
            <a:ext cx="566928" cy="384048"/>
          </a:xfrm>
          <a:prstGeom prst="rect">
            <a:avLst/>
          </a:prstGeom>
          <a:noFill/>
        </p:spPr>
        <p:txBody>
          <a:bodyPr wrap="square" lIns="0" rIns="0" tIns="0" bIns="0" anchor="t">
            <a:spAutoFit/>
          </a:bodyPr>
          <a:lstStyle/>
          <a:p>
            <a:pPr algn="ctr" marL="0" indent="0">
              <a:buNone/>
            </a:pPr>
            <a:r>
              <a:rPr sz="2000" b="1">
                <a:solidFill>
                  <a:srgbClr val="C2650A"/>
                </a:solidFill>
                <a:latin typeface="Calibri"/>
              </a:rPr>
              <a:t>…</a:t>
            </a:r>
          </a:p>
        </p:txBody>
      </p:sp>
      <p:sp>
        <p:nvSpPr>
          <p:cNvPr id="25" name="TextBox 24"/>
          <p:cNvSpPr txBox="1"/>
          <p:nvPr/>
        </p:nvSpPr>
        <p:spPr>
          <a:xfrm>
            <a:off x="1463040" y="4663440"/>
            <a:ext cx="9966960" cy="320040"/>
          </a:xfrm>
          <a:prstGeom prst="rect">
            <a:avLst/>
          </a:prstGeom>
          <a:noFill/>
        </p:spPr>
        <p:txBody>
          <a:bodyPr wrap="square" lIns="0" rIns="0" tIns="0" bIns="0" anchor="t">
            <a:spAutoFit/>
          </a:bodyPr>
          <a:lstStyle/>
          <a:p>
            <a:pPr algn="l" marL="0" indent="0">
              <a:buNone/>
            </a:pPr>
            <a:r>
              <a:rPr sz="1700" b="1">
                <a:solidFill>
                  <a:srgbClr val="1C1F22"/>
                </a:solidFill>
                <a:latin typeface="Calibri"/>
              </a:rPr>
              <a:t>Handy → Lüfter auf echter Hardware</a:t>
            </a:r>
          </a:p>
        </p:txBody>
      </p:sp>
      <p:sp>
        <p:nvSpPr>
          <p:cNvPr id="26" name="TextBox 25"/>
          <p:cNvSpPr txBox="1"/>
          <p:nvPr/>
        </p:nvSpPr>
        <p:spPr>
          <a:xfrm>
            <a:off x="1463040" y="5029200"/>
            <a:ext cx="9966960" cy="320040"/>
          </a:xfrm>
          <a:prstGeom prst="rect">
            <a:avLst/>
          </a:prstGeom>
          <a:noFill/>
        </p:spPr>
        <p:txBody>
          <a:bodyPr wrap="square" lIns="0" rIns="0" tIns="0" bIns="0" anchor="t">
            <a:spAutoFit/>
          </a:bodyPr>
          <a:lstStyle/>
          <a:p>
            <a:pPr algn="l" marL="0" indent="0">
              <a:buNone/>
            </a:pPr>
            <a:r>
              <a:rPr sz="1350">
                <a:solidFill>
                  <a:srgbClr val="6B6F73"/>
                </a:solidFill>
                <a:latin typeface="Calibri"/>
              </a:rPr>
              <a:t>[VOR DEM VORTRAG TESTEN – dann ✓ oder ehrlich offen lassen]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